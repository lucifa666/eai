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  <Relationship Id="rId1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各位老师好，我是同济大学自动化专业的徐亦栋，目前本科 GPA 为四点八三，专业绩点排名第一。我的研究经历主要集中在人形机器人交互模仿学习、VLA 策略模型以及复杂动力学与 MPC，也完成过 ROS 移动机器人系统的感知、规划和控制联调。我的技术基础包括 Python、C/C++、PyTorch、JAX、Isaac Sim 和 ROS；未来希望继续研究能够进入真实机器人决策闭环的世界模型与具身智能系统。</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段实习中，我围绕预测式世界模型跑通了四条代表性路线，但我的核心收获并不是“把代码运行起来”，而是把论文、代码、指标和判断组织成可验证的实验闭环。接下来我会依次说明我完成了什么、这些结果能证明到什么程度，以及我对世界模型如何进入机器人决策闭环的理解。</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我的实习产出可以分成四层：先建立世界模型的知识地图，再完成 DINO-WM、LeWM、Δ-IRIS 和 TD-MPC2 的复现链路，然后用成功率、回报、训练进度、MAE 和 PSNR 记录结果与边界，最后把提交版本、环境、脚本、日志、哈希和报告整理成证据交付。这里最重要的是，每个结论都能回到具体的运行口径和落盘结果，而不是只保留一次成功截图。我的自动化专业背景、专业第一的课程基础，以及对具身智能、VLA 和机器人系统的兴趣，为后续研究迁移提供了基础。</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这四条路线的差异可以用两个问题统一：预测什么，以及如何把预测接入决策。Dreamer 类方法预测像素或潜变量并进行想象式策略学习，DINO-WM 和 LeWM 直接预测视觉特征并做目标匹配，IRIS 类方法预测离散 token 的随机动态，TD-MPC2 则学习面向 reward 和 value 的控制潜变量。我的统一验收问题是：这个预测表示是否保留了对控制真正有用的信息；这也解释了为什么世界模型不一定需要重建逼真的像素。</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DINO-WM 的结果说明，预训练视觉特征可以直接成为规划空间。在固定版本、固定随机种子和有界评估口径下，PointMaze 成功率为一点零，PushT 五十次成功四十三次，成功率百分之八十六，Wall 五十次成功四十七次，成功率百分之九十四；页面底部同时给出了完整曲线和 Wilson 置信区间。我完成了版本固定、MuJoCo EGL 兼容修复、运行与统计脚本封装，并用五轮上限构造可重复的五十次评估。我的理解是，只要特征空间保留了适合目标匹配的几何结构，就可以直接定义规划代价，而不必先恢复每一个像素。</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LeWM 使用更紧凑的 JEPA 目标：预测损失负责下一嵌入的可预测性，SIGReg 用于避免表示坍塌，规划时直接比较预测终点嵌入与目标嵌入的距离。使用官方权重完成五十个 Push-T episode 的 MPC 评估后，成功四十八次，成功率百分之九十六，耗时三百六十三点六二秒。我进一步验证了权重哈希与严格加载、编码器和动作接口、损失可反传、两套数据加载接口、MPC 候选代价，以及短训练后的 checkpoint 回载。这个结果证明的是整条推理和训练接口可用；它没有把官方权重的性能误写成我从头训练得到的性能。</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这页区分两个容易混淆的实验。上方 tokenizer 条件重建的 MAE 为零点零零零四三七八六，PSNR 为五十七点五八九二分贝，但编码器看到了真实下一帧，所以它验证的是压缩和重建质量，不是未来预测。下方 world model 单步想象的 MAE 为零点零零三五八七四三，PSNR 为三十点四六五四分贝，生成时不再输入真实下一帧，因此才是条件预测证据。我的理解是，随机实体位置的误差应该通过条件分布来解释，同一历史和动作可能采样出不同的 Δ-token；报告时应展示典型误差与分布，而不是只挑最好看的一张图。</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TD-MPC2 展示了另一种更直接的控制观点：世界模型只需预测对控制有用的信息。策略先验和 MPPI 或 CEM 采样动作序列，模型在潜空间累积短期 reward，并用 terminal Q 补足有限 horizon 之外的价值，最后只执行优化序列的第一步并滚动重规划。官方 dog-run checkpoint 的单 episode 回报为七百六十二点二；我自己的训练在十五万四千步时回报为一百三十四，十五万一千步附近最高为一百五十七点三。十万步量级仍然只能证明训练链可用，正式复现应接近七百万步并报告多随机种子；我认为规模化难点还包括潜表示稳定性、reward 与 value 尺度、Q 过估计和多任务接口。</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跨四条路线，我形成了三条可以迁移的判断。第一，表征不等于重建，DINO-WM 和 LeWM 说明特征几何可以直接支持目标匹配；第二，预测不等于一张图，Δ-IRIS 提醒我们应报告随机未来的分布和边界；第三，规划不等于无限延长 rollout，TD-MPC2 用短期模型、terminal Q 和策略先验形成了可扩展闭环。因此，好的世界模型应同时具备任务相关表示、可校准的不确定性和实际闭环决策价值，最终仍要回到成功率、回报、稳定 rollout 和泛化能力。</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为了让复现从一次运行变成可追溯证据，我形成了七步流程：固定代码提交、隔离环境、执行 CUDA 和 EGL 探针、运行最小 smoke、严格加载 checkpoint、进行有界或正式评估，最后交付脚本、日志、哈希和图表。版本漂移通过固定提交和依赖清单处理，无显示器服务器问题通过 MuJoCo EGL 探针处理，评估语义混淆则通过明确区分 smoke、官方权重和从头训练来处理。这个方法的验收标准是，每个结论都能指向命令、日志、指标或落盘产物，使其他人可以复核。</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下一步我希望把这套方法迁移到真实机器人决策闭环，形成三条互相连接的研究路径。第一条是基于 HDMI 复现和自定义数据接入，继续研究人形机器人与物体交互中的接触几何、局部规划和稳定性；第二条是在 π0、OpenPI 和 Flow Matching 的实验基础上，让 VLA 提供动作先验，让世界模型做 rollout、风险检查和重规划；第三条是在无人机—悠悠球系统中，用残差动力学、潜空间世界模型和 MPC 完善旋转跟随、减摆与末端捕获。这三条路线都指向同一个问题：如何学习既能泛化、又能被规划器真正使用的预测状态。</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这段实习让我从复现者进一步走向问题定义者和系统验证者。我带走了三种能力：快速从论文进入代码结构，严谨地区分 smoke、官方权重与从头训练，以及把表示、预测和控制放到同一个闭环中形成个人判断。我的目标不是重复更多论文，而是继续做能够被运行、被验证、被解释，并最终进入真实机器人闭环的具身智能研究。</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xu_yidong_internship_defense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xu_yidong_internship_defense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2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1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9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6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5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3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2400" kern="1200">
          <a:solidFill>
            <a:schemeClr val="tx1"/>
          </a:solidFill>
          <a:latin typeface="+mn-lt"/>
          <a:ea typeface="+mn-ea"/>
          <a:cs typeface="+mn-cs"/>
        </a:defRPr>
      </a:lvl1pPr>
      <a:lvl2pPr marL="457200" algn="l" defTabSz="457200" rtl="0" eaLnBrk="1" latinLnBrk="0" hangingPunct="1">
        <a:defRPr sz="2250" kern="1200">
          <a:solidFill>
            <a:schemeClr val="tx1"/>
          </a:solidFill>
          <a:latin typeface="+mn-lt"/>
          <a:ea typeface="+mn-ea"/>
          <a:cs typeface="+mn-cs"/>
        </a:defRPr>
      </a:lvl2pPr>
      <a:lvl3pPr marL="914400" algn="l" defTabSz="457200" rtl="0" eaLnBrk="1" latinLnBrk="0" hangingPunct="1">
        <a:defRPr sz="2100" kern="1200">
          <a:solidFill>
            <a:schemeClr val="tx1"/>
          </a:solidFill>
          <a:latin typeface="+mn-lt"/>
          <a:ea typeface="+mn-ea"/>
          <a:cs typeface="+mn-cs"/>
        </a:defRPr>
      </a:lvl3pPr>
      <a:lvl4pPr marL="1371600" algn="l" defTabSz="457200" rtl="0" eaLnBrk="1" latinLnBrk="0" hangingPunct="1">
        <a:defRPr sz="195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650" kern="1200">
          <a:solidFill>
            <a:schemeClr val="tx1"/>
          </a:solidFill>
          <a:latin typeface="+mn-lt"/>
          <a:ea typeface="+mn-ea"/>
          <a:cs typeface="+mn-cs"/>
        </a:defRPr>
      </a:lvl6pPr>
      <a:lvl7pPr marL="2743200" algn="l" defTabSz="457200" rtl="0" eaLnBrk="1" latinLnBrk="0" hangingPunct="1">
        <a:defRPr sz="1500" kern="1200">
          <a:solidFill>
            <a:schemeClr val="tx1"/>
          </a:solidFill>
          <a:latin typeface="+mn-lt"/>
          <a:ea typeface="+mn-ea"/>
          <a:cs typeface="+mn-cs"/>
        </a:defRPr>
      </a:lvl7pPr>
      <a:lvl8pPr marL="3200400" algn="l" defTabSz="457200" rtl="0" eaLnBrk="1" latinLnBrk="0" hangingPunct="1">
        <a:defRPr sz="135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df5c1389a3bb0ed.png"/>
  <Relationship Id="rId3" Type="http://schemas.openxmlformats.org/officeDocument/2006/relationships/image" Target="../media/image_9d779761bf7d60fb.png"/>
  <Relationship Id="rId4"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d792e8f7cd99c4a.png"/>
  <Relationship Id="rId3" Type="http://schemas.openxmlformats.org/officeDocument/2006/relationships/image" Target="../media/image_43a0215f915db408.png"/>
  <Relationship Id="rId4"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f9fe11b993b6043.png"/>
  <Relationship Id="rId3" Type="http://schemas.openxmlformats.org/officeDocument/2006/relationships/image" Target="../media/image_38261a8481f5371f.png"/>
  <Relationship Id="rId4"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419100" y="295275"/>
            <a:ext cx="11334750" cy="104775"/>
          </a:xfrm>
          <a:custGeom>
            <a:avLst/>
            <a:gdLst/>
            <a:ahLst/>
            <a:cxnLst/>
            <a:rect l="l" t="t" r="r" b="b"/>
            <a:pathLst>
              <a:path w="11334750" h="104775">
                <a:moveTo>
                  <a:pt x="0" y="57150"/>
                </a:moveTo>
                <a:cubicBezTo>
                  <a:pt x="2705100" y="0"/>
                  <a:pt x="6362700" y="104775"/>
                  <a:pt x="11334750" y="38100"/>
                </a:cubicBezTo>
              </a:path>
            </a:pathLst>
          </a:custGeom>
          <a:noFill/>
          <a:ln w="19050" cap="rnd">
            <a:solidFill>
              <a:schemeClr val="accent6"/>
            </a:solidFill>
          </a:ln>
        </p:spPr>
      </p:sp>
      <p:grpSp>
        <p:nvGrpSpPr>
          <p:cNvPr id="9" name="Group 9"/>
          <p:cNvGrpSpPr/>
          <p:nvPr/>
        </p:nvGrpSpPr>
        <p:grpSpPr>
          <a:xfrm>
            <a:off x="504825" y="546735"/>
            <a:ext cx="11103483" cy="920115"/>
            <a:chOff x="504825" y="546735"/>
            <a:chExt cx="11103483" cy="920115"/>
          </a:xfrm>
        </p:grpSpPr>
        <p:sp>
          <p:nvSpPr>
            <p:cNvPr id="3" name="TextBox 3"/>
            <p:cNvSpPr txBox="1"/>
            <p:nvPr/>
          </p:nvSpPr>
          <p:spPr>
            <a:xfrm>
              <a:off x="504825" y="546735"/>
              <a:ext cx="1819123" cy="819150"/>
            </a:xfrm>
            <a:prstGeom prst="rect">
              <a:avLst/>
            </a:prstGeom>
            <a:noFill/>
            <a:ln>
              <a:noFill/>
            </a:ln>
          </p:spPr>
          <p:txBody>
            <a:bodyPr wrap="none" lIns="0" tIns="0" rIns="0" bIns="0" anchor="t" anchorCtr="0">
              <a:spAutoFit/>
            </a:bodyPr>
            <a:lstStyle/>
            <a:p>
              <a:pPr algn="l"/>
              <a:r>
                <a:rPr lang="zh-CN" sz="4200" b="1" dirty="0">
                  <a:solidFill>
                    <a:schemeClr val="accent1"/>
                  </a:solidFill>
                  <a:latin typeface="+mj-lt"/>
                  <a:ea typeface="+mj-ea"/>
                  <a:cs typeface="+mj-cs"/>
                </a:rPr>
                <a:t>徐亦栋</a:t>
              </a:r>
            </a:p>
          </p:txBody>
        </p:sp>
        <p:sp>
          <p:nvSpPr>
            <p:cNvPr id="4" name="TextBox 4"/>
            <p:cNvSpPr txBox="1"/>
            <p:nvPr/>
          </p:nvSpPr>
          <p:spPr>
            <a:xfrm>
              <a:off x="2635758" y="607695"/>
              <a:ext cx="2789210" cy="469392"/>
            </a:xfrm>
            <a:prstGeom prst="rect">
              <a:avLst/>
            </a:prstGeom>
            <a:noFill/>
            <a:ln>
              <a:noFill/>
            </a:ln>
          </p:spPr>
          <p:txBody>
            <a:bodyPr wrap="none" lIns="0" tIns="0" rIns="0" bIns="0" anchor="t" anchorCtr="0">
              <a:spAutoFit/>
            </a:bodyPr>
            <a:lstStyle/>
            <a:p>
              <a:pPr algn="l"/>
              <a:r>
                <a:rPr lang="zh-CN" sz="2400" b="1" dirty="0">
                  <a:solidFill>
                    <a:schemeClr val="accent3"/>
                  </a:solidFill>
                  <a:latin typeface="+mj-lt"/>
                  <a:ea typeface="+mj-ea"/>
                  <a:cs typeface="+mj-cs"/>
                </a:rPr>
                <a:t>同济大学 · 自动化</a:t>
              </a:r>
            </a:p>
          </p:txBody>
        </p:sp>
        <p:sp>
          <p:nvSpPr>
            <p:cNvPr id="5" name="TextBox 5"/>
            <p:cNvSpPr txBox="1"/>
            <p:nvPr/>
          </p:nvSpPr>
          <p:spPr>
            <a:xfrm>
              <a:off x="2638806" y="1034415"/>
              <a:ext cx="4498848"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电子与信息工程学院｜2027 年本科毕业</a:t>
              </a:r>
            </a:p>
          </p:txBody>
        </p:sp>
        <p:sp>
          <p:nvSpPr>
            <p:cNvPr id="6" name="TextBox 6"/>
            <p:cNvSpPr txBox="1"/>
            <p:nvPr/>
          </p:nvSpPr>
          <p:spPr>
            <a:xfrm>
              <a:off x="8669579" y="681990"/>
              <a:ext cx="1036015" cy="352044"/>
            </a:xfrm>
            <a:prstGeom prst="rect">
              <a:avLst/>
            </a:prstGeom>
            <a:noFill/>
            <a:ln>
              <a:noFill/>
            </a:ln>
          </p:spPr>
          <p:txBody>
            <a:bodyPr wrap="none" lIns="0" tIns="0" rIns="0" bIns="0" anchor="t" anchorCtr="0">
              <a:spAutoFit/>
            </a:bodyPr>
            <a:lstStyle/>
            <a:p>
              <a:pPr algn="r"/>
              <a:r>
                <a:rPr lang="zh-CN" sz="1800" b="1" dirty="0">
                  <a:solidFill>
                    <a:schemeClr val="accent2"/>
                  </a:solidFill>
                  <a:latin typeface="+mj-lt"/>
                  <a:ea typeface="+mj-ea"/>
                  <a:cs typeface="+mj-cs"/>
                </a:rPr>
                <a:t>个人简介</a:t>
              </a:r>
            </a:p>
          </p:txBody>
        </p:sp>
        <p:sp>
          <p:nvSpPr>
            <p:cNvPr id="7" name="TextBox 7"/>
            <p:cNvSpPr txBox="1"/>
            <p:nvPr/>
          </p:nvSpPr>
          <p:spPr>
            <a:xfrm>
              <a:off x="9472727" y="1092518"/>
              <a:ext cx="2135581"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2251989@tongji.edu.cn</a:t>
              </a:r>
            </a:p>
          </p:txBody>
        </p:sp>
        <p:sp>
          <p:nvSpPr>
            <p:cNvPr id="8" name="Freeform 8"/>
            <p:cNvSpPr/>
            <p:nvPr/>
          </p:nvSpPr>
          <p:spPr>
            <a:xfrm>
              <a:off x="533400" y="1295400"/>
              <a:ext cx="6400800" cy="171450"/>
            </a:xfrm>
            <a:custGeom>
              <a:avLst/>
              <a:gdLst/>
              <a:ahLst/>
              <a:cxnLst/>
              <a:rect l="l" t="t" r="r" b="b"/>
              <a:pathLst>
                <a:path w="6400800" h="171450">
                  <a:moveTo>
                    <a:pt x="0" y="95250"/>
                  </a:moveTo>
                  <a:cubicBezTo>
                    <a:pt x="1876425" y="0"/>
                    <a:pt x="4257675" y="171450"/>
                    <a:pt x="6400800" y="66675"/>
                  </a:cubicBezTo>
                </a:path>
              </a:pathLst>
            </a:custGeom>
            <a:noFill/>
            <a:ln w="57150" cap="rnd">
              <a:solidFill>
                <a:schemeClr val="accent2">
                  <a:alpha val="78000"/>
                </a:schemeClr>
              </a:solidFill>
            </a:ln>
          </p:spPr>
        </p:sp>
      </p:grpSp>
      <p:grpSp>
        <p:nvGrpSpPr>
          <p:cNvPr id="20" name="Group 20"/>
          <p:cNvGrpSpPr/>
          <p:nvPr/>
        </p:nvGrpSpPr>
        <p:grpSpPr>
          <a:xfrm>
            <a:off x="457200" y="1676400"/>
            <a:ext cx="3467100" cy="4152900"/>
            <a:chOff x="457200" y="1676400"/>
            <a:chExt cx="3467100" cy="4152900"/>
          </a:xfrm>
        </p:grpSpPr>
        <p:sp>
          <p:nvSpPr>
            <p:cNvPr id="10" name="Freeform 10"/>
            <p:cNvSpPr/>
            <p:nvPr/>
          </p:nvSpPr>
          <p:spPr>
            <a:xfrm>
              <a:off x="457200" y="1676400"/>
              <a:ext cx="3467100" cy="4152900"/>
            </a:xfrm>
            <a:custGeom>
              <a:avLst/>
              <a:gdLst/>
              <a:ahLst/>
              <a:cxnLst/>
              <a:rect l="l" t="t" r="r" b="b"/>
              <a:pathLst>
                <a:path w="3467100" h="4152900">
                  <a:moveTo>
                    <a:pt x="171450" y="209550"/>
                  </a:moveTo>
                  <a:cubicBezTo>
                    <a:pt x="1028700" y="0"/>
                    <a:pt x="2619375" y="95250"/>
                    <a:pt x="3333750" y="304800"/>
                  </a:cubicBezTo>
                  <a:cubicBezTo>
                    <a:pt x="3467100" y="1323975"/>
                    <a:pt x="3419475" y="2943225"/>
                    <a:pt x="3238500" y="3933825"/>
                  </a:cubicBezTo>
                  <a:cubicBezTo>
                    <a:pt x="2162175" y="4152900"/>
                    <a:pt x="1009650" y="4029075"/>
                    <a:pt x="190500" y="3752850"/>
                  </a:cubicBezTo>
                  <a:cubicBezTo>
                    <a:pt x="0" y="2647950"/>
                    <a:pt x="9525" y="1181100"/>
                    <a:pt x="171450" y="209550"/>
                  </a:cubicBezTo>
                  <a:close/>
                </a:path>
              </a:pathLst>
            </a:custGeom>
            <a:solidFill>
              <a:schemeClr val="lt2">
                <a:alpha val="64000"/>
              </a:schemeClr>
            </a:solidFill>
            <a:ln w="28575" cap="rnd">
              <a:solidFill>
                <a:schemeClr val="accent1"/>
              </a:solidFill>
              <a:round/>
            </a:ln>
          </p:spPr>
        </p:sp>
        <p:sp>
          <p:nvSpPr>
            <p:cNvPr id="11" name="TextBox 11"/>
            <p:cNvSpPr txBox="1"/>
            <p:nvPr/>
          </p:nvSpPr>
          <p:spPr>
            <a:xfrm>
              <a:off x="810006" y="2101215"/>
              <a:ext cx="1036015" cy="352044"/>
            </a:xfrm>
            <a:prstGeom prst="rect">
              <a:avLst/>
            </a:prstGeom>
            <a:noFill/>
            <a:ln>
              <a:noFill/>
            </a:ln>
          </p:spPr>
          <p:txBody>
            <a:bodyPr wrap="none" lIns="0" tIns="0" rIns="0" bIns="0" anchor="t" anchorCtr="0">
              <a:spAutoFit/>
            </a:bodyPr>
            <a:lstStyle/>
            <a:p>
              <a:pPr algn="l"/>
              <a:r>
                <a:rPr lang="zh-CN" sz="1800" b="1" dirty="0">
                  <a:solidFill>
                    <a:schemeClr val="accent3"/>
                  </a:solidFill>
                  <a:latin typeface="+mj-lt"/>
                  <a:ea typeface="+mj-ea"/>
                  <a:cs typeface="+mj-cs"/>
                </a:rPr>
                <a:t>学业背景</a:t>
              </a:r>
            </a:p>
          </p:txBody>
        </p:sp>
        <p:sp>
          <p:nvSpPr>
            <p:cNvPr id="12" name="TextBox 12"/>
            <p:cNvSpPr txBox="1"/>
            <p:nvPr/>
          </p:nvSpPr>
          <p:spPr>
            <a:xfrm>
              <a:off x="800100" y="2522220"/>
              <a:ext cx="1717350" cy="1047750"/>
            </a:xfrm>
            <a:prstGeom prst="rect">
              <a:avLst/>
            </a:prstGeom>
            <a:noFill/>
            <a:ln>
              <a:noFill/>
            </a:ln>
          </p:spPr>
          <p:txBody>
            <a:bodyPr wrap="none" lIns="0" tIns="0" rIns="0" bIns="0" anchor="t" anchorCtr="0">
              <a:spAutoFit/>
            </a:bodyPr>
            <a:lstStyle/>
            <a:p>
              <a:pPr algn="l"/>
              <a:r>
                <a:rPr lang="en-US" sz="5400" b="1" dirty="0">
                  <a:solidFill>
                    <a:schemeClr val="accent2"/>
                  </a:solidFill>
                  <a:latin typeface="Consolas"/>
                  <a:ea typeface="Consolas"/>
                  <a:cs typeface="Consolas"/>
                </a:rPr>
                <a:t>4.83</a:t>
              </a:r>
            </a:p>
          </p:txBody>
        </p:sp>
        <p:sp>
          <p:nvSpPr>
            <p:cNvPr id="13" name="TextBox 13"/>
            <p:cNvSpPr txBox="1"/>
            <p:nvPr/>
          </p:nvSpPr>
          <p:spPr>
            <a:xfrm>
              <a:off x="2657856" y="2853690"/>
              <a:ext cx="799186"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 5.00</a:t>
              </a:r>
            </a:p>
          </p:txBody>
        </p:sp>
        <p:sp>
          <p:nvSpPr>
            <p:cNvPr id="14" name="TextBox 14"/>
            <p:cNvSpPr txBox="1"/>
            <p:nvPr/>
          </p:nvSpPr>
          <p:spPr>
            <a:xfrm>
              <a:off x="810006" y="3263265"/>
              <a:ext cx="1246327"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本科 GPA</a:t>
              </a:r>
            </a:p>
          </p:txBody>
        </p:sp>
        <p:sp>
          <p:nvSpPr>
            <p:cNvPr id="15" name="Freeform 15"/>
            <p:cNvSpPr/>
            <p:nvPr/>
          </p:nvSpPr>
          <p:spPr>
            <a:xfrm>
              <a:off x="819150" y="3581400"/>
              <a:ext cx="2714625" cy="123825"/>
            </a:xfrm>
            <a:custGeom>
              <a:avLst/>
              <a:gdLst/>
              <a:ahLst/>
              <a:cxnLst/>
              <a:rect l="l" t="t" r="r" b="b"/>
              <a:pathLst>
                <a:path w="2714625" h="123825">
                  <a:moveTo>
                    <a:pt x="0" y="104775"/>
                  </a:moveTo>
                  <a:cubicBezTo>
                    <a:pt x="742950" y="0"/>
                    <a:pt x="1619250" y="123825"/>
                    <a:pt x="2714625" y="28575"/>
                  </a:cubicBezTo>
                </a:path>
              </a:pathLst>
            </a:custGeom>
            <a:noFill/>
            <a:ln w="28575" cap="rnd">
              <a:solidFill>
                <a:schemeClr val="accent6"/>
              </a:solidFill>
            </a:ln>
          </p:spPr>
        </p:sp>
        <p:sp>
          <p:nvSpPr>
            <p:cNvPr id="16" name="TextBox 16"/>
            <p:cNvSpPr txBox="1"/>
            <p:nvPr/>
          </p:nvSpPr>
          <p:spPr>
            <a:xfrm>
              <a:off x="800100" y="3855720"/>
              <a:ext cx="1717350" cy="1047750"/>
            </a:xfrm>
            <a:prstGeom prst="rect">
              <a:avLst/>
            </a:prstGeom>
            <a:noFill/>
            <a:ln>
              <a:noFill/>
            </a:ln>
          </p:spPr>
          <p:txBody>
            <a:bodyPr wrap="none" lIns="0" tIns="0" rIns="0" bIns="0" anchor="t" anchorCtr="0">
              <a:spAutoFit/>
            </a:bodyPr>
            <a:lstStyle/>
            <a:p>
              <a:pPr algn="l"/>
              <a:r>
                <a:rPr lang="en-US" sz="5400" b="1" dirty="0">
                  <a:solidFill>
                    <a:schemeClr val="accent3"/>
                  </a:solidFill>
                  <a:latin typeface="Consolas"/>
                  <a:ea typeface="Consolas"/>
                  <a:cs typeface="Consolas"/>
                </a:rPr>
                <a:t>1/69</a:t>
              </a:r>
            </a:p>
          </p:txBody>
        </p:sp>
        <p:sp>
          <p:nvSpPr>
            <p:cNvPr id="17" name="TextBox 17"/>
            <p:cNvSpPr txBox="1"/>
            <p:nvPr/>
          </p:nvSpPr>
          <p:spPr>
            <a:xfrm>
              <a:off x="810006" y="4596765"/>
              <a:ext cx="1554480"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专业绩点排名</a:t>
              </a:r>
            </a:p>
          </p:txBody>
        </p:sp>
        <p:sp>
          <p:nvSpPr>
            <p:cNvPr id="18" name="TextBox 18"/>
            <p:cNvSpPr txBox="1"/>
            <p:nvPr/>
          </p:nvSpPr>
          <p:spPr>
            <a:xfrm>
              <a:off x="810006" y="5025390"/>
              <a:ext cx="172090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英语六级：517</a:t>
              </a:r>
            </a:p>
          </p:txBody>
        </p:sp>
        <p:sp>
          <p:nvSpPr>
            <p:cNvPr id="19" name="TextBox 19"/>
            <p:cNvSpPr txBox="1"/>
            <p:nvPr/>
          </p:nvSpPr>
          <p:spPr>
            <a:xfrm>
              <a:off x="812292" y="5397818"/>
              <a:ext cx="230840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核心课程重点成绩均为 5.0</a:t>
              </a:r>
            </a:p>
          </p:txBody>
        </p:sp>
      </p:grpSp>
      <p:grpSp>
        <p:nvGrpSpPr>
          <p:cNvPr id="33" name="Group 33"/>
          <p:cNvGrpSpPr/>
          <p:nvPr/>
        </p:nvGrpSpPr>
        <p:grpSpPr>
          <a:xfrm>
            <a:off x="4331208" y="1958340"/>
            <a:ext cx="5022409" cy="3922585"/>
            <a:chOff x="4331208" y="1958340"/>
            <a:chExt cx="5022409" cy="3922585"/>
          </a:xfrm>
        </p:grpSpPr>
        <p:sp>
          <p:nvSpPr>
            <p:cNvPr id="21" name="TextBox 21"/>
            <p:cNvSpPr txBox="1"/>
            <p:nvPr/>
          </p:nvSpPr>
          <p:spPr>
            <a:xfrm>
              <a:off x="4334256" y="1958340"/>
              <a:ext cx="2053742"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j-lt"/>
                  <a:ea typeface="+mj-ea"/>
                  <a:cs typeface="+mj-cs"/>
                </a:rPr>
                <a:t>代表性研究与项目</a:t>
              </a:r>
            </a:p>
          </p:txBody>
        </p:sp>
        <p:sp>
          <p:nvSpPr>
            <p:cNvPr id="22" name="Freeform 22"/>
            <p:cNvSpPr/>
            <p:nvPr/>
          </p:nvSpPr>
          <p:spPr>
            <a:xfrm>
              <a:off x="4343400" y="2286000"/>
              <a:ext cx="4667250" cy="104775"/>
            </a:xfrm>
            <a:custGeom>
              <a:avLst/>
              <a:gdLst/>
              <a:ahLst/>
              <a:cxnLst/>
              <a:rect l="l" t="t" r="r" b="b"/>
              <a:pathLst>
                <a:path w="4667250" h="104775">
                  <a:moveTo>
                    <a:pt x="0" y="85725"/>
                  </a:moveTo>
                  <a:cubicBezTo>
                    <a:pt x="1285875" y="0"/>
                    <a:pt x="3000375" y="104775"/>
                    <a:pt x="4667250" y="9525"/>
                  </a:cubicBezTo>
                </a:path>
              </a:pathLst>
            </a:custGeom>
            <a:noFill/>
            <a:ln w="28575" cap="rnd">
              <a:solidFill>
                <a:schemeClr val="accent6"/>
              </a:solidFill>
            </a:ln>
          </p:spPr>
        </p:sp>
        <p:sp>
          <p:nvSpPr>
            <p:cNvPr id="23" name="TextBox 23"/>
            <p:cNvSpPr txBox="1"/>
            <p:nvPr/>
          </p:nvSpPr>
          <p:spPr>
            <a:xfrm>
              <a:off x="4331208" y="2522220"/>
              <a:ext cx="375605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j-lt"/>
                  <a:ea typeface="+mj-ea"/>
                  <a:cs typeface="+mj-cs"/>
                </a:rPr>
                <a:t>人形机器人交互模仿学习</a:t>
              </a:r>
            </a:p>
          </p:txBody>
        </p:sp>
        <p:sp>
          <p:nvSpPr>
            <p:cNvPr id="24" name="TextBox 24"/>
            <p:cNvSpPr txBox="1"/>
            <p:nvPr/>
          </p:nvSpPr>
          <p:spPr>
            <a:xfrm>
              <a:off x="4334256" y="2939415"/>
              <a:ext cx="4821631"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HDMI · 数据接入 · 接触建模 · PPO</a:t>
              </a:r>
            </a:p>
          </p:txBody>
        </p:sp>
        <p:sp>
          <p:nvSpPr>
            <p:cNvPr id="25" name="TextBox 25"/>
            <p:cNvSpPr txBox="1"/>
            <p:nvPr/>
          </p:nvSpPr>
          <p:spPr>
            <a:xfrm>
              <a:off x="4336542" y="3311842"/>
              <a:ext cx="4535881" cy="264033"/>
            </a:xfrm>
            <a:prstGeom prst="rect">
              <a:avLst/>
            </a:prstGeom>
            <a:noFill/>
            <a:ln>
              <a:noFill/>
            </a:ln>
          </p:spPr>
          <p:txBody>
            <a:bodyPr wrap="none" lIns="0" tIns="0" rIns="0" bIns="0" anchor="t" anchorCtr="0">
              <a:spAutoFit/>
            </a:bodyPr>
            <a:lstStyle/>
            <a:p>
              <a:pPr algn="l"/>
              <a:r>
                <a:rPr lang="zh-CN" sz="1350" dirty="0">
                  <a:solidFill>
                    <a:srgbClr val="2F7D5C"/>
                  </a:solidFill>
                  <a:latin typeface="+mn-lt"/>
                  <a:ea typeface="+mn-ea"/>
                  <a:cs typeface="+mn-cs"/>
                </a:rPr>
                <a:t>64 个并行环境｜约 2 万次策略更新｜完成回放与评测</a:t>
              </a:r>
            </a:p>
          </p:txBody>
        </p:sp>
        <p:sp>
          <p:nvSpPr>
            <p:cNvPr id="26" name="Freeform 26"/>
            <p:cNvSpPr/>
            <p:nvPr/>
          </p:nvSpPr>
          <p:spPr>
            <a:xfrm>
              <a:off x="4343400" y="3619500"/>
              <a:ext cx="4667250" cy="123825"/>
            </a:xfrm>
            <a:custGeom>
              <a:avLst/>
              <a:gdLst/>
              <a:ahLst/>
              <a:cxnLst/>
              <a:rect l="l" t="t" r="r" b="b"/>
              <a:pathLst>
                <a:path w="4667250" h="123825">
                  <a:moveTo>
                    <a:pt x="0" y="85725"/>
                  </a:moveTo>
                  <a:cubicBezTo>
                    <a:pt x="1219200" y="0"/>
                    <a:pt x="2943225" y="123825"/>
                    <a:pt x="4667250" y="19050"/>
                  </a:cubicBezTo>
                </a:path>
              </a:pathLst>
            </a:custGeom>
            <a:noFill/>
            <a:ln w="28575" cap="rnd">
              <a:solidFill>
                <a:schemeClr val="accent6"/>
              </a:solidFill>
            </a:ln>
          </p:spPr>
        </p:sp>
        <p:sp>
          <p:nvSpPr>
            <p:cNvPr id="27" name="TextBox 27"/>
            <p:cNvSpPr txBox="1"/>
            <p:nvPr/>
          </p:nvSpPr>
          <p:spPr>
            <a:xfrm>
              <a:off x="4331208" y="3846195"/>
              <a:ext cx="3232465"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j-lt"/>
                  <a:ea typeface="+mj-ea"/>
                  <a:cs typeface="+mj-cs"/>
                </a:rPr>
                <a:t>VLA 机器人策略模型</a:t>
              </a:r>
            </a:p>
          </p:txBody>
        </p:sp>
        <p:sp>
          <p:nvSpPr>
            <p:cNvPr id="28" name="TextBox 28"/>
            <p:cNvSpPr txBox="1"/>
            <p:nvPr/>
          </p:nvSpPr>
          <p:spPr>
            <a:xfrm>
              <a:off x="4334256" y="4263390"/>
              <a:ext cx="5019361"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mn-lt"/>
                  <a:ea typeface="+mn-ea"/>
                  <a:cs typeface="+mn-cs"/>
                </a:rPr>
                <a:t>π0 / OpenPI · LIBERO · Flow Matching</a:t>
              </a:r>
            </a:p>
          </p:txBody>
        </p:sp>
        <p:sp>
          <p:nvSpPr>
            <p:cNvPr id="29" name="TextBox 29"/>
            <p:cNvSpPr txBox="1"/>
            <p:nvPr/>
          </p:nvSpPr>
          <p:spPr>
            <a:xfrm>
              <a:off x="4336542" y="4635818"/>
              <a:ext cx="3470148" cy="264033"/>
            </a:xfrm>
            <a:prstGeom prst="rect">
              <a:avLst/>
            </a:prstGeom>
            <a:noFill/>
            <a:ln>
              <a:noFill/>
            </a:ln>
          </p:spPr>
          <p:txBody>
            <a:bodyPr wrap="none" lIns="0" tIns="0" rIns="0" bIns="0" anchor="t" anchorCtr="0">
              <a:spAutoFit/>
            </a:bodyPr>
            <a:lstStyle/>
            <a:p>
              <a:pPr algn="l"/>
              <a:r>
                <a:rPr lang="zh-CN" sz="1350" dirty="0">
                  <a:solidFill>
                    <a:srgbClr val="2F7D5C"/>
                  </a:solidFill>
                  <a:latin typeface="+mn-lt"/>
                  <a:ea typeface="+mn-ea"/>
                  <a:cs typeface="+mn-cs"/>
                </a:rPr>
                <a:t>完成推理、动作生成验证与策略训练闭环</a:t>
              </a:r>
            </a:p>
          </p:txBody>
        </p:sp>
        <p:sp>
          <p:nvSpPr>
            <p:cNvPr id="30" name="Freeform 30"/>
            <p:cNvSpPr/>
            <p:nvPr/>
          </p:nvSpPr>
          <p:spPr>
            <a:xfrm>
              <a:off x="4343400" y="4933950"/>
              <a:ext cx="4667250" cy="142875"/>
            </a:xfrm>
            <a:custGeom>
              <a:avLst/>
              <a:gdLst/>
              <a:ahLst/>
              <a:cxnLst/>
              <a:rect l="l" t="t" r="r" b="b"/>
              <a:pathLst>
                <a:path w="4667250" h="142875">
                  <a:moveTo>
                    <a:pt x="0" y="95250"/>
                  </a:moveTo>
                  <a:cubicBezTo>
                    <a:pt x="1219200" y="0"/>
                    <a:pt x="2952750" y="142875"/>
                    <a:pt x="4667250" y="38100"/>
                  </a:cubicBezTo>
                </a:path>
              </a:pathLst>
            </a:custGeom>
            <a:noFill/>
            <a:ln w="28575" cap="rnd">
              <a:solidFill>
                <a:schemeClr val="accent6"/>
              </a:solidFill>
            </a:ln>
          </p:spPr>
        </p:sp>
        <p:sp>
          <p:nvSpPr>
            <p:cNvPr id="31" name="TextBox 31"/>
            <p:cNvSpPr txBox="1"/>
            <p:nvPr/>
          </p:nvSpPr>
          <p:spPr>
            <a:xfrm>
              <a:off x="4331208" y="5170170"/>
              <a:ext cx="394263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j-lt"/>
                  <a:ea typeface="+mj-ea"/>
                  <a:cs typeface="+mj-cs"/>
                </a:rPr>
                <a:t>无人机—悠悠球动力学控制</a:t>
              </a:r>
            </a:p>
          </p:txBody>
        </p:sp>
        <p:sp>
          <p:nvSpPr>
            <p:cNvPr id="32" name="TextBox 32"/>
            <p:cNvSpPr txBox="1"/>
            <p:nvPr/>
          </p:nvSpPr>
          <p:spPr>
            <a:xfrm>
              <a:off x="4336542" y="5616892"/>
              <a:ext cx="42807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残差动力学 · 世界模型 · MPC · 捕获预测</a:t>
              </a:r>
            </a:p>
          </p:txBody>
        </p:sp>
      </p:grpSp>
      <p:grpSp>
        <p:nvGrpSpPr>
          <p:cNvPr id="45" name="Group 45"/>
          <p:cNvGrpSpPr/>
          <p:nvPr/>
        </p:nvGrpSpPr>
        <p:grpSpPr>
          <a:xfrm>
            <a:off x="9429750" y="1724025"/>
            <a:ext cx="2247900" cy="4038600"/>
            <a:chOff x="9429750" y="1724025"/>
            <a:chExt cx="2247900" cy="4038600"/>
          </a:xfrm>
        </p:grpSpPr>
        <p:sp>
          <p:nvSpPr>
            <p:cNvPr id="34" name="Freeform 34"/>
            <p:cNvSpPr/>
            <p:nvPr/>
          </p:nvSpPr>
          <p:spPr>
            <a:xfrm>
              <a:off x="9429750" y="1724025"/>
              <a:ext cx="2247900" cy="4038600"/>
            </a:xfrm>
            <a:custGeom>
              <a:avLst/>
              <a:gdLst/>
              <a:ahLst/>
              <a:cxnLst/>
              <a:rect l="l" t="t" r="r" b="b"/>
              <a:pathLst>
                <a:path w="2247900" h="4038600">
                  <a:moveTo>
                    <a:pt x="152400" y="161925"/>
                  </a:moveTo>
                  <a:cubicBezTo>
                    <a:pt x="752475" y="0"/>
                    <a:pt x="1704975" y="85725"/>
                    <a:pt x="2162175" y="285750"/>
                  </a:cubicBezTo>
                  <a:cubicBezTo>
                    <a:pt x="2247900" y="1276350"/>
                    <a:pt x="2200275" y="2876550"/>
                    <a:pt x="2057400" y="3848100"/>
                  </a:cubicBezTo>
                  <a:cubicBezTo>
                    <a:pt x="1400175" y="4038600"/>
                    <a:pt x="723900" y="3952875"/>
                    <a:pt x="171450" y="3705225"/>
                  </a:cubicBezTo>
                  <a:cubicBezTo>
                    <a:pt x="0" y="2619375"/>
                    <a:pt x="9525" y="1133475"/>
                    <a:pt x="152400" y="161925"/>
                  </a:cubicBezTo>
                  <a:close/>
                </a:path>
              </a:pathLst>
            </a:custGeom>
            <a:solidFill>
              <a:schemeClr val="lt1"/>
            </a:solidFill>
            <a:ln w="38100" cap="rnd">
              <a:solidFill>
                <a:schemeClr val="accent3"/>
              </a:solidFill>
              <a:round/>
            </a:ln>
          </p:spPr>
        </p:sp>
        <p:sp>
          <p:nvSpPr>
            <p:cNvPr id="35" name="TextBox 35"/>
            <p:cNvSpPr txBox="1"/>
            <p:nvPr/>
          </p:nvSpPr>
          <p:spPr>
            <a:xfrm>
              <a:off x="9773031" y="2110740"/>
              <a:ext cx="781583" cy="352044"/>
            </a:xfrm>
            <a:prstGeom prst="rect">
              <a:avLst/>
            </a:prstGeom>
            <a:noFill/>
            <a:ln>
              <a:noFill/>
            </a:ln>
          </p:spPr>
          <p:txBody>
            <a:bodyPr wrap="none" lIns="0" tIns="0" rIns="0" bIns="0" anchor="t" anchorCtr="0">
              <a:spAutoFit/>
            </a:bodyPr>
            <a:lstStyle/>
            <a:p>
              <a:pPr algn="l"/>
              <a:r>
                <a:rPr lang="zh-CN" sz="1800" b="1" dirty="0">
                  <a:solidFill>
                    <a:schemeClr val="accent3"/>
                  </a:solidFill>
                  <a:latin typeface="+mj-lt"/>
                  <a:ea typeface="+mj-ea"/>
                  <a:cs typeface="+mj-cs"/>
                </a:rPr>
                <a:t>技术栈</a:t>
              </a:r>
            </a:p>
          </p:txBody>
        </p:sp>
        <p:sp>
          <p:nvSpPr>
            <p:cNvPr id="36" name="TextBox 36"/>
            <p:cNvSpPr txBox="1"/>
            <p:nvPr/>
          </p:nvSpPr>
          <p:spPr>
            <a:xfrm>
              <a:off x="9775317" y="2597468"/>
              <a:ext cx="150738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Python · C/C++</a:t>
              </a:r>
            </a:p>
          </p:txBody>
        </p:sp>
        <p:sp>
          <p:nvSpPr>
            <p:cNvPr id="37" name="TextBox 37"/>
            <p:cNvSpPr txBox="1"/>
            <p:nvPr/>
          </p:nvSpPr>
          <p:spPr>
            <a:xfrm>
              <a:off x="9775317" y="2959418"/>
              <a:ext cx="142749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PyTorch · JAX</a:t>
              </a:r>
            </a:p>
          </p:txBody>
        </p:sp>
        <p:sp>
          <p:nvSpPr>
            <p:cNvPr id="38" name="TextBox 38"/>
            <p:cNvSpPr txBox="1"/>
            <p:nvPr/>
          </p:nvSpPr>
          <p:spPr>
            <a:xfrm>
              <a:off x="9775317" y="3321368"/>
              <a:ext cx="157310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Isaac Sim · ROS</a:t>
              </a:r>
            </a:p>
          </p:txBody>
        </p:sp>
        <p:sp>
          <p:nvSpPr>
            <p:cNvPr id="39" name="TextBox 39"/>
            <p:cNvSpPr txBox="1"/>
            <p:nvPr/>
          </p:nvSpPr>
          <p:spPr>
            <a:xfrm>
              <a:off x="9775317" y="3683318"/>
              <a:ext cx="121925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Hydra · W&amp;B</a:t>
              </a:r>
            </a:p>
          </p:txBody>
        </p:sp>
        <p:sp>
          <p:nvSpPr>
            <p:cNvPr id="40" name="Freeform 40"/>
            <p:cNvSpPr/>
            <p:nvPr/>
          </p:nvSpPr>
          <p:spPr>
            <a:xfrm>
              <a:off x="9782175" y="4010025"/>
              <a:ext cx="1552575" cy="114300"/>
            </a:xfrm>
            <a:custGeom>
              <a:avLst/>
              <a:gdLst/>
              <a:ahLst/>
              <a:cxnLst/>
              <a:rect l="l" t="t" r="r" b="b"/>
              <a:pathLst>
                <a:path w="1552575" h="114300">
                  <a:moveTo>
                    <a:pt x="0" y="85725"/>
                  </a:moveTo>
                  <a:cubicBezTo>
                    <a:pt x="552450" y="0"/>
                    <a:pt x="1143000" y="114300"/>
                    <a:pt x="1552575" y="38100"/>
                  </a:cubicBezTo>
                </a:path>
              </a:pathLst>
            </a:custGeom>
            <a:noFill/>
            <a:ln w="28575" cap="rnd">
              <a:solidFill>
                <a:schemeClr val="accent6"/>
              </a:solidFill>
            </a:ln>
          </p:spPr>
        </p:sp>
        <p:sp>
          <p:nvSpPr>
            <p:cNvPr id="41" name="TextBox 41"/>
            <p:cNvSpPr txBox="1"/>
            <p:nvPr/>
          </p:nvSpPr>
          <p:spPr>
            <a:xfrm>
              <a:off x="9773031" y="4320540"/>
              <a:ext cx="1290447"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j-lt"/>
                  <a:ea typeface="+mj-ea"/>
                  <a:cs typeface="+mj-cs"/>
                </a:rPr>
                <a:t>竞赛与荣誉</a:t>
              </a:r>
            </a:p>
          </p:txBody>
        </p:sp>
        <p:sp>
          <p:nvSpPr>
            <p:cNvPr id="42" name="TextBox 42"/>
            <p:cNvSpPr txBox="1"/>
            <p:nvPr/>
          </p:nvSpPr>
          <p:spPr>
            <a:xfrm>
              <a:off x="9775317" y="4750118"/>
              <a:ext cx="116586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国家级二等奖</a:t>
              </a:r>
            </a:p>
          </p:txBody>
        </p:sp>
        <p:sp>
          <p:nvSpPr>
            <p:cNvPr id="43" name="TextBox 43"/>
            <p:cNvSpPr txBox="1"/>
            <p:nvPr/>
          </p:nvSpPr>
          <p:spPr>
            <a:xfrm>
              <a:off x="9775317" y="5054918"/>
              <a:ext cx="116586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国家级三等奖</a:t>
              </a:r>
            </a:p>
          </p:txBody>
        </p:sp>
        <p:sp>
          <p:nvSpPr>
            <p:cNvPr id="44" name="TextBox 44"/>
            <p:cNvSpPr txBox="1"/>
            <p:nvPr/>
          </p:nvSpPr>
          <p:spPr>
            <a:xfrm>
              <a:off x="9775317" y="5359718"/>
              <a:ext cx="116586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校一等奖学金</a:t>
              </a:r>
            </a:p>
          </p:txBody>
        </p:sp>
      </p:grpSp>
      <p:grpSp>
        <p:nvGrpSpPr>
          <p:cNvPr id="49" name="Group 49"/>
          <p:cNvGrpSpPr/>
          <p:nvPr/>
        </p:nvGrpSpPr>
        <p:grpSpPr>
          <a:xfrm>
            <a:off x="543306" y="5972175"/>
            <a:ext cx="11067669" cy="614934"/>
            <a:chOff x="543306" y="5972175"/>
            <a:chExt cx="11067669" cy="614934"/>
          </a:xfrm>
        </p:grpSpPr>
        <p:sp>
          <p:nvSpPr>
            <p:cNvPr id="46" name="Freeform 46"/>
            <p:cNvSpPr/>
            <p:nvPr/>
          </p:nvSpPr>
          <p:spPr>
            <a:xfrm>
              <a:off x="552450" y="5972175"/>
              <a:ext cx="11058525" cy="180975"/>
            </a:xfrm>
            <a:custGeom>
              <a:avLst/>
              <a:gdLst/>
              <a:ahLst/>
              <a:cxnLst/>
              <a:rect l="l" t="t" r="r" b="b"/>
              <a:pathLst>
                <a:path w="11058525" h="180975">
                  <a:moveTo>
                    <a:pt x="0" y="123825"/>
                  </a:moveTo>
                  <a:cubicBezTo>
                    <a:pt x="2390775" y="0"/>
                    <a:pt x="6924675" y="180975"/>
                    <a:pt x="11058525" y="85725"/>
                  </a:cubicBezTo>
                </a:path>
              </a:pathLst>
            </a:custGeom>
            <a:noFill/>
            <a:ln w="47625" cap="rnd">
              <a:solidFill>
                <a:schemeClr val="accent2"/>
              </a:solidFill>
            </a:ln>
          </p:spPr>
        </p:sp>
        <p:sp>
          <p:nvSpPr>
            <p:cNvPr id="47" name="TextBox 47"/>
            <p:cNvSpPr txBox="1"/>
            <p:nvPr/>
          </p:nvSpPr>
          <p:spPr>
            <a:xfrm>
              <a:off x="543306" y="6235065"/>
              <a:ext cx="1290447"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j-lt"/>
                  <a:ea typeface="+mj-ea"/>
                  <a:cs typeface="+mj-cs"/>
                </a:rPr>
                <a:t>研究兴趣：</a:t>
              </a:r>
            </a:p>
          </p:txBody>
        </p:sp>
        <p:sp>
          <p:nvSpPr>
            <p:cNvPr id="48" name="TextBox 48"/>
            <p:cNvSpPr txBox="1"/>
            <p:nvPr/>
          </p:nvSpPr>
          <p:spPr>
            <a:xfrm>
              <a:off x="1755267" y="6283642"/>
              <a:ext cx="777834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具身智能 · 人形机器人交互学习 · VLA / WAM · 世界模型与机器人系统工程</a:t>
              </a:r>
            </a:p>
          </p:txBody>
        </p:sp>
      </p:grpSp>
      <p:sp>
        <p:nvSpPr>
          <p:cNvPr id="50" name="TextBox 50"/>
          <p:cNvSpPr txBox="1"/>
          <p:nvPr/>
        </p:nvSpPr>
        <p:spPr>
          <a:xfrm>
            <a:off x="11508981" y="6502718"/>
            <a:ext cx="213627"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j-lt"/>
                <a:ea typeface="+mj-ea"/>
                <a:cs typeface="+mj-cs"/>
              </a:rPr>
              <a:t>00</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428625" y="323850"/>
            <a:ext cx="11344275" cy="66675"/>
          </a:xfrm>
          <a:custGeom>
            <a:avLst/>
            <a:gdLst/>
            <a:ahLst/>
            <a:cxnLst/>
            <a:rect l="l" t="t" r="r" b="b"/>
            <a:pathLst>
              <a:path w="11344275" h="66675">
                <a:moveTo>
                  <a:pt x="0" y="38100"/>
                </a:moveTo>
                <a:cubicBezTo>
                  <a:pt x="2828925" y="0"/>
                  <a:pt x="5486400" y="66675"/>
                  <a:pt x="8286750" y="19050"/>
                </a:cubicBezTo>
                <a:cubicBezTo>
                  <a:pt x="9553575" y="0"/>
                  <a:pt x="10582275" y="28575"/>
                  <a:pt x="11344275" y="9525"/>
                </a:cubicBezTo>
              </a:path>
            </a:pathLst>
          </a:custGeom>
          <a:noFill/>
          <a:ln w="19050" cap="rnd">
            <a:solidFill>
              <a:schemeClr val="accent6"/>
            </a:solidFill>
          </a:ln>
        </p:spPr>
      </p:sp>
      <p:grpSp>
        <p:nvGrpSpPr>
          <p:cNvPr id="7" name="Group 7"/>
          <p:cNvGrpSpPr/>
          <p:nvPr/>
        </p:nvGrpSpPr>
        <p:grpSpPr>
          <a:xfrm>
            <a:off x="590550" y="1024890"/>
            <a:ext cx="6553200" cy="1918335"/>
            <a:chOff x="590550" y="1024890"/>
            <a:chExt cx="6553200" cy="1918335"/>
          </a:xfrm>
        </p:grpSpPr>
        <p:sp>
          <p:nvSpPr>
            <p:cNvPr id="3" name="TextBox 3"/>
            <p:cNvSpPr txBox="1"/>
            <p:nvPr/>
          </p:nvSpPr>
          <p:spPr>
            <a:xfrm>
              <a:off x="600456" y="1024890"/>
              <a:ext cx="4709434" cy="352044"/>
            </a:xfrm>
            <a:prstGeom prst="rect">
              <a:avLst/>
            </a:prstGeom>
            <a:noFill/>
            <a:ln>
              <a:noFill/>
            </a:ln>
          </p:spPr>
          <p:txBody>
            <a:bodyPr wrap="none" lIns="0" tIns="0" rIns="0" bIns="0" anchor="t" anchorCtr="0">
              <a:spAutoFit/>
            </a:bodyPr>
            <a:lstStyle/>
            <a:p>
              <a:pPr algn="l"/>
              <a:r>
                <a:rPr lang="en-US" sz="1800" b="1" dirty="0">
                  <a:solidFill>
                    <a:schemeClr val="accent3"/>
                  </a:solidFill>
                  <a:latin typeface="+mj-lt"/>
                  <a:ea typeface="+mj-ea"/>
                  <a:cs typeface="+mj-cs"/>
                </a:rPr>
                <a:t>INTERNSHIP DEFENSE · WORLD MODELS</a:t>
              </a:r>
            </a:p>
          </p:txBody>
        </p:sp>
        <p:sp>
          <p:nvSpPr>
            <p:cNvPr id="4" name="TextBox 4"/>
            <p:cNvSpPr txBox="1"/>
            <p:nvPr/>
          </p:nvSpPr>
          <p:spPr>
            <a:xfrm>
              <a:off x="590550" y="1527810"/>
              <a:ext cx="3600145" cy="819150"/>
            </a:xfrm>
            <a:prstGeom prst="rect">
              <a:avLst/>
            </a:prstGeom>
            <a:noFill/>
            <a:ln>
              <a:noFill/>
            </a:ln>
          </p:spPr>
          <p:txBody>
            <a:bodyPr wrap="none" lIns="0" tIns="0" rIns="0" bIns="0" anchor="t" anchorCtr="0">
              <a:spAutoFit/>
            </a:bodyPr>
            <a:lstStyle/>
            <a:p>
              <a:pPr algn="l"/>
              <a:r>
                <a:rPr lang="zh-CN" sz="4200" b="1" dirty="0">
                  <a:solidFill>
                    <a:schemeClr val="accent1"/>
                  </a:solidFill>
                  <a:latin typeface="+mj-lt"/>
                  <a:ea typeface="+mj-ea"/>
                  <a:cs typeface="+mj-cs"/>
                </a:rPr>
                <a:t>从复现到研究</a:t>
              </a:r>
            </a:p>
          </p:txBody>
        </p:sp>
        <p:sp>
          <p:nvSpPr>
            <p:cNvPr id="5" name="TextBox 5"/>
            <p:cNvSpPr txBox="1"/>
            <p:nvPr/>
          </p:nvSpPr>
          <p:spPr>
            <a:xfrm>
              <a:off x="592836" y="2272665"/>
              <a:ext cx="5164569" cy="645414"/>
            </a:xfrm>
            <a:prstGeom prst="rect">
              <a:avLst/>
            </a:prstGeom>
            <a:noFill/>
            <a:ln>
              <a:noFill/>
            </a:ln>
          </p:spPr>
          <p:txBody>
            <a:bodyPr wrap="none" lIns="0" tIns="0" rIns="0" bIns="0" anchor="t" anchorCtr="0">
              <a:spAutoFit/>
            </a:bodyPr>
            <a:lstStyle/>
            <a:p>
              <a:pPr algn="l"/>
              <a:r>
                <a:rPr lang="zh-CN" sz="3300" b="1" dirty="0">
                  <a:solidFill>
                    <a:schemeClr val="accent1"/>
                  </a:solidFill>
                  <a:latin typeface="+mj-lt"/>
                  <a:ea typeface="+mj-ea"/>
                  <a:cs typeface="+mj-cs"/>
                </a:rPr>
                <a:t>预测式世界模型实习答辩</a:t>
              </a:r>
            </a:p>
          </p:txBody>
        </p:sp>
        <p:sp>
          <p:nvSpPr>
            <p:cNvPr id="6" name="Freeform 6"/>
            <p:cNvSpPr/>
            <p:nvPr/>
          </p:nvSpPr>
          <p:spPr>
            <a:xfrm>
              <a:off x="628650" y="2781300"/>
              <a:ext cx="6515100" cy="161925"/>
            </a:xfrm>
            <a:custGeom>
              <a:avLst/>
              <a:gdLst/>
              <a:ahLst/>
              <a:cxnLst/>
              <a:rect l="l" t="t" r="r" b="b"/>
              <a:pathLst>
                <a:path w="6515100" h="161925">
                  <a:moveTo>
                    <a:pt x="0" y="85725"/>
                  </a:moveTo>
                  <a:cubicBezTo>
                    <a:pt x="1619250" y="0"/>
                    <a:pt x="3333750" y="161925"/>
                    <a:pt x="5133975" y="57150"/>
                  </a:cubicBezTo>
                  <a:cubicBezTo>
                    <a:pt x="5581650" y="38100"/>
                    <a:pt x="6048375" y="47625"/>
                    <a:pt x="6515100" y="85725"/>
                  </a:cubicBezTo>
                </a:path>
              </a:pathLst>
            </a:custGeom>
            <a:noFill/>
            <a:ln w="66675" cap="rnd">
              <a:solidFill>
                <a:schemeClr val="accent2">
                  <a:alpha val="82000"/>
                </a:schemeClr>
              </a:solidFill>
            </a:ln>
          </p:spPr>
        </p:sp>
      </p:grpSp>
      <p:grpSp>
        <p:nvGrpSpPr>
          <p:cNvPr id="12" name="Group 12"/>
          <p:cNvGrpSpPr/>
          <p:nvPr/>
        </p:nvGrpSpPr>
        <p:grpSpPr>
          <a:xfrm>
            <a:off x="7934325" y="771525"/>
            <a:ext cx="3641217" cy="2076450"/>
            <a:chOff x="7934325" y="771525"/>
            <a:chExt cx="3641217" cy="2076450"/>
          </a:xfrm>
        </p:grpSpPr>
        <p:sp>
          <p:nvSpPr>
            <p:cNvPr id="8" name="Freeform 8"/>
            <p:cNvSpPr/>
            <p:nvPr/>
          </p:nvSpPr>
          <p:spPr>
            <a:xfrm>
              <a:off x="7934325" y="771525"/>
              <a:ext cx="3419475" cy="2076450"/>
            </a:xfrm>
            <a:custGeom>
              <a:avLst/>
              <a:gdLst/>
              <a:ahLst/>
              <a:cxnLst/>
              <a:rect l="l" t="t" r="r" b="b"/>
              <a:pathLst>
                <a:path w="3419475" h="2076450">
                  <a:moveTo>
                    <a:pt x="161925" y="133350"/>
                  </a:moveTo>
                  <a:cubicBezTo>
                    <a:pt x="981075" y="0"/>
                    <a:pt x="2438400" y="28575"/>
                    <a:pt x="3276600" y="190500"/>
                  </a:cubicBezTo>
                  <a:cubicBezTo>
                    <a:pt x="3419475" y="647700"/>
                    <a:pt x="3409950" y="1419225"/>
                    <a:pt x="3228975" y="1924050"/>
                  </a:cubicBezTo>
                  <a:cubicBezTo>
                    <a:pt x="2305050" y="2076450"/>
                    <a:pt x="962025" y="2000250"/>
                    <a:pt x="123825" y="1800225"/>
                  </a:cubicBezTo>
                  <a:cubicBezTo>
                    <a:pt x="0" y="1266825"/>
                    <a:pt x="38100" y="619125"/>
                    <a:pt x="161925" y="133350"/>
                  </a:cubicBezTo>
                  <a:close/>
                </a:path>
              </a:pathLst>
            </a:custGeom>
            <a:solidFill>
              <a:schemeClr val="lt2">
                <a:alpha val="72000"/>
              </a:schemeClr>
            </a:solidFill>
            <a:ln w="28575" cap="rnd">
              <a:solidFill>
                <a:schemeClr val="accent1"/>
              </a:solidFill>
              <a:round/>
            </a:ln>
          </p:spPr>
        </p:sp>
        <p:sp>
          <p:nvSpPr>
            <p:cNvPr id="9" name="TextBox 9"/>
            <p:cNvSpPr txBox="1"/>
            <p:nvPr/>
          </p:nvSpPr>
          <p:spPr>
            <a:xfrm>
              <a:off x="8353806" y="1186815"/>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j-lt"/>
                  <a:ea typeface="+mj-ea"/>
                  <a:cs typeface="+mj-cs"/>
                </a:rPr>
                <a:t>我的核心判断</a:t>
              </a:r>
            </a:p>
          </p:txBody>
        </p:sp>
        <p:sp>
          <p:nvSpPr>
            <p:cNvPr id="10" name="TextBox 10"/>
            <p:cNvSpPr txBox="1"/>
            <p:nvPr/>
          </p:nvSpPr>
          <p:spPr>
            <a:xfrm>
              <a:off x="8350758" y="1560195"/>
              <a:ext cx="3224784" cy="850392"/>
            </a:xfrm>
            <a:prstGeom prst="rect">
              <a:avLst/>
            </a:prstGeom>
            <a:noFill/>
            <a:ln>
              <a:noFill/>
            </a:ln>
          </p:spPr>
          <p:txBody>
            <a:bodyPr wrap="square" lIns="0" tIns="0" rIns="0" bIns="0" anchor="t" anchorCtr="0"/>
            <a:lstStyle/>
            <a:p>
              <a:pPr algn="l">
                <a:lnSpc>
                  <a:spcPts val="3000"/>
                </a:lnSpc>
              </a:pPr>
              <a:r>
                <a:rPr lang="zh-CN" sz="2400" b="1" dirty="0">
                  <a:solidFill>
                    <a:schemeClr val="dk1"/>
                  </a:solidFill>
                  <a:latin typeface="+mn-lt"/>
                  <a:ea typeface="+mn-ea"/>
                  <a:cs typeface="+mn-cs"/>
                </a:rPr>
                <a:t>把论文跑通，不等于把问题想清楚。</a:t>
              </a:r>
            </a:p>
          </p:txBody>
        </p:sp>
        <p:sp>
          <p:nvSpPr>
            <p:cNvPr id="11" name="Freeform 11"/>
            <p:cNvSpPr/>
            <p:nvPr/>
          </p:nvSpPr>
          <p:spPr>
            <a:xfrm>
              <a:off x="9801225" y="2266950"/>
              <a:ext cx="1228725" cy="123825"/>
            </a:xfrm>
            <a:custGeom>
              <a:avLst/>
              <a:gdLst/>
              <a:ahLst/>
              <a:cxnLst/>
              <a:rect l="l" t="t" r="r" b="b"/>
              <a:pathLst>
                <a:path w="1228725" h="123825">
                  <a:moveTo>
                    <a:pt x="0" y="66675"/>
                  </a:moveTo>
                  <a:cubicBezTo>
                    <a:pt x="476250" y="0"/>
                    <a:pt x="876300" y="38100"/>
                    <a:pt x="1228725" y="123825"/>
                  </a:cubicBezTo>
                </a:path>
              </a:pathLst>
            </a:custGeom>
            <a:noFill/>
            <a:ln w="47625" cap="rnd">
              <a:solidFill>
                <a:schemeClr val="accent2"/>
              </a:solidFill>
            </a:ln>
          </p:spPr>
        </p:sp>
      </p:grpSp>
      <p:grpSp>
        <p:nvGrpSpPr>
          <p:cNvPr id="27" name="Group 27"/>
          <p:cNvGrpSpPr/>
          <p:nvPr/>
        </p:nvGrpSpPr>
        <p:grpSpPr>
          <a:xfrm>
            <a:off x="820293" y="3895725"/>
            <a:ext cx="10333482" cy="1297114"/>
            <a:chOff x="820293" y="3895725"/>
            <a:chExt cx="10333482" cy="1297114"/>
          </a:xfrm>
        </p:grpSpPr>
        <p:sp>
          <p:nvSpPr>
            <p:cNvPr id="13" name="Freeform 13"/>
            <p:cNvSpPr/>
            <p:nvPr/>
          </p:nvSpPr>
          <p:spPr>
            <a:xfrm>
              <a:off x="895350" y="4105275"/>
              <a:ext cx="10229850" cy="409575"/>
            </a:xfrm>
            <a:custGeom>
              <a:avLst/>
              <a:gdLst/>
              <a:ahLst/>
              <a:cxnLst/>
              <a:rect l="l" t="t" r="r" b="b"/>
              <a:pathLst>
                <a:path w="10229850" h="409575">
                  <a:moveTo>
                    <a:pt x="0" y="295275"/>
                  </a:moveTo>
                  <a:cubicBezTo>
                    <a:pt x="1466850" y="133350"/>
                    <a:pt x="2524125" y="361950"/>
                    <a:pt x="3686175" y="190500"/>
                  </a:cubicBezTo>
                  <a:cubicBezTo>
                    <a:pt x="4933950" y="9525"/>
                    <a:pt x="6010275" y="409575"/>
                    <a:pt x="7172325" y="190500"/>
                  </a:cubicBezTo>
                  <a:cubicBezTo>
                    <a:pt x="8181975" y="0"/>
                    <a:pt x="9077325" y="142875"/>
                    <a:pt x="10229850" y="38100"/>
                  </a:cubicBezTo>
                </a:path>
              </a:pathLst>
            </a:custGeom>
            <a:noFill/>
            <a:ln w="38100" cap="rnd">
              <a:solidFill>
                <a:schemeClr val="accent1"/>
              </a:solidFill>
              <a:round/>
            </a:ln>
          </p:spPr>
        </p:sp>
        <p:sp>
          <p:nvSpPr>
            <p:cNvPr id="14" name="Freeform 14"/>
            <p:cNvSpPr/>
            <p:nvPr/>
          </p:nvSpPr>
          <p:spPr>
            <a:xfrm>
              <a:off x="10925175" y="4010025"/>
              <a:ext cx="228600" cy="304800"/>
            </a:xfrm>
            <a:custGeom>
              <a:avLst/>
              <a:gdLst/>
              <a:ahLst/>
              <a:cxnLst/>
              <a:rect l="l" t="t" r="r" b="b"/>
              <a:pathLst>
                <a:path w="228600" h="304800">
                  <a:moveTo>
                    <a:pt x="0" y="0"/>
                  </a:moveTo>
                  <a:lnTo>
                    <a:pt x="228600" y="133350"/>
                  </a:lnTo>
                  <a:lnTo>
                    <a:pt x="19050" y="304800"/>
                  </a:lnTo>
                </a:path>
              </a:pathLst>
            </a:custGeom>
            <a:noFill/>
            <a:ln w="38100" cap="rnd">
              <a:solidFill>
                <a:schemeClr val="accent1"/>
              </a:solidFill>
              <a:round/>
            </a:ln>
          </p:spPr>
        </p:sp>
        <p:sp>
          <p:nvSpPr>
            <p:cNvPr id="15" name="Ellipse 15"/>
            <p:cNvSpPr/>
            <p:nvPr/>
          </p:nvSpPr>
          <p:spPr>
            <a:xfrm>
              <a:off x="904875" y="4105275"/>
              <a:ext cx="552450" cy="552450"/>
            </a:xfrm>
            <a:prstGeom prst="ellipse">
              <a:avLst/>
            </a:prstGeom>
            <a:solidFill>
              <a:schemeClr val="lt1"/>
            </a:solidFill>
            <a:ln w="38100">
              <a:solidFill>
                <a:schemeClr val="accent3"/>
              </a:solidFill>
            </a:ln>
          </p:spPr>
        </p:sp>
        <p:sp>
          <p:nvSpPr>
            <p:cNvPr id="16" name="Ellipse 16"/>
            <p:cNvSpPr/>
            <p:nvPr/>
          </p:nvSpPr>
          <p:spPr>
            <a:xfrm>
              <a:off x="3057525" y="4095750"/>
              <a:ext cx="552450" cy="552450"/>
            </a:xfrm>
            <a:prstGeom prst="ellipse">
              <a:avLst/>
            </a:prstGeom>
            <a:solidFill>
              <a:schemeClr val="lt1"/>
            </a:solidFill>
            <a:ln w="38100">
              <a:solidFill>
                <a:schemeClr val="accent3"/>
              </a:solidFill>
            </a:ln>
          </p:spPr>
        </p:sp>
        <p:sp>
          <p:nvSpPr>
            <p:cNvPr id="17" name="Ellipse 17"/>
            <p:cNvSpPr/>
            <p:nvPr/>
          </p:nvSpPr>
          <p:spPr>
            <a:xfrm>
              <a:off x="5210175" y="4029075"/>
              <a:ext cx="552450" cy="552450"/>
            </a:xfrm>
            <a:prstGeom prst="ellipse">
              <a:avLst/>
            </a:prstGeom>
            <a:solidFill>
              <a:schemeClr val="lt1"/>
            </a:solidFill>
            <a:ln w="38100">
              <a:solidFill>
                <a:schemeClr val="accent2"/>
              </a:solidFill>
            </a:ln>
          </p:spPr>
        </p:sp>
        <p:sp>
          <p:nvSpPr>
            <p:cNvPr id="18" name="Ellipse 18"/>
            <p:cNvSpPr/>
            <p:nvPr/>
          </p:nvSpPr>
          <p:spPr>
            <a:xfrm>
              <a:off x="7362825" y="4048125"/>
              <a:ext cx="552450" cy="552450"/>
            </a:xfrm>
            <a:prstGeom prst="ellipse">
              <a:avLst/>
            </a:prstGeom>
            <a:solidFill>
              <a:schemeClr val="lt1"/>
            </a:solidFill>
            <a:ln w="38100">
              <a:solidFill>
                <a:schemeClr val="accent2"/>
              </a:solidFill>
            </a:ln>
          </p:spPr>
        </p:sp>
        <p:sp>
          <p:nvSpPr>
            <p:cNvPr id="19" name="Ellipse 19"/>
            <p:cNvSpPr/>
            <p:nvPr/>
          </p:nvSpPr>
          <p:spPr>
            <a:xfrm>
              <a:off x="9486900" y="3895725"/>
              <a:ext cx="647700" cy="647700"/>
            </a:xfrm>
            <a:prstGeom prst="ellipse">
              <a:avLst/>
            </a:prstGeom>
            <a:solidFill>
              <a:schemeClr val="lt1"/>
            </a:solidFill>
            <a:ln w="47625">
              <a:solidFill>
                <a:srgbClr val="2F7D5C"/>
              </a:solidFill>
            </a:ln>
          </p:spPr>
        </p:sp>
        <p:sp>
          <p:nvSpPr>
            <p:cNvPr id="20" name="TextBox 20"/>
            <p:cNvSpPr txBox="1"/>
            <p:nvPr/>
          </p:nvSpPr>
          <p:spPr>
            <a:xfrm>
              <a:off x="939489" y="4279582"/>
              <a:ext cx="483222" cy="322707"/>
            </a:xfrm>
            <a:prstGeom prst="rect">
              <a:avLst/>
            </a:prstGeom>
            <a:noFill/>
            <a:ln>
              <a:noFill/>
            </a:ln>
          </p:spPr>
          <p:txBody>
            <a:bodyPr wrap="none" lIns="0" tIns="0" rIns="0" bIns="0" anchor="t" anchorCtr="0">
              <a:spAutoFit/>
            </a:bodyPr>
            <a:lstStyle/>
            <a:p>
              <a:pPr algn="ctr"/>
              <a:r>
                <a:rPr lang="zh-CN" sz="1650" b="1" dirty="0">
                  <a:solidFill>
                    <a:schemeClr val="accent3"/>
                  </a:solidFill>
                  <a:latin typeface="+mj-lt"/>
                  <a:ea typeface="+mj-ea"/>
                  <a:cs typeface="+mj-cs"/>
                </a:rPr>
                <a:t>论文</a:t>
              </a:r>
            </a:p>
          </p:txBody>
        </p:sp>
        <p:sp>
          <p:nvSpPr>
            <p:cNvPr id="21" name="TextBox 21"/>
            <p:cNvSpPr txBox="1"/>
            <p:nvPr/>
          </p:nvSpPr>
          <p:spPr>
            <a:xfrm>
              <a:off x="3092139" y="4270058"/>
              <a:ext cx="483222" cy="322707"/>
            </a:xfrm>
            <a:prstGeom prst="rect">
              <a:avLst/>
            </a:prstGeom>
            <a:noFill/>
            <a:ln>
              <a:noFill/>
            </a:ln>
          </p:spPr>
          <p:txBody>
            <a:bodyPr wrap="none" lIns="0" tIns="0" rIns="0" bIns="0" anchor="t" anchorCtr="0">
              <a:spAutoFit/>
            </a:bodyPr>
            <a:lstStyle/>
            <a:p>
              <a:pPr algn="ctr"/>
              <a:r>
                <a:rPr lang="zh-CN" sz="1650" b="1" dirty="0">
                  <a:solidFill>
                    <a:schemeClr val="accent3"/>
                  </a:solidFill>
                  <a:latin typeface="+mj-lt"/>
                  <a:ea typeface="+mj-ea"/>
                  <a:cs typeface="+mj-cs"/>
                </a:rPr>
                <a:t>代码</a:t>
              </a:r>
            </a:p>
          </p:txBody>
        </p:sp>
        <p:sp>
          <p:nvSpPr>
            <p:cNvPr id="22" name="TextBox 22"/>
            <p:cNvSpPr txBox="1"/>
            <p:nvPr/>
          </p:nvSpPr>
          <p:spPr>
            <a:xfrm>
              <a:off x="5244789" y="4203382"/>
              <a:ext cx="483222"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j-lt"/>
                  <a:ea typeface="+mj-ea"/>
                  <a:cs typeface="+mj-cs"/>
                </a:rPr>
                <a:t>指标</a:t>
              </a:r>
            </a:p>
          </p:txBody>
        </p:sp>
        <p:sp>
          <p:nvSpPr>
            <p:cNvPr id="23" name="TextBox 23"/>
            <p:cNvSpPr txBox="1"/>
            <p:nvPr/>
          </p:nvSpPr>
          <p:spPr>
            <a:xfrm>
              <a:off x="7397439" y="4222432"/>
              <a:ext cx="483222"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j-lt"/>
                  <a:ea typeface="+mj-ea"/>
                  <a:cs typeface="+mj-cs"/>
                </a:rPr>
                <a:t>判断</a:t>
              </a:r>
            </a:p>
          </p:txBody>
        </p:sp>
        <p:sp>
          <p:nvSpPr>
            <p:cNvPr id="24" name="TextBox 24"/>
            <p:cNvSpPr txBox="1"/>
            <p:nvPr/>
          </p:nvSpPr>
          <p:spPr>
            <a:xfrm>
              <a:off x="9579414" y="4125754"/>
              <a:ext cx="462671" cy="308039"/>
            </a:xfrm>
            <a:prstGeom prst="rect">
              <a:avLst/>
            </a:prstGeom>
            <a:noFill/>
            <a:ln>
              <a:noFill/>
            </a:ln>
          </p:spPr>
          <p:txBody>
            <a:bodyPr wrap="none" lIns="0" tIns="0" rIns="0" bIns="0" anchor="t" anchorCtr="0">
              <a:spAutoFit/>
            </a:bodyPr>
            <a:lstStyle/>
            <a:p>
              <a:pPr algn="ctr"/>
              <a:r>
                <a:rPr lang="zh-CN" sz="1580" b="1" dirty="0">
                  <a:solidFill>
                    <a:srgbClr val="2F7D5C"/>
                  </a:solidFill>
                  <a:latin typeface="+mj-lt"/>
                  <a:ea typeface="+mj-ea"/>
                  <a:cs typeface="+mj-cs"/>
                </a:rPr>
                <a:t>闭环</a:t>
              </a:r>
            </a:p>
          </p:txBody>
        </p:sp>
        <p:sp>
          <p:nvSpPr>
            <p:cNvPr id="25" name="TextBox 25"/>
            <p:cNvSpPr txBox="1"/>
            <p:nvPr/>
          </p:nvSpPr>
          <p:spPr>
            <a:xfrm>
              <a:off x="820293" y="4870132"/>
              <a:ext cx="4019316"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j-lt"/>
                  <a:ea typeface="+mj-ea"/>
                  <a:cs typeface="+mj-cs"/>
                </a:rPr>
                <a:t>DINO-WM · LeWM · Δ-IRIS · TD-MPC2</a:t>
              </a:r>
            </a:p>
          </p:txBody>
        </p:sp>
        <p:sp>
          <p:nvSpPr>
            <p:cNvPr id="26" name="TextBox 26"/>
            <p:cNvSpPr txBox="1"/>
            <p:nvPr/>
          </p:nvSpPr>
          <p:spPr>
            <a:xfrm>
              <a:off x="7373493" y="4832032"/>
              <a:ext cx="3037081" cy="322707"/>
            </a:xfrm>
            <a:prstGeom prst="rect">
              <a:avLst/>
            </a:prstGeom>
            <a:noFill/>
            <a:ln>
              <a:noFill/>
            </a:ln>
          </p:spPr>
          <p:txBody>
            <a:bodyPr wrap="none" lIns="0" tIns="0" rIns="0" bIns="0" anchor="t" anchorCtr="0">
              <a:spAutoFit/>
            </a:bodyPr>
            <a:lstStyle/>
            <a:p>
              <a:pPr algn="l"/>
              <a:r>
                <a:rPr lang="zh-CN" sz="1650" b="1" dirty="0">
                  <a:solidFill>
                    <a:srgbClr val="2F7D5C"/>
                  </a:solidFill>
                  <a:latin typeface="+mj-lt"/>
                  <a:ea typeface="+mj-ea"/>
                  <a:cs typeface="+mj-cs"/>
                </a:rPr>
                <a:t>→ 真实机器人预测—规划—控制</a:t>
              </a:r>
            </a:p>
          </p:txBody>
        </p:sp>
      </p:grpSp>
      <p:grpSp>
        <p:nvGrpSpPr>
          <p:cNvPr id="31" name="Group 31"/>
          <p:cNvGrpSpPr/>
          <p:nvPr/>
        </p:nvGrpSpPr>
        <p:grpSpPr>
          <a:xfrm>
            <a:off x="597408" y="5655945"/>
            <a:ext cx="4073652" cy="695325"/>
            <a:chOff x="597408" y="5655945"/>
            <a:chExt cx="4073652" cy="695325"/>
          </a:xfrm>
        </p:grpSpPr>
        <p:sp>
          <p:nvSpPr>
            <p:cNvPr id="28" name="TextBox 28"/>
            <p:cNvSpPr txBox="1"/>
            <p:nvPr/>
          </p:nvSpPr>
          <p:spPr>
            <a:xfrm>
              <a:off x="597408" y="5655945"/>
              <a:ext cx="1042111"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j-lt"/>
                  <a:ea typeface="+mj-ea"/>
                  <a:cs typeface="+mj-cs"/>
                </a:rPr>
                <a:t>徐亦栋</a:t>
              </a:r>
            </a:p>
          </p:txBody>
        </p:sp>
        <p:sp>
          <p:nvSpPr>
            <p:cNvPr id="29" name="TextBox 29"/>
            <p:cNvSpPr txBox="1"/>
            <p:nvPr/>
          </p:nvSpPr>
          <p:spPr>
            <a:xfrm>
              <a:off x="1667256" y="5720715"/>
              <a:ext cx="2104949"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同济大学 · 自动化</a:t>
              </a:r>
            </a:p>
          </p:txBody>
        </p:sp>
        <p:sp>
          <p:nvSpPr>
            <p:cNvPr id="30" name="TextBox 30"/>
            <p:cNvSpPr txBox="1"/>
            <p:nvPr/>
          </p:nvSpPr>
          <p:spPr>
            <a:xfrm>
              <a:off x="601980" y="6057900"/>
              <a:ext cx="406908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实习成果｜复现证据｜个人理解｜未来规划</a:t>
              </a:r>
            </a:p>
          </p:txBody>
        </p:sp>
      </p:grpSp>
      <p:sp>
        <p:nvSpPr>
          <p:cNvPr id="32" name="TextBox 32"/>
          <p:cNvSpPr txBox="1"/>
          <p:nvPr/>
        </p:nvSpPr>
        <p:spPr>
          <a:xfrm>
            <a:off x="11356581" y="6274118"/>
            <a:ext cx="213627"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j-lt"/>
                <a:ea typeface="+mj-ea"/>
                <a:cs typeface="+mj-cs"/>
              </a:rPr>
              <a:t>01</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2722" y="435292"/>
            <a:ext cx="9294514" cy="557403"/>
            <a:chOff x="442722" y="435292"/>
            <a:chExt cx="9294514" cy="557403"/>
          </a:xfrm>
        </p:grpSpPr>
        <p:sp>
          <p:nvSpPr>
            <p:cNvPr id="2" name="TextBox 2"/>
            <p:cNvSpPr txBox="1"/>
            <p:nvPr/>
          </p:nvSpPr>
          <p:spPr>
            <a:xfrm>
              <a:off x="442722" y="435292"/>
              <a:ext cx="9294514"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j-lt"/>
                  <a:ea typeface="+mj-ea"/>
                  <a:cs typeface="+mj-cs"/>
                </a:rPr>
                <a:t>实习的核心产出，是一套可验证的世界模型复现方法</a:t>
              </a:r>
            </a:p>
          </p:txBody>
        </p:sp>
        <p:sp>
          <p:nvSpPr>
            <p:cNvPr id="3" name="Freeform 3"/>
            <p:cNvSpPr/>
            <p:nvPr/>
          </p:nvSpPr>
          <p:spPr>
            <a:xfrm>
              <a:off x="466725" y="790575"/>
              <a:ext cx="9210675" cy="152400"/>
            </a:xfrm>
            <a:custGeom>
              <a:avLst/>
              <a:gdLst/>
              <a:ahLst/>
              <a:cxnLst/>
              <a:rect l="l" t="t" r="r" b="b"/>
              <a:pathLst>
                <a:path w="9210675" h="152400">
                  <a:moveTo>
                    <a:pt x="0" y="85725"/>
                  </a:moveTo>
                  <a:cubicBezTo>
                    <a:pt x="2886075" y="0"/>
                    <a:pt x="6134100" y="152400"/>
                    <a:pt x="9210675" y="66675"/>
                  </a:cubicBezTo>
                </a:path>
              </a:pathLst>
            </a:custGeom>
            <a:noFill/>
            <a:ln w="47625" cap="rnd">
              <a:solidFill>
                <a:schemeClr val="accent2"/>
              </a:solidFill>
            </a:ln>
          </p:spPr>
        </p:sp>
      </p:grpSp>
      <p:grpSp>
        <p:nvGrpSpPr>
          <p:cNvPr id="13" name="Group 13"/>
          <p:cNvGrpSpPr/>
          <p:nvPr/>
        </p:nvGrpSpPr>
        <p:grpSpPr>
          <a:xfrm>
            <a:off x="507111" y="1615440"/>
            <a:ext cx="3298736" cy="3700272"/>
            <a:chOff x="507111" y="1615440"/>
            <a:chExt cx="3298736" cy="3700272"/>
          </a:xfrm>
        </p:grpSpPr>
        <p:sp>
          <p:nvSpPr>
            <p:cNvPr id="5" name="TextBox 5"/>
            <p:cNvSpPr txBox="1"/>
            <p:nvPr/>
          </p:nvSpPr>
          <p:spPr>
            <a:xfrm>
              <a:off x="514731" y="1615440"/>
              <a:ext cx="1036015" cy="352044"/>
            </a:xfrm>
            <a:prstGeom prst="rect">
              <a:avLst/>
            </a:prstGeom>
            <a:noFill/>
            <a:ln>
              <a:noFill/>
            </a:ln>
          </p:spPr>
          <p:txBody>
            <a:bodyPr wrap="none" lIns="0" tIns="0" rIns="0" bIns="0" anchor="t" anchorCtr="0">
              <a:spAutoFit/>
            </a:bodyPr>
            <a:lstStyle/>
            <a:p>
              <a:pPr algn="l"/>
              <a:r>
                <a:rPr lang="zh-CN" sz="1800" b="1" dirty="0">
                  <a:solidFill>
                    <a:schemeClr val="accent3"/>
                  </a:solidFill>
                  <a:latin typeface="+mj-lt"/>
                  <a:ea typeface="+mj-ea"/>
                  <a:cs typeface="+mj-cs"/>
                </a:rPr>
                <a:t>结论先行</a:t>
              </a:r>
            </a:p>
          </p:txBody>
        </p:sp>
        <p:sp>
          <p:nvSpPr>
            <p:cNvPr id="6" name="TextBox 6"/>
            <p:cNvSpPr txBox="1"/>
            <p:nvPr/>
          </p:nvSpPr>
          <p:spPr>
            <a:xfrm>
              <a:off x="507111" y="1977390"/>
              <a:ext cx="3298736" cy="645414"/>
            </a:xfrm>
            <a:prstGeom prst="rect">
              <a:avLst/>
            </a:prstGeom>
            <a:noFill/>
            <a:ln>
              <a:noFill/>
            </a:ln>
          </p:spPr>
          <p:txBody>
            <a:bodyPr wrap="none" lIns="0" tIns="0" rIns="0" bIns="0" anchor="t" anchorCtr="0">
              <a:spAutoFit/>
            </a:bodyPr>
            <a:lstStyle/>
            <a:p>
              <a:pPr algn="l"/>
              <a:r>
                <a:rPr lang="zh-CN" sz="3300" b="1" dirty="0">
                  <a:solidFill>
                    <a:schemeClr val="accent1"/>
                  </a:solidFill>
                  <a:latin typeface="+mj-lt"/>
                  <a:ea typeface="+mj-ea"/>
                  <a:cs typeface="+mj-cs"/>
                </a:rPr>
                <a:t>不只是跑代码，</a:t>
              </a:r>
            </a:p>
          </p:txBody>
        </p:sp>
        <p:sp>
          <p:nvSpPr>
            <p:cNvPr id="7" name="TextBox 7"/>
            <p:cNvSpPr txBox="1"/>
            <p:nvPr/>
          </p:nvSpPr>
          <p:spPr>
            <a:xfrm>
              <a:off x="507111" y="2520315"/>
              <a:ext cx="3298736" cy="645414"/>
            </a:xfrm>
            <a:prstGeom prst="rect">
              <a:avLst/>
            </a:prstGeom>
            <a:noFill/>
            <a:ln>
              <a:noFill/>
            </a:ln>
          </p:spPr>
          <p:txBody>
            <a:bodyPr wrap="none" lIns="0" tIns="0" rIns="0" bIns="0" anchor="t" anchorCtr="0">
              <a:spAutoFit/>
            </a:bodyPr>
            <a:lstStyle/>
            <a:p>
              <a:pPr algn="l"/>
              <a:r>
                <a:rPr lang="zh-CN" sz="3300" b="1" dirty="0">
                  <a:solidFill>
                    <a:schemeClr val="accent1"/>
                  </a:solidFill>
                  <a:latin typeface="+mj-lt"/>
                  <a:ea typeface="+mj-ea"/>
                  <a:cs typeface="+mj-cs"/>
                </a:rPr>
                <a:t>而是把结论变成</a:t>
              </a:r>
            </a:p>
          </p:txBody>
        </p:sp>
        <p:sp>
          <p:nvSpPr>
            <p:cNvPr id="8" name="TextBox 8"/>
            <p:cNvSpPr txBox="1"/>
            <p:nvPr/>
          </p:nvSpPr>
          <p:spPr>
            <a:xfrm>
              <a:off x="507111" y="3063240"/>
              <a:ext cx="3298736" cy="645414"/>
            </a:xfrm>
            <a:prstGeom prst="rect">
              <a:avLst/>
            </a:prstGeom>
            <a:noFill/>
            <a:ln>
              <a:noFill/>
            </a:ln>
          </p:spPr>
          <p:txBody>
            <a:bodyPr wrap="none" lIns="0" tIns="0" rIns="0" bIns="0" anchor="t" anchorCtr="0">
              <a:spAutoFit/>
            </a:bodyPr>
            <a:lstStyle/>
            <a:p>
              <a:pPr algn="l"/>
              <a:r>
                <a:rPr lang="zh-CN" sz="3300" b="1" dirty="0">
                  <a:solidFill>
                    <a:schemeClr val="accent2"/>
                  </a:solidFill>
                  <a:latin typeface="+mj-lt"/>
                  <a:ea typeface="+mj-ea"/>
                  <a:cs typeface="+mj-cs"/>
                </a:rPr>
                <a:t>可复核的证据。</a:t>
              </a:r>
            </a:p>
          </p:txBody>
        </p:sp>
        <p:sp>
          <p:nvSpPr>
            <p:cNvPr id="9" name="Freeform 9"/>
            <p:cNvSpPr/>
            <p:nvPr/>
          </p:nvSpPr>
          <p:spPr>
            <a:xfrm>
              <a:off x="628650" y="3562350"/>
              <a:ext cx="2971800" cy="152400"/>
            </a:xfrm>
            <a:custGeom>
              <a:avLst/>
              <a:gdLst/>
              <a:ahLst/>
              <a:cxnLst/>
              <a:rect l="l" t="t" r="r" b="b"/>
              <a:pathLst>
                <a:path w="2971800" h="152400">
                  <a:moveTo>
                    <a:pt x="0" y="152400"/>
                  </a:moveTo>
                  <a:cubicBezTo>
                    <a:pt x="1047750" y="0"/>
                    <a:pt x="2133600" y="152400"/>
                    <a:pt x="2971800" y="66675"/>
                  </a:cubicBezTo>
                </a:path>
              </a:pathLst>
            </a:custGeom>
            <a:noFill/>
            <a:ln w="76200" cap="rnd">
              <a:solidFill>
                <a:schemeClr val="accent2">
                  <a:alpha val="72000"/>
                </a:schemeClr>
              </a:solidFill>
            </a:ln>
          </p:spPr>
        </p:sp>
        <p:sp>
          <p:nvSpPr>
            <p:cNvPr id="10" name="TextBox 10"/>
            <p:cNvSpPr txBox="1"/>
            <p:nvPr/>
          </p:nvSpPr>
          <p:spPr>
            <a:xfrm>
              <a:off x="511683" y="3970020"/>
              <a:ext cx="3147974"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论文理解 → 环境搭建</a:t>
              </a:r>
            </a:p>
          </p:txBody>
        </p:sp>
        <p:sp>
          <p:nvSpPr>
            <p:cNvPr id="11" name="TextBox 11"/>
            <p:cNvSpPr txBox="1"/>
            <p:nvPr/>
          </p:nvSpPr>
          <p:spPr>
            <a:xfrm>
              <a:off x="511683" y="4408170"/>
              <a:ext cx="3147974"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训练评测 → 问题定位</a:t>
              </a:r>
            </a:p>
          </p:txBody>
        </p:sp>
        <p:sp>
          <p:nvSpPr>
            <p:cNvPr id="12" name="TextBox 12"/>
            <p:cNvSpPr txBox="1"/>
            <p:nvPr/>
          </p:nvSpPr>
          <p:spPr>
            <a:xfrm>
              <a:off x="511683" y="4846320"/>
              <a:ext cx="3147974"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证据交付 → 个人判断</a:t>
              </a:r>
            </a:p>
          </p:txBody>
        </p:sp>
      </p:grpSp>
      <p:grpSp>
        <p:nvGrpSpPr>
          <p:cNvPr id="29" name="Group 29"/>
          <p:cNvGrpSpPr/>
          <p:nvPr/>
        </p:nvGrpSpPr>
        <p:grpSpPr>
          <a:xfrm>
            <a:off x="4581525" y="1247775"/>
            <a:ext cx="7154037" cy="3829050"/>
            <a:chOff x="4581525" y="1247775"/>
            <a:chExt cx="7154037" cy="3829050"/>
          </a:xfrm>
        </p:grpSpPr>
        <p:sp>
          <p:nvSpPr>
            <p:cNvPr id="14" name="Freeform 14"/>
            <p:cNvSpPr/>
            <p:nvPr/>
          </p:nvSpPr>
          <p:spPr>
            <a:xfrm>
              <a:off x="4591050" y="1247775"/>
              <a:ext cx="4171950" cy="1562100"/>
            </a:xfrm>
            <a:custGeom>
              <a:avLst/>
              <a:gdLst/>
              <a:ahLst/>
              <a:cxnLst/>
              <a:rect l="l" t="t" r="r" b="b"/>
              <a:pathLst>
                <a:path w="4171950" h="1562100">
                  <a:moveTo>
                    <a:pt x="114300" y="133350"/>
                  </a:moveTo>
                  <a:cubicBezTo>
                    <a:pt x="1552575" y="0"/>
                    <a:pt x="3019425" y="76200"/>
                    <a:pt x="4086225" y="190500"/>
                  </a:cubicBezTo>
                  <a:cubicBezTo>
                    <a:pt x="4171950" y="733425"/>
                    <a:pt x="4133850" y="1123950"/>
                    <a:pt x="3981450" y="1476375"/>
                  </a:cubicBezTo>
                  <a:cubicBezTo>
                    <a:pt x="2600325" y="1562100"/>
                    <a:pt x="1304925" y="1524000"/>
                    <a:pt x="95250" y="1409700"/>
                  </a:cubicBezTo>
                  <a:cubicBezTo>
                    <a:pt x="0" y="971550"/>
                    <a:pt x="0" y="542925"/>
                    <a:pt x="114300" y="133350"/>
                  </a:cubicBezTo>
                  <a:close/>
                </a:path>
              </a:pathLst>
            </a:custGeom>
            <a:solidFill>
              <a:schemeClr val="lt2">
                <a:alpha val="58000"/>
              </a:schemeClr>
            </a:solidFill>
            <a:ln w="28575" cap="rnd">
              <a:solidFill>
                <a:schemeClr val="accent1"/>
              </a:solidFill>
              <a:round/>
            </a:ln>
          </p:spPr>
        </p:sp>
        <p:sp>
          <p:nvSpPr>
            <p:cNvPr id="15" name="TextBox 15"/>
            <p:cNvSpPr txBox="1"/>
            <p:nvPr/>
          </p:nvSpPr>
          <p:spPr>
            <a:xfrm>
              <a:off x="4988433" y="1550670"/>
              <a:ext cx="1669710" cy="469392"/>
            </a:xfrm>
            <a:prstGeom prst="rect">
              <a:avLst/>
            </a:prstGeom>
            <a:noFill/>
            <a:ln>
              <a:noFill/>
            </a:ln>
          </p:spPr>
          <p:txBody>
            <a:bodyPr wrap="none" lIns="0" tIns="0" rIns="0" bIns="0" anchor="t" anchorCtr="0">
              <a:spAutoFit/>
            </a:bodyPr>
            <a:lstStyle/>
            <a:p>
              <a:pPr algn="l"/>
              <a:r>
                <a:rPr lang="zh-CN" sz="2400" b="1" dirty="0">
                  <a:solidFill>
                    <a:schemeClr val="accent3"/>
                  </a:solidFill>
                  <a:latin typeface="+mj-lt"/>
                  <a:ea typeface="+mj-ea"/>
                  <a:cs typeface="+mj-cs"/>
                </a:rPr>
                <a:t>① 知识地图</a:t>
              </a:r>
            </a:p>
          </p:txBody>
        </p:sp>
        <p:sp>
          <p:nvSpPr>
            <p:cNvPr id="16" name="TextBox 16"/>
            <p:cNvSpPr txBox="1"/>
            <p:nvPr/>
          </p:nvSpPr>
          <p:spPr>
            <a:xfrm>
              <a:off x="4991481" y="2053590"/>
              <a:ext cx="334670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梳理四类预测对象与决策接口</a:t>
              </a:r>
            </a:p>
          </p:txBody>
        </p:sp>
        <p:sp>
          <p:nvSpPr>
            <p:cNvPr id="17" name="Freeform 17"/>
            <p:cNvSpPr/>
            <p:nvPr/>
          </p:nvSpPr>
          <p:spPr>
            <a:xfrm>
              <a:off x="8848725" y="1257300"/>
              <a:ext cx="2676525" cy="1543050"/>
            </a:xfrm>
            <a:custGeom>
              <a:avLst/>
              <a:gdLst/>
              <a:ahLst/>
              <a:cxnLst/>
              <a:rect l="l" t="t" r="r" b="b"/>
              <a:pathLst>
                <a:path w="2676525" h="1543050">
                  <a:moveTo>
                    <a:pt x="123825" y="104775"/>
                  </a:moveTo>
                  <a:cubicBezTo>
                    <a:pt x="1266825" y="0"/>
                    <a:pt x="2305050" y="133350"/>
                    <a:pt x="2676525" y="304800"/>
                  </a:cubicBezTo>
                  <a:cubicBezTo>
                    <a:pt x="2657475" y="809625"/>
                    <a:pt x="2590800" y="1143000"/>
                    <a:pt x="2447925" y="1466850"/>
                  </a:cubicBezTo>
                  <a:cubicBezTo>
                    <a:pt x="1581150" y="1543050"/>
                    <a:pt x="790575" y="1485900"/>
                    <a:pt x="114300" y="1371600"/>
                  </a:cubicBezTo>
                  <a:cubicBezTo>
                    <a:pt x="0" y="942975"/>
                    <a:pt x="19050" y="485775"/>
                    <a:pt x="123825" y="104775"/>
                  </a:cubicBezTo>
                  <a:close/>
                </a:path>
              </a:pathLst>
            </a:custGeom>
            <a:solidFill>
              <a:schemeClr val="lt1"/>
            </a:solidFill>
            <a:ln w="28575" cap="rnd">
              <a:solidFill>
                <a:schemeClr val="accent1"/>
              </a:solidFill>
              <a:round/>
            </a:ln>
          </p:spPr>
        </p:sp>
        <p:sp>
          <p:nvSpPr>
            <p:cNvPr id="18" name="TextBox 18"/>
            <p:cNvSpPr txBox="1"/>
            <p:nvPr/>
          </p:nvSpPr>
          <p:spPr>
            <a:xfrm>
              <a:off x="9227058" y="1550670"/>
              <a:ext cx="1669710" cy="469392"/>
            </a:xfrm>
            <a:prstGeom prst="rect">
              <a:avLst/>
            </a:prstGeom>
            <a:noFill/>
            <a:ln>
              <a:noFill/>
            </a:ln>
          </p:spPr>
          <p:txBody>
            <a:bodyPr wrap="none" lIns="0" tIns="0" rIns="0" bIns="0" anchor="t" anchorCtr="0">
              <a:spAutoFit/>
            </a:bodyPr>
            <a:lstStyle/>
            <a:p>
              <a:pPr algn="l"/>
              <a:r>
                <a:rPr lang="zh-CN" sz="2400" b="1" dirty="0">
                  <a:solidFill>
                    <a:schemeClr val="accent3"/>
                  </a:solidFill>
                  <a:latin typeface="+mj-lt"/>
                  <a:ea typeface="+mj-ea"/>
                  <a:cs typeface="+mj-cs"/>
                </a:rPr>
                <a:t>② 复现链路</a:t>
              </a:r>
            </a:p>
          </p:txBody>
        </p:sp>
        <p:sp>
          <p:nvSpPr>
            <p:cNvPr id="19" name="TextBox 19"/>
            <p:cNvSpPr txBox="1"/>
            <p:nvPr/>
          </p:nvSpPr>
          <p:spPr>
            <a:xfrm>
              <a:off x="9230106" y="2053590"/>
              <a:ext cx="2446294"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DINO-WM · LeWM</a:t>
              </a:r>
            </a:p>
          </p:txBody>
        </p:sp>
        <p:sp>
          <p:nvSpPr>
            <p:cNvPr id="20" name="TextBox 20"/>
            <p:cNvSpPr txBox="1"/>
            <p:nvPr/>
          </p:nvSpPr>
          <p:spPr>
            <a:xfrm>
              <a:off x="9230106" y="2358390"/>
              <a:ext cx="2505456"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Δ-IRIS · TD-MPC2</a:t>
              </a:r>
            </a:p>
          </p:txBody>
        </p:sp>
        <p:sp>
          <p:nvSpPr>
            <p:cNvPr id="21" name="Freeform 21"/>
            <p:cNvSpPr/>
            <p:nvPr/>
          </p:nvSpPr>
          <p:spPr>
            <a:xfrm>
              <a:off x="4581525" y="2971800"/>
              <a:ext cx="4162425" cy="2105025"/>
            </a:xfrm>
            <a:custGeom>
              <a:avLst/>
              <a:gdLst/>
              <a:ahLst/>
              <a:cxnLst/>
              <a:rect l="l" t="t" r="r" b="b"/>
              <a:pathLst>
                <a:path w="4162425" h="2105025">
                  <a:moveTo>
                    <a:pt x="114300" y="142875"/>
                  </a:moveTo>
                  <a:cubicBezTo>
                    <a:pt x="1495425" y="0"/>
                    <a:pt x="2867025" y="85725"/>
                    <a:pt x="4076700" y="238125"/>
                  </a:cubicBezTo>
                  <a:cubicBezTo>
                    <a:pt x="4162425" y="819150"/>
                    <a:pt x="4105275" y="1466850"/>
                    <a:pt x="3952875" y="2009775"/>
                  </a:cubicBezTo>
                  <a:cubicBezTo>
                    <a:pt x="2619375" y="2105025"/>
                    <a:pt x="1362075" y="2028825"/>
                    <a:pt x="123825" y="1885950"/>
                  </a:cubicBezTo>
                  <a:cubicBezTo>
                    <a:pt x="0" y="1304925"/>
                    <a:pt x="9525" y="666750"/>
                    <a:pt x="114300" y="142875"/>
                  </a:cubicBezTo>
                  <a:close/>
                </a:path>
              </a:pathLst>
            </a:custGeom>
            <a:solidFill>
              <a:schemeClr val="lt1"/>
            </a:solidFill>
            <a:ln w="28575" cap="rnd">
              <a:solidFill>
                <a:schemeClr val="accent1"/>
              </a:solidFill>
              <a:round/>
            </a:ln>
          </p:spPr>
        </p:sp>
        <p:sp>
          <p:nvSpPr>
            <p:cNvPr id="22" name="TextBox 22"/>
            <p:cNvSpPr txBox="1"/>
            <p:nvPr/>
          </p:nvSpPr>
          <p:spPr>
            <a:xfrm>
              <a:off x="4988433" y="3322320"/>
              <a:ext cx="1669710"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j-lt"/>
                  <a:ea typeface="+mj-ea"/>
                  <a:cs typeface="+mj-cs"/>
                </a:rPr>
                <a:t>③ 实验结果</a:t>
              </a:r>
            </a:p>
          </p:txBody>
        </p:sp>
        <p:sp>
          <p:nvSpPr>
            <p:cNvPr id="23" name="TextBox 23"/>
            <p:cNvSpPr txBox="1"/>
            <p:nvPr/>
          </p:nvSpPr>
          <p:spPr>
            <a:xfrm>
              <a:off x="4991481" y="3815715"/>
              <a:ext cx="291145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成功率 · 回报 · 训练进度</a:t>
              </a:r>
            </a:p>
          </p:txBody>
        </p:sp>
        <p:sp>
          <p:nvSpPr>
            <p:cNvPr id="24" name="TextBox 24"/>
            <p:cNvSpPr txBox="1"/>
            <p:nvPr/>
          </p:nvSpPr>
          <p:spPr>
            <a:xfrm>
              <a:off x="4991481" y="4139565"/>
              <a:ext cx="323606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MAE / PSNR · 评估边界</a:t>
              </a:r>
            </a:p>
          </p:txBody>
        </p:sp>
        <p:sp>
          <p:nvSpPr>
            <p:cNvPr id="25" name="Freeform 25"/>
            <p:cNvSpPr/>
            <p:nvPr/>
          </p:nvSpPr>
          <p:spPr>
            <a:xfrm>
              <a:off x="8829675" y="2990850"/>
              <a:ext cx="2705100" cy="2076450"/>
            </a:xfrm>
            <a:custGeom>
              <a:avLst/>
              <a:gdLst/>
              <a:ahLst/>
              <a:cxnLst/>
              <a:rect l="l" t="t" r="r" b="b"/>
              <a:pathLst>
                <a:path w="2705100" h="2076450">
                  <a:moveTo>
                    <a:pt x="123825" y="142875"/>
                  </a:moveTo>
                  <a:cubicBezTo>
                    <a:pt x="1219200" y="0"/>
                    <a:pt x="2324100" y="152400"/>
                    <a:pt x="2686050" y="323850"/>
                  </a:cubicBezTo>
                  <a:cubicBezTo>
                    <a:pt x="2705100" y="866775"/>
                    <a:pt x="2628900" y="1476375"/>
                    <a:pt x="2447925" y="1971675"/>
                  </a:cubicBezTo>
                  <a:cubicBezTo>
                    <a:pt x="1590675" y="2076450"/>
                    <a:pt x="809625" y="1981200"/>
                    <a:pt x="123825" y="1838325"/>
                  </a:cubicBezTo>
                  <a:cubicBezTo>
                    <a:pt x="0" y="1295400"/>
                    <a:pt x="19050" y="666750"/>
                    <a:pt x="123825" y="142875"/>
                  </a:cubicBezTo>
                  <a:close/>
                </a:path>
              </a:pathLst>
            </a:custGeom>
            <a:solidFill>
              <a:schemeClr val="lt2">
                <a:alpha val="58000"/>
              </a:schemeClr>
            </a:solidFill>
            <a:ln w="28575" cap="rnd">
              <a:solidFill>
                <a:schemeClr val="accent1"/>
              </a:solidFill>
              <a:round/>
            </a:ln>
          </p:spPr>
        </p:sp>
        <p:sp>
          <p:nvSpPr>
            <p:cNvPr id="26" name="TextBox 26"/>
            <p:cNvSpPr txBox="1"/>
            <p:nvPr/>
          </p:nvSpPr>
          <p:spPr>
            <a:xfrm>
              <a:off x="9227058" y="3322320"/>
              <a:ext cx="1669710" cy="469392"/>
            </a:xfrm>
            <a:prstGeom prst="rect">
              <a:avLst/>
            </a:prstGeom>
            <a:noFill/>
            <a:ln>
              <a:noFill/>
            </a:ln>
          </p:spPr>
          <p:txBody>
            <a:bodyPr wrap="none" lIns="0" tIns="0" rIns="0" bIns="0" anchor="t" anchorCtr="0">
              <a:spAutoFit/>
            </a:bodyPr>
            <a:lstStyle/>
            <a:p>
              <a:pPr algn="l"/>
              <a:r>
                <a:rPr lang="zh-CN" sz="2400" b="1" dirty="0">
                  <a:solidFill>
                    <a:srgbClr val="2F7D5C"/>
                  </a:solidFill>
                  <a:latin typeface="+mj-lt"/>
                  <a:ea typeface="+mj-ea"/>
                  <a:cs typeface="+mj-cs"/>
                </a:rPr>
                <a:t>④ 证据交付</a:t>
              </a:r>
            </a:p>
          </p:txBody>
        </p:sp>
        <p:sp>
          <p:nvSpPr>
            <p:cNvPr id="27" name="TextBox 27"/>
            <p:cNvSpPr txBox="1"/>
            <p:nvPr/>
          </p:nvSpPr>
          <p:spPr>
            <a:xfrm>
              <a:off x="9230106" y="3815715"/>
              <a:ext cx="214335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提交 · 环境 · 脚本</a:t>
              </a:r>
            </a:p>
          </p:txBody>
        </p:sp>
        <p:sp>
          <p:nvSpPr>
            <p:cNvPr id="28" name="TextBox 28"/>
            <p:cNvSpPr txBox="1"/>
            <p:nvPr/>
          </p:nvSpPr>
          <p:spPr>
            <a:xfrm>
              <a:off x="9230106" y="4139565"/>
              <a:ext cx="214335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日志 · 哈希 · 报告</a:t>
              </a:r>
            </a:p>
          </p:txBody>
        </p:sp>
      </p:grpSp>
      <p:grpSp>
        <p:nvGrpSpPr>
          <p:cNvPr id="33" name="Group 33"/>
          <p:cNvGrpSpPr/>
          <p:nvPr/>
        </p:nvGrpSpPr>
        <p:grpSpPr>
          <a:xfrm>
            <a:off x="542925" y="5724525"/>
            <a:ext cx="11253521" cy="624459"/>
            <a:chOff x="542925" y="5724525"/>
            <a:chExt cx="11253521" cy="624459"/>
          </a:xfrm>
        </p:grpSpPr>
        <p:sp>
          <p:nvSpPr>
            <p:cNvPr id="30" name="Freeform 30"/>
            <p:cNvSpPr/>
            <p:nvPr/>
          </p:nvSpPr>
          <p:spPr>
            <a:xfrm>
              <a:off x="542925" y="5724525"/>
              <a:ext cx="11096625" cy="133350"/>
            </a:xfrm>
            <a:custGeom>
              <a:avLst/>
              <a:gdLst/>
              <a:ahLst/>
              <a:cxnLst/>
              <a:rect l="l" t="t" r="r" b="b"/>
              <a:pathLst>
                <a:path w="11096625" h="133350">
                  <a:moveTo>
                    <a:pt x="0" y="85725"/>
                  </a:moveTo>
                  <a:cubicBezTo>
                    <a:pt x="2914650" y="0"/>
                    <a:pt x="6724650" y="133350"/>
                    <a:pt x="11096625" y="57150"/>
                  </a:cubicBezTo>
                </a:path>
              </a:pathLst>
            </a:custGeom>
            <a:noFill/>
            <a:ln w="28575" cap="rnd">
              <a:solidFill>
                <a:schemeClr val="accent6"/>
              </a:solidFill>
            </a:ln>
          </p:spPr>
        </p:sp>
        <p:sp>
          <p:nvSpPr>
            <p:cNvPr id="31" name="TextBox 31"/>
            <p:cNvSpPr txBox="1"/>
            <p:nvPr/>
          </p:nvSpPr>
          <p:spPr>
            <a:xfrm>
              <a:off x="543306" y="5996940"/>
              <a:ext cx="7438095"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j-lt"/>
                  <a:ea typeface="+mj-ea"/>
                  <a:cs typeface="+mj-cs"/>
                </a:rPr>
                <a:t>徐亦栋｜同济大学自动化｜GPA 4.83 / 5.00｜专业排名 1 / 69</a:t>
              </a:r>
            </a:p>
          </p:txBody>
        </p:sp>
        <p:sp>
          <p:nvSpPr>
            <p:cNvPr id="32" name="TextBox 32"/>
            <p:cNvSpPr txBox="1"/>
            <p:nvPr/>
          </p:nvSpPr>
          <p:spPr>
            <a:xfrm>
              <a:off x="6851142" y="6045518"/>
              <a:ext cx="494530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研究兴趣：具身智能 · VLA / WAM · 机器人系统</a:t>
              </a:r>
            </a:p>
          </p:txBody>
        </p:sp>
      </p:grpSp>
      <p:sp>
        <p:nvSpPr>
          <p:cNvPr id="34" name="TextBox 34"/>
          <p:cNvSpPr txBox="1"/>
          <p:nvPr/>
        </p:nvSpPr>
        <p:spPr>
          <a:xfrm>
            <a:off x="11508981" y="6407468"/>
            <a:ext cx="213627"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j-lt"/>
                <a:ea typeface="+mj-ea"/>
                <a:cs typeface="+mj-cs"/>
              </a:rPr>
              <a:t>02</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2722" y="416242"/>
            <a:ext cx="10149078" cy="557403"/>
            <a:chOff x="442722" y="416242"/>
            <a:chExt cx="10149078" cy="557403"/>
          </a:xfrm>
        </p:grpSpPr>
        <p:sp>
          <p:nvSpPr>
            <p:cNvPr id="2" name="TextBox 2"/>
            <p:cNvSpPr txBox="1"/>
            <p:nvPr/>
          </p:nvSpPr>
          <p:spPr>
            <a:xfrm>
              <a:off x="442722" y="416242"/>
              <a:ext cx="9334799"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j-lt"/>
                  <a:ea typeface="+mj-ea"/>
                  <a:cs typeface="+mj-cs"/>
                </a:rPr>
                <a:t>四条路线的差异，归根结底是“预测什么、如何决策”</a:t>
              </a:r>
            </a:p>
          </p:txBody>
        </p:sp>
        <p:sp>
          <p:nvSpPr>
            <p:cNvPr id="3" name="Freeform 3"/>
            <p:cNvSpPr/>
            <p:nvPr/>
          </p:nvSpPr>
          <p:spPr>
            <a:xfrm>
              <a:off x="466725" y="790575"/>
              <a:ext cx="10125075" cy="152400"/>
            </a:xfrm>
            <a:custGeom>
              <a:avLst/>
              <a:gdLst/>
              <a:ahLst/>
              <a:cxnLst/>
              <a:rect l="l" t="t" r="r" b="b"/>
              <a:pathLst>
                <a:path w="10125075" h="152400">
                  <a:moveTo>
                    <a:pt x="0" y="85725"/>
                  </a:moveTo>
                  <a:cubicBezTo>
                    <a:pt x="3124200" y="0"/>
                    <a:pt x="6562725" y="152400"/>
                    <a:pt x="10125075" y="47625"/>
                  </a:cubicBezTo>
                </a:path>
              </a:pathLst>
            </a:custGeom>
            <a:noFill/>
            <a:ln w="47625" cap="rnd">
              <a:solidFill>
                <a:schemeClr val="accent3"/>
              </a:solidFill>
            </a:ln>
          </p:spPr>
        </p:sp>
      </p:grpSp>
      <p:grpSp>
        <p:nvGrpSpPr>
          <p:cNvPr id="12" name="Group 12"/>
          <p:cNvGrpSpPr/>
          <p:nvPr/>
        </p:nvGrpSpPr>
        <p:grpSpPr>
          <a:xfrm>
            <a:off x="514350" y="1447800"/>
            <a:ext cx="2762250" cy="4048125"/>
            <a:chOff x="514350" y="1447800"/>
            <a:chExt cx="2762250" cy="4048125"/>
          </a:xfrm>
        </p:grpSpPr>
        <p:sp>
          <p:nvSpPr>
            <p:cNvPr id="5" name="Freeform 5"/>
            <p:cNvSpPr/>
            <p:nvPr/>
          </p:nvSpPr>
          <p:spPr>
            <a:xfrm>
              <a:off x="514350" y="1447800"/>
              <a:ext cx="2762250" cy="4048125"/>
            </a:xfrm>
            <a:custGeom>
              <a:avLst/>
              <a:gdLst/>
              <a:ahLst/>
              <a:cxnLst/>
              <a:rect l="l" t="t" r="r" b="b"/>
              <a:pathLst>
                <a:path w="2762250" h="4048125">
                  <a:moveTo>
                    <a:pt x="238125" y="219075"/>
                  </a:moveTo>
                  <a:cubicBezTo>
                    <a:pt x="1114425" y="0"/>
                    <a:pt x="2085975" y="114300"/>
                    <a:pt x="2581275" y="514350"/>
                  </a:cubicBezTo>
                  <a:cubicBezTo>
                    <a:pt x="2762250" y="1533525"/>
                    <a:pt x="2686050" y="2905125"/>
                    <a:pt x="2381250" y="3771900"/>
                  </a:cubicBezTo>
                  <a:cubicBezTo>
                    <a:pt x="1562100" y="4048125"/>
                    <a:pt x="685800" y="3848100"/>
                    <a:pt x="190500" y="3429000"/>
                  </a:cubicBezTo>
                  <a:cubicBezTo>
                    <a:pt x="0" y="2419350"/>
                    <a:pt x="38100" y="1171575"/>
                    <a:pt x="238125" y="219075"/>
                  </a:cubicBezTo>
                  <a:close/>
                </a:path>
              </a:pathLst>
            </a:custGeom>
            <a:solidFill>
              <a:schemeClr val="lt2">
                <a:alpha val="65000"/>
              </a:schemeClr>
            </a:solidFill>
            <a:ln w="28575" cap="rnd">
              <a:solidFill>
                <a:schemeClr val="accent1"/>
              </a:solidFill>
              <a:round/>
            </a:ln>
          </p:spPr>
        </p:sp>
        <p:sp>
          <p:nvSpPr>
            <p:cNvPr id="6" name="TextBox 6"/>
            <p:cNvSpPr txBox="1"/>
            <p:nvPr/>
          </p:nvSpPr>
          <p:spPr>
            <a:xfrm>
              <a:off x="952881" y="203454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j-lt"/>
                  <a:ea typeface="+mj-ea"/>
                  <a:cs typeface="+mj-cs"/>
                </a:rPr>
                <a:t>统一验收问题</a:t>
              </a:r>
            </a:p>
          </p:txBody>
        </p:sp>
        <p:sp>
          <p:nvSpPr>
            <p:cNvPr id="7" name="TextBox 7"/>
            <p:cNvSpPr txBox="1"/>
            <p:nvPr/>
          </p:nvSpPr>
          <p:spPr>
            <a:xfrm>
              <a:off x="947547" y="2540318"/>
              <a:ext cx="1640357"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j-lt"/>
                  <a:ea typeface="+mj-ea"/>
                  <a:cs typeface="+mj-cs"/>
                </a:rPr>
                <a:t>预测表示</a:t>
              </a:r>
            </a:p>
          </p:txBody>
        </p:sp>
        <p:sp>
          <p:nvSpPr>
            <p:cNvPr id="8" name="TextBox 8"/>
            <p:cNvSpPr txBox="1"/>
            <p:nvPr/>
          </p:nvSpPr>
          <p:spPr>
            <a:xfrm>
              <a:off x="947547" y="3035618"/>
              <a:ext cx="2043208"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j-lt"/>
                  <a:ea typeface="+mj-ea"/>
                  <a:cs typeface="+mj-cs"/>
                </a:rPr>
                <a:t>是否保留了</a:t>
              </a:r>
            </a:p>
          </p:txBody>
        </p:sp>
        <p:sp>
          <p:nvSpPr>
            <p:cNvPr id="9" name="TextBox 9"/>
            <p:cNvSpPr txBox="1"/>
            <p:nvPr/>
          </p:nvSpPr>
          <p:spPr>
            <a:xfrm>
              <a:off x="947547" y="3530918"/>
              <a:ext cx="2043208" cy="557403"/>
            </a:xfrm>
            <a:prstGeom prst="rect">
              <a:avLst/>
            </a:prstGeom>
            <a:noFill/>
            <a:ln>
              <a:noFill/>
            </a:ln>
          </p:spPr>
          <p:txBody>
            <a:bodyPr wrap="none" lIns="0" tIns="0" rIns="0" bIns="0" anchor="t" anchorCtr="0">
              <a:spAutoFit/>
            </a:bodyPr>
            <a:lstStyle/>
            <a:p>
              <a:pPr algn="l"/>
              <a:r>
                <a:rPr lang="zh-CN" sz="2850" b="1" dirty="0">
                  <a:solidFill>
                    <a:schemeClr val="accent2"/>
                  </a:solidFill>
                  <a:latin typeface="+mj-lt"/>
                  <a:ea typeface="+mj-ea"/>
                  <a:cs typeface="+mj-cs"/>
                </a:rPr>
                <a:t>对控制有用</a:t>
              </a:r>
            </a:p>
          </p:txBody>
        </p:sp>
        <p:sp>
          <p:nvSpPr>
            <p:cNvPr id="10" name="TextBox 10"/>
            <p:cNvSpPr txBox="1"/>
            <p:nvPr/>
          </p:nvSpPr>
          <p:spPr>
            <a:xfrm>
              <a:off x="947547" y="4026218"/>
              <a:ext cx="1640357"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j-lt"/>
                  <a:ea typeface="+mj-ea"/>
                  <a:cs typeface="+mj-cs"/>
                </a:rPr>
                <a:t>的信息？</a:t>
              </a:r>
            </a:p>
          </p:txBody>
        </p:sp>
        <p:sp>
          <p:nvSpPr>
            <p:cNvPr id="11" name="Freeform 11"/>
            <p:cNvSpPr/>
            <p:nvPr/>
          </p:nvSpPr>
          <p:spPr>
            <a:xfrm>
              <a:off x="1000125" y="4495800"/>
              <a:ext cx="1752600" cy="114300"/>
            </a:xfrm>
            <a:custGeom>
              <a:avLst/>
              <a:gdLst/>
              <a:ahLst/>
              <a:cxnLst/>
              <a:rect l="l" t="t" r="r" b="b"/>
              <a:pathLst>
                <a:path w="1752600" h="114300">
                  <a:moveTo>
                    <a:pt x="0" y="114300"/>
                  </a:moveTo>
                  <a:cubicBezTo>
                    <a:pt x="542925" y="19050"/>
                    <a:pt x="1152525" y="76200"/>
                    <a:pt x="1752600" y="0"/>
                  </a:cubicBezTo>
                </a:path>
              </a:pathLst>
            </a:custGeom>
            <a:noFill/>
            <a:ln w="57150" cap="rnd">
              <a:solidFill>
                <a:schemeClr val="accent2"/>
              </a:solidFill>
            </a:ln>
          </p:spPr>
        </p:sp>
      </p:grpSp>
      <p:grpSp>
        <p:nvGrpSpPr>
          <p:cNvPr id="34" name="Group 34"/>
          <p:cNvGrpSpPr/>
          <p:nvPr/>
        </p:nvGrpSpPr>
        <p:grpSpPr>
          <a:xfrm>
            <a:off x="3857625" y="1162050"/>
            <a:ext cx="7743825" cy="4714875"/>
            <a:chOff x="3857625" y="1162050"/>
            <a:chExt cx="7743825" cy="4714875"/>
          </a:xfrm>
        </p:grpSpPr>
        <p:sp>
          <p:nvSpPr>
            <p:cNvPr id="13" name="Freeform 13"/>
            <p:cNvSpPr/>
            <p:nvPr/>
          </p:nvSpPr>
          <p:spPr>
            <a:xfrm>
              <a:off x="3857625" y="1657350"/>
              <a:ext cx="657225" cy="114300"/>
            </a:xfrm>
            <a:custGeom>
              <a:avLst/>
              <a:gdLst/>
              <a:ahLst/>
              <a:cxnLst/>
              <a:rect l="l" t="t" r="r" b="b"/>
              <a:pathLst>
                <a:path w="657225" h="114300">
                  <a:moveTo>
                    <a:pt x="0" y="114300"/>
                  </a:moveTo>
                  <a:cubicBezTo>
                    <a:pt x="228600" y="38100"/>
                    <a:pt x="428625" y="9525"/>
                    <a:pt x="657225" y="0"/>
                  </a:cubicBezTo>
                </a:path>
              </a:pathLst>
            </a:custGeom>
            <a:noFill/>
            <a:ln w="28575" cap="rnd">
              <a:solidFill>
                <a:schemeClr val="accent1"/>
              </a:solidFill>
            </a:ln>
          </p:spPr>
        </p:sp>
        <p:sp>
          <p:nvSpPr>
            <p:cNvPr id="14" name="Freeform 14"/>
            <p:cNvSpPr/>
            <p:nvPr/>
          </p:nvSpPr>
          <p:spPr>
            <a:xfrm>
              <a:off x="3857625" y="2781300"/>
              <a:ext cx="695325" cy="76200"/>
            </a:xfrm>
            <a:custGeom>
              <a:avLst/>
              <a:gdLst/>
              <a:ahLst/>
              <a:cxnLst/>
              <a:rect l="l" t="t" r="r" b="b"/>
              <a:pathLst>
                <a:path w="695325" h="76200">
                  <a:moveTo>
                    <a:pt x="0" y="76200"/>
                  </a:moveTo>
                  <a:cubicBezTo>
                    <a:pt x="238125" y="0"/>
                    <a:pt x="447675" y="28575"/>
                    <a:pt x="695325" y="0"/>
                  </a:cubicBezTo>
                </a:path>
              </a:pathLst>
            </a:custGeom>
            <a:noFill/>
            <a:ln w="28575" cap="rnd">
              <a:solidFill>
                <a:schemeClr val="accent1"/>
              </a:solidFill>
            </a:ln>
          </p:spPr>
        </p:sp>
        <p:sp>
          <p:nvSpPr>
            <p:cNvPr id="15" name="Freeform 15"/>
            <p:cNvSpPr/>
            <p:nvPr/>
          </p:nvSpPr>
          <p:spPr>
            <a:xfrm>
              <a:off x="3857625" y="3886200"/>
              <a:ext cx="695325" cy="95250"/>
            </a:xfrm>
            <a:custGeom>
              <a:avLst/>
              <a:gdLst/>
              <a:ahLst/>
              <a:cxnLst/>
              <a:rect l="l" t="t" r="r" b="b"/>
              <a:pathLst>
                <a:path w="695325" h="95250">
                  <a:moveTo>
                    <a:pt x="0" y="95250"/>
                  </a:moveTo>
                  <a:cubicBezTo>
                    <a:pt x="238125" y="9525"/>
                    <a:pt x="447675" y="38100"/>
                    <a:pt x="695325" y="0"/>
                  </a:cubicBezTo>
                </a:path>
              </a:pathLst>
            </a:custGeom>
            <a:noFill/>
            <a:ln w="28575" cap="rnd">
              <a:solidFill>
                <a:schemeClr val="accent1"/>
              </a:solidFill>
            </a:ln>
          </p:spPr>
        </p:sp>
        <p:sp>
          <p:nvSpPr>
            <p:cNvPr id="16" name="Freeform 16"/>
            <p:cNvSpPr/>
            <p:nvPr/>
          </p:nvSpPr>
          <p:spPr>
            <a:xfrm>
              <a:off x="3857625" y="4991100"/>
              <a:ext cx="695325" cy="114300"/>
            </a:xfrm>
            <a:custGeom>
              <a:avLst/>
              <a:gdLst/>
              <a:ahLst/>
              <a:cxnLst/>
              <a:rect l="l" t="t" r="r" b="b"/>
              <a:pathLst>
                <a:path w="695325" h="114300">
                  <a:moveTo>
                    <a:pt x="0" y="114300"/>
                  </a:moveTo>
                  <a:cubicBezTo>
                    <a:pt x="238125" y="19050"/>
                    <a:pt x="457200" y="47625"/>
                    <a:pt x="695325" y="0"/>
                  </a:cubicBezTo>
                </a:path>
              </a:pathLst>
            </a:custGeom>
            <a:noFill/>
            <a:ln w="28575" cap="rnd">
              <a:solidFill>
                <a:schemeClr val="accent1"/>
              </a:solidFill>
            </a:ln>
          </p:spPr>
        </p:sp>
        <p:sp>
          <p:nvSpPr>
            <p:cNvPr id="17" name="Freeform 17"/>
            <p:cNvSpPr/>
            <p:nvPr/>
          </p:nvSpPr>
          <p:spPr>
            <a:xfrm>
              <a:off x="4495800" y="1562100"/>
              <a:ext cx="161925" cy="3524250"/>
            </a:xfrm>
            <a:custGeom>
              <a:avLst/>
              <a:gdLst/>
              <a:ahLst/>
              <a:cxnLst/>
              <a:rect l="l" t="t" r="r" b="b"/>
              <a:pathLst>
                <a:path w="161925" h="3524250">
                  <a:moveTo>
                    <a:pt x="0" y="0"/>
                  </a:moveTo>
                  <a:lnTo>
                    <a:pt x="133350" y="85725"/>
                  </a:lnTo>
                  <a:lnTo>
                    <a:pt x="19050" y="190500"/>
                  </a:lnTo>
                  <a:moveTo>
                    <a:pt x="38100" y="1123950"/>
                  </a:moveTo>
                  <a:lnTo>
                    <a:pt x="161925" y="1209675"/>
                  </a:lnTo>
                  <a:lnTo>
                    <a:pt x="47625" y="1314450"/>
                  </a:lnTo>
                  <a:moveTo>
                    <a:pt x="38100" y="2228850"/>
                  </a:moveTo>
                  <a:lnTo>
                    <a:pt x="161925" y="2314575"/>
                  </a:lnTo>
                  <a:lnTo>
                    <a:pt x="47625" y="2419350"/>
                  </a:lnTo>
                  <a:moveTo>
                    <a:pt x="38100" y="3333750"/>
                  </a:moveTo>
                  <a:lnTo>
                    <a:pt x="161925" y="3419475"/>
                  </a:lnTo>
                  <a:lnTo>
                    <a:pt x="47625" y="3524250"/>
                  </a:lnTo>
                </a:path>
              </a:pathLst>
            </a:custGeom>
            <a:noFill/>
            <a:ln w="28575" cap="rnd">
              <a:solidFill>
                <a:schemeClr val="accent1"/>
              </a:solidFill>
              <a:round/>
            </a:ln>
          </p:spPr>
        </p:sp>
        <p:sp>
          <p:nvSpPr>
            <p:cNvPr id="18" name="Freeform 18"/>
            <p:cNvSpPr/>
            <p:nvPr/>
          </p:nvSpPr>
          <p:spPr>
            <a:xfrm>
              <a:off x="4600575" y="1162050"/>
              <a:ext cx="7000875" cy="1304925"/>
            </a:xfrm>
            <a:custGeom>
              <a:avLst/>
              <a:gdLst/>
              <a:ahLst/>
              <a:cxnLst/>
              <a:rect l="l" t="t" r="r" b="b"/>
              <a:pathLst>
                <a:path w="7000875" h="1304925">
                  <a:moveTo>
                    <a:pt x="104775" y="123825"/>
                  </a:moveTo>
                  <a:cubicBezTo>
                    <a:pt x="1771650" y="0"/>
                    <a:pt x="4391025" y="57150"/>
                    <a:pt x="6905625" y="180975"/>
                  </a:cubicBezTo>
                  <a:cubicBezTo>
                    <a:pt x="7000875" y="647700"/>
                    <a:pt x="6943725" y="971550"/>
                    <a:pt x="6800850" y="1209675"/>
                  </a:cubicBezTo>
                  <a:cubicBezTo>
                    <a:pt x="4457700" y="1304925"/>
                    <a:pt x="2238375" y="1266825"/>
                    <a:pt x="95250" y="1152525"/>
                  </a:cubicBezTo>
                  <a:cubicBezTo>
                    <a:pt x="0" y="809625"/>
                    <a:pt x="9525" y="457200"/>
                    <a:pt x="104775" y="123825"/>
                  </a:cubicBezTo>
                  <a:close/>
                </a:path>
              </a:pathLst>
            </a:custGeom>
            <a:solidFill>
              <a:schemeClr val="lt1"/>
            </a:solidFill>
            <a:ln w="28575" cap="rnd">
              <a:solidFill>
                <a:schemeClr val="accent1"/>
              </a:solidFill>
              <a:round/>
            </a:ln>
          </p:spPr>
        </p:sp>
        <p:sp>
          <p:nvSpPr>
            <p:cNvPr id="19" name="TextBox 19"/>
            <p:cNvSpPr txBox="1"/>
            <p:nvPr/>
          </p:nvSpPr>
          <p:spPr>
            <a:xfrm>
              <a:off x="4940808" y="1426845"/>
              <a:ext cx="2789210" cy="469392"/>
            </a:xfrm>
            <a:prstGeom prst="rect">
              <a:avLst/>
            </a:prstGeom>
            <a:noFill/>
            <a:ln>
              <a:noFill/>
            </a:ln>
          </p:spPr>
          <p:txBody>
            <a:bodyPr wrap="none" lIns="0" tIns="0" rIns="0" bIns="0" anchor="t" anchorCtr="0">
              <a:spAutoFit/>
            </a:bodyPr>
            <a:lstStyle/>
            <a:p>
              <a:pPr algn="l"/>
              <a:r>
                <a:rPr lang="zh-CN" sz="2400" b="1" dirty="0">
                  <a:solidFill>
                    <a:schemeClr val="accent3"/>
                  </a:solidFill>
                  <a:latin typeface="+mj-lt"/>
                  <a:ea typeface="+mj-ea"/>
                  <a:cs typeface="+mj-cs"/>
                </a:rPr>
                <a:t>像素 / 潜变量想象</a:t>
              </a:r>
            </a:p>
          </p:txBody>
        </p:sp>
        <p:sp>
          <p:nvSpPr>
            <p:cNvPr id="20" name="TextBox 20"/>
            <p:cNvSpPr txBox="1"/>
            <p:nvPr/>
          </p:nvSpPr>
          <p:spPr>
            <a:xfrm>
              <a:off x="7515606" y="1491615"/>
              <a:ext cx="2745029"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latent rollout → policy</a:t>
              </a:r>
            </a:p>
          </p:txBody>
        </p:sp>
        <p:sp>
          <p:nvSpPr>
            <p:cNvPr id="21" name="TextBox 21"/>
            <p:cNvSpPr txBox="1"/>
            <p:nvPr/>
          </p:nvSpPr>
          <p:spPr>
            <a:xfrm>
              <a:off x="4943856" y="1891665"/>
              <a:ext cx="4644466"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DreamerV3：重建与想象服务策略学习</a:t>
              </a:r>
            </a:p>
          </p:txBody>
        </p:sp>
        <p:sp>
          <p:nvSpPr>
            <p:cNvPr id="22" name="Freeform 22"/>
            <p:cNvSpPr/>
            <p:nvPr/>
          </p:nvSpPr>
          <p:spPr>
            <a:xfrm>
              <a:off x="4591050" y="2352675"/>
              <a:ext cx="6991350" cy="1247775"/>
            </a:xfrm>
            <a:custGeom>
              <a:avLst/>
              <a:gdLst/>
              <a:ahLst/>
              <a:cxnLst/>
              <a:rect l="l" t="t" r="r" b="b"/>
              <a:pathLst>
                <a:path w="6991350" h="1247775">
                  <a:moveTo>
                    <a:pt x="104775" y="123825"/>
                  </a:moveTo>
                  <a:cubicBezTo>
                    <a:pt x="2143125" y="0"/>
                    <a:pt x="4667250" y="76200"/>
                    <a:pt x="6915150" y="190500"/>
                  </a:cubicBezTo>
                  <a:cubicBezTo>
                    <a:pt x="6991350" y="628650"/>
                    <a:pt x="6943725" y="923925"/>
                    <a:pt x="6819900" y="1152525"/>
                  </a:cubicBezTo>
                  <a:cubicBezTo>
                    <a:pt x="4476750" y="1247775"/>
                    <a:pt x="2286000" y="1190625"/>
                    <a:pt x="104775" y="1104900"/>
                  </a:cubicBezTo>
                  <a:cubicBezTo>
                    <a:pt x="0" y="790575"/>
                    <a:pt x="9525" y="447675"/>
                    <a:pt x="104775" y="123825"/>
                  </a:cubicBezTo>
                  <a:close/>
                </a:path>
              </a:pathLst>
            </a:custGeom>
            <a:solidFill>
              <a:schemeClr val="lt2">
                <a:alpha val="58000"/>
              </a:schemeClr>
            </a:solidFill>
            <a:ln w="28575" cap="rnd">
              <a:solidFill>
                <a:schemeClr val="accent1"/>
              </a:solidFill>
              <a:round/>
            </a:ln>
          </p:spPr>
        </p:sp>
        <p:sp>
          <p:nvSpPr>
            <p:cNvPr id="23" name="TextBox 23"/>
            <p:cNvSpPr txBox="1"/>
            <p:nvPr/>
          </p:nvSpPr>
          <p:spPr>
            <a:xfrm>
              <a:off x="4940808" y="2607945"/>
              <a:ext cx="2059838" cy="469392"/>
            </a:xfrm>
            <a:prstGeom prst="rect">
              <a:avLst/>
            </a:prstGeom>
            <a:noFill/>
            <a:ln>
              <a:noFill/>
            </a:ln>
          </p:spPr>
          <p:txBody>
            <a:bodyPr wrap="none" lIns="0" tIns="0" rIns="0" bIns="0" anchor="t" anchorCtr="0">
              <a:spAutoFit/>
            </a:bodyPr>
            <a:lstStyle/>
            <a:p>
              <a:pPr algn="l"/>
              <a:r>
                <a:rPr lang="zh-CN" sz="2400" b="1" dirty="0">
                  <a:solidFill>
                    <a:schemeClr val="accent3"/>
                  </a:solidFill>
                  <a:latin typeface="+mj-lt"/>
                  <a:ea typeface="+mj-ea"/>
                  <a:cs typeface="+mj-cs"/>
                </a:rPr>
                <a:t>视觉表征动态</a:t>
              </a:r>
            </a:p>
          </p:txBody>
        </p:sp>
        <p:sp>
          <p:nvSpPr>
            <p:cNvPr id="24" name="TextBox 24"/>
            <p:cNvSpPr txBox="1"/>
            <p:nvPr/>
          </p:nvSpPr>
          <p:spPr>
            <a:xfrm>
              <a:off x="7515606" y="2672715"/>
              <a:ext cx="3986784"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feature prediction → goal match</a:t>
              </a:r>
            </a:p>
          </p:txBody>
        </p:sp>
        <p:sp>
          <p:nvSpPr>
            <p:cNvPr id="25" name="TextBox 25"/>
            <p:cNvSpPr txBox="1"/>
            <p:nvPr/>
          </p:nvSpPr>
          <p:spPr>
            <a:xfrm>
              <a:off x="4943856" y="3072765"/>
              <a:ext cx="5805800"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DINO-WM / LeWM：直接在特征几何中规划</a:t>
              </a:r>
            </a:p>
          </p:txBody>
        </p:sp>
        <p:sp>
          <p:nvSpPr>
            <p:cNvPr id="26" name="Freeform 26"/>
            <p:cNvSpPr/>
            <p:nvPr/>
          </p:nvSpPr>
          <p:spPr>
            <a:xfrm>
              <a:off x="4591050" y="3476625"/>
              <a:ext cx="6991350" cy="1247775"/>
            </a:xfrm>
            <a:custGeom>
              <a:avLst/>
              <a:gdLst/>
              <a:ahLst/>
              <a:cxnLst/>
              <a:rect l="l" t="t" r="r" b="b"/>
              <a:pathLst>
                <a:path w="6991350" h="1247775">
                  <a:moveTo>
                    <a:pt x="104775" y="133350"/>
                  </a:moveTo>
                  <a:cubicBezTo>
                    <a:pt x="2066925" y="0"/>
                    <a:pt x="4591050" y="57150"/>
                    <a:pt x="6905625" y="190500"/>
                  </a:cubicBezTo>
                  <a:cubicBezTo>
                    <a:pt x="6991350" y="628650"/>
                    <a:pt x="6934200" y="923925"/>
                    <a:pt x="6800850" y="1171575"/>
                  </a:cubicBezTo>
                  <a:cubicBezTo>
                    <a:pt x="4610100" y="1247775"/>
                    <a:pt x="2314575" y="1209675"/>
                    <a:pt x="104775" y="1114425"/>
                  </a:cubicBezTo>
                  <a:cubicBezTo>
                    <a:pt x="0" y="800100"/>
                    <a:pt x="9525" y="457200"/>
                    <a:pt x="104775" y="133350"/>
                  </a:cubicBezTo>
                  <a:close/>
                </a:path>
              </a:pathLst>
            </a:custGeom>
            <a:solidFill>
              <a:schemeClr val="lt1"/>
            </a:solidFill>
            <a:ln w="28575" cap="rnd">
              <a:solidFill>
                <a:schemeClr val="accent1"/>
              </a:solidFill>
              <a:round/>
            </a:ln>
          </p:spPr>
        </p:sp>
        <p:sp>
          <p:nvSpPr>
            <p:cNvPr id="27" name="TextBox 27"/>
            <p:cNvSpPr txBox="1"/>
            <p:nvPr/>
          </p:nvSpPr>
          <p:spPr>
            <a:xfrm>
              <a:off x="4940808" y="3741420"/>
              <a:ext cx="2517816"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j-lt"/>
                  <a:ea typeface="+mj-ea"/>
                  <a:cs typeface="+mj-cs"/>
                </a:rPr>
                <a:t>离散 token 动态</a:t>
              </a:r>
            </a:p>
          </p:txBody>
        </p:sp>
        <p:sp>
          <p:nvSpPr>
            <p:cNvPr id="28" name="TextBox 28"/>
            <p:cNvSpPr txBox="1"/>
            <p:nvPr/>
          </p:nvSpPr>
          <p:spPr>
            <a:xfrm>
              <a:off x="7515606" y="3806190"/>
              <a:ext cx="3218688"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token imagination → policy</a:t>
              </a:r>
            </a:p>
          </p:txBody>
        </p:sp>
        <p:sp>
          <p:nvSpPr>
            <p:cNvPr id="29" name="TextBox 29"/>
            <p:cNvSpPr txBox="1"/>
            <p:nvPr/>
          </p:nvSpPr>
          <p:spPr>
            <a:xfrm>
              <a:off x="4943856" y="4206240"/>
              <a:ext cx="5194706"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IRIS / Δ-IRIS：显式建模随机未来分布</a:t>
              </a:r>
            </a:p>
          </p:txBody>
        </p:sp>
        <p:sp>
          <p:nvSpPr>
            <p:cNvPr id="30" name="Freeform 30"/>
            <p:cNvSpPr/>
            <p:nvPr/>
          </p:nvSpPr>
          <p:spPr>
            <a:xfrm>
              <a:off x="4581525" y="4610100"/>
              <a:ext cx="6991350" cy="1266825"/>
            </a:xfrm>
            <a:custGeom>
              <a:avLst/>
              <a:gdLst/>
              <a:ahLst/>
              <a:cxnLst/>
              <a:rect l="l" t="t" r="r" b="b"/>
              <a:pathLst>
                <a:path w="6991350" h="1266825">
                  <a:moveTo>
                    <a:pt x="114300" y="133350"/>
                  </a:moveTo>
                  <a:cubicBezTo>
                    <a:pt x="2009775" y="0"/>
                    <a:pt x="4514850" y="57150"/>
                    <a:pt x="6915150" y="180975"/>
                  </a:cubicBezTo>
                  <a:cubicBezTo>
                    <a:pt x="6991350" y="609600"/>
                    <a:pt x="6943725" y="914400"/>
                    <a:pt x="6791325" y="1162050"/>
                  </a:cubicBezTo>
                  <a:cubicBezTo>
                    <a:pt x="4505325" y="1266825"/>
                    <a:pt x="2305050" y="1190625"/>
                    <a:pt x="114300" y="1114425"/>
                  </a:cubicBezTo>
                  <a:cubicBezTo>
                    <a:pt x="0" y="800100"/>
                    <a:pt x="19050" y="457200"/>
                    <a:pt x="114300" y="133350"/>
                  </a:cubicBezTo>
                  <a:close/>
                </a:path>
              </a:pathLst>
            </a:custGeom>
            <a:solidFill>
              <a:schemeClr val="lt2">
                <a:alpha val="58000"/>
              </a:schemeClr>
            </a:solidFill>
            <a:ln w="28575" cap="rnd">
              <a:solidFill>
                <a:schemeClr val="accent1"/>
              </a:solidFill>
              <a:round/>
            </a:ln>
          </p:spPr>
        </p:sp>
        <p:sp>
          <p:nvSpPr>
            <p:cNvPr id="31" name="TextBox 31"/>
            <p:cNvSpPr txBox="1"/>
            <p:nvPr/>
          </p:nvSpPr>
          <p:spPr>
            <a:xfrm>
              <a:off x="4940808" y="4874895"/>
              <a:ext cx="1720596" cy="469392"/>
            </a:xfrm>
            <a:prstGeom prst="rect">
              <a:avLst/>
            </a:prstGeom>
            <a:noFill/>
            <a:ln>
              <a:noFill/>
            </a:ln>
          </p:spPr>
          <p:txBody>
            <a:bodyPr wrap="none" lIns="0" tIns="0" rIns="0" bIns="0" anchor="t" anchorCtr="0">
              <a:spAutoFit/>
            </a:bodyPr>
            <a:lstStyle/>
            <a:p>
              <a:pPr algn="l"/>
              <a:r>
                <a:rPr lang="zh-CN" sz="2400" b="1" dirty="0">
                  <a:solidFill>
                    <a:srgbClr val="2F7D5C"/>
                  </a:solidFill>
                  <a:latin typeface="+mj-lt"/>
                  <a:ea typeface="+mj-ea"/>
                  <a:cs typeface="+mj-cs"/>
                </a:rPr>
                <a:t>控制潜变量</a:t>
              </a:r>
            </a:p>
          </p:txBody>
        </p:sp>
        <p:sp>
          <p:nvSpPr>
            <p:cNvPr id="32" name="TextBox 32"/>
            <p:cNvSpPr txBox="1"/>
            <p:nvPr/>
          </p:nvSpPr>
          <p:spPr>
            <a:xfrm>
              <a:off x="7515606" y="4939665"/>
              <a:ext cx="2846710"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reward / value → MPPI</a:t>
              </a:r>
            </a:p>
          </p:txBody>
        </p:sp>
        <p:sp>
          <p:nvSpPr>
            <p:cNvPr id="33" name="TextBox 33"/>
            <p:cNvSpPr txBox="1"/>
            <p:nvPr/>
          </p:nvSpPr>
          <p:spPr>
            <a:xfrm>
              <a:off x="4943856" y="5339715"/>
              <a:ext cx="5008169"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TD-MPC2：只预测对控制有用的状态</a:t>
              </a:r>
            </a:p>
          </p:txBody>
        </p:sp>
      </p:grpSp>
      <p:sp>
        <p:nvSpPr>
          <p:cNvPr id="35" name="TextBox 35"/>
          <p:cNvSpPr txBox="1"/>
          <p:nvPr/>
        </p:nvSpPr>
        <p:spPr>
          <a:xfrm>
            <a:off x="11508981" y="6407468"/>
            <a:ext cx="213627"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j-lt"/>
                <a:ea typeface="+mj-ea"/>
                <a:cs typeface="+mj-cs"/>
              </a:rPr>
              <a:t>03</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23672" y="378142"/>
            <a:ext cx="9478457" cy="557403"/>
            <a:chOff x="423672" y="378142"/>
            <a:chExt cx="9478457" cy="557403"/>
          </a:xfrm>
        </p:grpSpPr>
        <p:sp>
          <p:nvSpPr>
            <p:cNvPr id="2" name="TextBox 2"/>
            <p:cNvSpPr txBox="1"/>
            <p:nvPr/>
          </p:nvSpPr>
          <p:spPr>
            <a:xfrm>
              <a:off x="423672" y="378142"/>
              <a:ext cx="9478457"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j-lt"/>
                  <a:ea typeface="+mj-ea"/>
                  <a:cs typeface="+mj-cs"/>
                </a:rPr>
                <a:t>DINO-WM：预训练视觉特征可以直接成为规划空间</a:t>
              </a:r>
            </a:p>
          </p:txBody>
        </p:sp>
        <p:sp>
          <p:nvSpPr>
            <p:cNvPr id="3" name="Freeform 3"/>
            <p:cNvSpPr/>
            <p:nvPr/>
          </p:nvSpPr>
          <p:spPr>
            <a:xfrm>
              <a:off x="466725" y="752475"/>
              <a:ext cx="9258300" cy="152400"/>
            </a:xfrm>
            <a:custGeom>
              <a:avLst/>
              <a:gdLst/>
              <a:ahLst/>
              <a:cxnLst/>
              <a:rect l="l" t="t" r="r" b="b"/>
              <a:pathLst>
                <a:path w="9258300" h="152400">
                  <a:moveTo>
                    <a:pt x="0" y="85725"/>
                  </a:moveTo>
                  <a:cubicBezTo>
                    <a:pt x="2724150" y="0"/>
                    <a:pt x="5895975" y="152400"/>
                    <a:pt x="9258300" y="47625"/>
                  </a:cubicBezTo>
                </a:path>
              </a:pathLst>
            </a:custGeom>
            <a:noFill/>
            <a:ln w="47625" cap="rnd">
              <a:solidFill>
                <a:schemeClr val="accent3"/>
              </a:solidFill>
            </a:ln>
          </p:spPr>
        </p:sp>
      </p:grpSp>
      <p:grpSp>
        <p:nvGrpSpPr>
          <p:cNvPr id="8" name="Group 8"/>
          <p:cNvGrpSpPr/>
          <p:nvPr/>
        </p:nvGrpSpPr>
        <p:grpSpPr>
          <a:xfrm>
            <a:off x="457200" y="1028700"/>
            <a:ext cx="6181725" cy="3394901"/>
            <a:chOff x="457200" y="1028700"/>
            <a:chExt cx="6181725" cy="3394901"/>
          </a:xfrm>
        </p:grpSpPr>
        <p:sp>
          <p:nvSpPr>
            <p:cNvPr id="5" name="Freeform 5"/>
            <p:cNvSpPr/>
            <p:nvPr/>
          </p:nvSpPr>
          <p:spPr>
            <a:xfrm>
              <a:off x="457200" y="1028700"/>
              <a:ext cx="6181725" cy="3371850"/>
            </a:xfrm>
            <a:custGeom>
              <a:avLst/>
              <a:gdLst/>
              <a:ahLst/>
              <a:cxnLst/>
              <a:rect l="l" t="t" r="r" b="b"/>
              <a:pathLst>
                <a:path w="6181725" h="3371850">
                  <a:moveTo>
                    <a:pt x="66675" y="76200"/>
                  </a:moveTo>
                  <a:cubicBezTo>
                    <a:pt x="1676400" y="0"/>
                    <a:pt x="4095750" y="38100"/>
                    <a:pt x="6143625" y="104775"/>
                  </a:cubicBezTo>
                  <a:cubicBezTo>
                    <a:pt x="6181725" y="1152525"/>
                    <a:pt x="6172200" y="2305050"/>
                    <a:pt x="6105525" y="3305175"/>
                  </a:cubicBezTo>
                  <a:cubicBezTo>
                    <a:pt x="4143375" y="3371850"/>
                    <a:pt x="1914525" y="3333750"/>
                    <a:pt x="57150" y="3276600"/>
                  </a:cubicBezTo>
                  <a:cubicBezTo>
                    <a:pt x="0" y="2190750"/>
                    <a:pt x="9525" y="1076325"/>
                    <a:pt x="66675" y="76200"/>
                  </a:cubicBezTo>
                  <a:close/>
                </a:path>
              </a:pathLst>
            </a:custGeom>
            <a:solidFill>
              <a:srgbClr val="FFFFFF"/>
            </a:solidFill>
            <a:ln w="28575" cap="rnd">
              <a:solidFill>
                <a:schemeClr val="accent1"/>
              </a:solidFill>
              <a:round/>
            </a:ln>
          </p:spPr>
        </p:sp>
        <p:pic>
          <p:nvPicPr>
            <p:cNvPr id="6" name="Image 6"/>
            <p:cNvPicPr>
              <a:picLocks noChangeAspect="1"/>
            </p:cNvPicPr>
            <p:nvPr/>
          </p:nvPicPr>
          <p:blipFill>
            <a:blip r:embed="rId2"/>
            <a:stretch>
              <a:fillRect/>
            </a:stretch>
          </p:blipFill>
          <p:spPr>
            <a:xfrm>
              <a:off x="1871314" y="1257300"/>
              <a:ext cx="3401122" cy="2905125"/>
            </a:xfrm>
            <a:prstGeom prst="rect">
              <a:avLst/>
            </a:prstGeom>
          </p:spPr>
        </p:pic>
        <p:sp>
          <p:nvSpPr>
            <p:cNvPr id="7" name="TextBox 7"/>
            <p:cNvSpPr txBox="1"/>
            <p:nvPr/>
          </p:nvSpPr>
          <p:spPr>
            <a:xfrm>
              <a:off x="717042" y="4159568"/>
              <a:ext cx="373098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j-lt"/>
                  <a:ea typeface="+mj-ea"/>
                  <a:cs typeface="+mj-cs"/>
                </a:rPr>
                <a:t>PointMaze 规划迭代拼图｜完整帧与标签保留</a:t>
              </a:r>
            </a:p>
          </p:txBody>
        </p:sp>
      </p:grpSp>
      <p:grpSp>
        <p:nvGrpSpPr>
          <p:cNvPr id="19" name="Group 19"/>
          <p:cNvGrpSpPr/>
          <p:nvPr/>
        </p:nvGrpSpPr>
        <p:grpSpPr>
          <a:xfrm>
            <a:off x="7067550" y="1234440"/>
            <a:ext cx="4452061" cy="3266694"/>
            <a:chOff x="7067550" y="1234440"/>
            <a:chExt cx="4452061" cy="3266694"/>
          </a:xfrm>
        </p:grpSpPr>
        <p:sp>
          <p:nvSpPr>
            <p:cNvPr id="9" name="TextBox 9"/>
            <p:cNvSpPr txBox="1"/>
            <p:nvPr/>
          </p:nvSpPr>
          <p:spPr>
            <a:xfrm>
              <a:off x="7077456" y="1234440"/>
              <a:ext cx="1544879" cy="352044"/>
            </a:xfrm>
            <a:prstGeom prst="rect">
              <a:avLst/>
            </a:prstGeom>
            <a:noFill/>
            <a:ln>
              <a:noFill/>
            </a:ln>
          </p:spPr>
          <p:txBody>
            <a:bodyPr wrap="none" lIns="0" tIns="0" rIns="0" bIns="0" anchor="t" anchorCtr="0">
              <a:spAutoFit/>
            </a:bodyPr>
            <a:lstStyle/>
            <a:p>
              <a:pPr algn="l"/>
              <a:r>
                <a:rPr lang="zh-CN" sz="1800" b="1" dirty="0">
                  <a:solidFill>
                    <a:schemeClr val="accent3"/>
                  </a:solidFill>
                  <a:latin typeface="+mj-lt"/>
                  <a:ea typeface="+mj-ea"/>
                  <a:cs typeface="+mj-cs"/>
                </a:rPr>
                <a:t>有界评估结果</a:t>
              </a:r>
            </a:p>
          </p:txBody>
        </p:sp>
        <p:sp>
          <p:nvSpPr>
            <p:cNvPr id="10" name="TextBox 10"/>
            <p:cNvSpPr txBox="1"/>
            <p:nvPr/>
          </p:nvSpPr>
          <p:spPr>
            <a:xfrm>
              <a:off x="7067550" y="1522095"/>
              <a:ext cx="1717350" cy="1047750"/>
            </a:xfrm>
            <a:prstGeom prst="rect">
              <a:avLst/>
            </a:prstGeom>
            <a:noFill/>
            <a:ln>
              <a:noFill/>
            </a:ln>
          </p:spPr>
          <p:txBody>
            <a:bodyPr wrap="none" lIns="0" tIns="0" rIns="0" bIns="0" anchor="t" anchorCtr="0">
              <a:spAutoFit/>
            </a:bodyPr>
            <a:lstStyle/>
            <a:p>
              <a:pPr algn="l"/>
              <a:r>
                <a:rPr lang="en-US" sz="5400" b="1" dirty="0">
                  <a:solidFill>
                    <a:srgbClr val="2F7D5C"/>
                  </a:solidFill>
                  <a:latin typeface="Consolas"/>
                  <a:ea typeface="Consolas"/>
                  <a:cs typeface="Consolas"/>
                </a:rPr>
                <a:t>1.00</a:t>
              </a:r>
            </a:p>
          </p:txBody>
        </p:sp>
        <p:sp>
          <p:nvSpPr>
            <p:cNvPr id="11" name="TextBox 11"/>
            <p:cNvSpPr txBox="1"/>
            <p:nvPr/>
          </p:nvSpPr>
          <p:spPr>
            <a:xfrm>
              <a:off x="9096756" y="1891665"/>
              <a:ext cx="1332586"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PointMaze</a:t>
              </a:r>
            </a:p>
          </p:txBody>
        </p:sp>
        <p:sp>
          <p:nvSpPr>
            <p:cNvPr id="12" name="TextBox 12"/>
            <p:cNvSpPr txBox="1"/>
            <p:nvPr/>
          </p:nvSpPr>
          <p:spPr>
            <a:xfrm>
              <a:off x="7069836" y="2415540"/>
              <a:ext cx="1596163" cy="645414"/>
            </a:xfrm>
            <a:prstGeom prst="rect">
              <a:avLst/>
            </a:prstGeom>
            <a:noFill/>
            <a:ln>
              <a:noFill/>
            </a:ln>
          </p:spPr>
          <p:txBody>
            <a:bodyPr wrap="none" lIns="0" tIns="0" rIns="0" bIns="0" anchor="t" anchorCtr="0">
              <a:spAutoFit/>
            </a:bodyPr>
            <a:lstStyle/>
            <a:p>
              <a:pPr algn="l"/>
              <a:r>
                <a:rPr lang="en-US" sz="3300" b="1" dirty="0">
                  <a:solidFill>
                    <a:schemeClr val="accent2"/>
                  </a:solidFill>
                  <a:latin typeface="Consolas"/>
                  <a:ea typeface="Consolas"/>
                  <a:cs typeface="Consolas"/>
                </a:rPr>
                <a:t>43 / 50</a:t>
              </a:r>
            </a:p>
          </p:txBody>
        </p:sp>
        <p:sp>
          <p:nvSpPr>
            <p:cNvPr id="13" name="TextBox 13"/>
            <p:cNvSpPr txBox="1"/>
            <p:nvPr/>
          </p:nvSpPr>
          <p:spPr>
            <a:xfrm>
              <a:off x="9096756" y="2558415"/>
              <a:ext cx="1616659"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PushT · 86%</a:t>
              </a:r>
            </a:p>
          </p:txBody>
        </p:sp>
        <p:sp>
          <p:nvSpPr>
            <p:cNvPr id="14" name="TextBox 14"/>
            <p:cNvSpPr txBox="1"/>
            <p:nvPr/>
          </p:nvSpPr>
          <p:spPr>
            <a:xfrm>
              <a:off x="7069836" y="2920365"/>
              <a:ext cx="1596163" cy="645414"/>
            </a:xfrm>
            <a:prstGeom prst="rect">
              <a:avLst/>
            </a:prstGeom>
            <a:noFill/>
            <a:ln>
              <a:noFill/>
            </a:ln>
          </p:spPr>
          <p:txBody>
            <a:bodyPr wrap="none" lIns="0" tIns="0" rIns="0" bIns="0" anchor="t" anchorCtr="0">
              <a:spAutoFit/>
            </a:bodyPr>
            <a:lstStyle/>
            <a:p>
              <a:pPr algn="l"/>
              <a:r>
                <a:rPr lang="en-US" sz="3300" b="1" dirty="0">
                  <a:solidFill>
                    <a:schemeClr val="accent2"/>
                  </a:solidFill>
                  <a:latin typeface="Consolas"/>
                  <a:ea typeface="Consolas"/>
                  <a:cs typeface="Consolas"/>
                </a:rPr>
                <a:t>47 / 50</a:t>
              </a:r>
            </a:p>
          </p:txBody>
        </p:sp>
        <p:sp>
          <p:nvSpPr>
            <p:cNvPr id="15" name="TextBox 15"/>
            <p:cNvSpPr txBox="1"/>
            <p:nvPr/>
          </p:nvSpPr>
          <p:spPr>
            <a:xfrm>
              <a:off x="9096756" y="3063240"/>
              <a:ext cx="1340053"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Wall · 94%</a:t>
              </a:r>
            </a:p>
          </p:txBody>
        </p:sp>
        <p:sp>
          <p:nvSpPr>
            <p:cNvPr id="16" name="Freeform 16"/>
            <p:cNvSpPr/>
            <p:nvPr/>
          </p:nvSpPr>
          <p:spPr>
            <a:xfrm>
              <a:off x="7086600" y="3429000"/>
              <a:ext cx="4333875" cy="95250"/>
            </a:xfrm>
            <a:custGeom>
              <a:avLst/>
              <a:gdLst/>
              <a:ahLst/>
              <a:cxnLst/>
              <a:rect l="l" t="t" r="r" b="b"/>
              <a:pathLst>
                <a:path w="4333875" h="95250">
                  <a:moveTo>
                    <a:pt x="0" y="66675"/>
                  </a:moveTo>
                  <a:cubicBezTo>
                    <a:pt x="1285875" y="0"/>
                    <a:pt x="2667000" y="95250"/>
                    <a:pt x="4333875" y="9525"/>
                  </a:cubicBezTo>
                </a:path>
              </a:pathLst>
            </a:custGeom>
            <a:noFill/>
            <a:ln w="28575" cap="rnd">
              <a:solidFill>
                <a:schemeClr val="accent6"/>
              </a:solidFill>
            </a:ln>
          </p:spPr>
        </p:sp>
        <p:sp>
          <p:nvSpPr>
            <p:cNvPr id="17" name="TextBox 17"/>
            <p:cNvSpPr txBox="1"/>
            <p:nvPr/>
          </p:nvSpPr>
          <p:spPr>
            <a:xfrm>
              <a:off x="7079742" y="3673792"/>
              <a:ext cx="443986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seed=99 · 50 evals · 300 samples · 10 opt steps</a:t>
              </a:r>
            </a:p>
          </p:txBody>
        </p:sp>
        <p:sp>
          <p:nvSpPr>
            <p:cNvPr id="18" name="TextBox 18"/>
            <p:cNvSpPr txBox="1"/>
            <p:nvPr/>
          </p:nvSpPr>
          <p:spPr>
            <a:xfrm>
              <a:off x="7077456" y="3882390"/>
              <a:ext cx="3378708" cy="618744"/>
            </a:xfrm>
            <a:prstGeom prst="rect">
              <a:avLst/>
            </a:prstGeom>
            <a:noFill/>
            <a:ln>
              <a:noFill/>
            </a:ln>
          </p:spPr>
          <p:txBody>
            <a:bodyPr wrap="square" lIns="0" tIns="0" rIns="0" bIns="0" anchor="t" anchorCtr="0"/>
            <a:lstStyle/>
            <a:p>
              <a:pPr algn="l">
                <a:lnSpc>
                  <a:spcPts val="2100"/>
                </a:lnSpc>
              </a:pPr>
              <a:r>
                <a:rPr lang="zh-CN" sz="1800" b="1" dirty="0">
                  <a:solidFill>
                    <a:schemeClr val="accent2"/>
                  </a:solidFill>
                  <a:latin typeface="+mj-lt"/>
                  <a:ea typeface="+mj-ea"/>
                  <a:cs typeface="+mj-cs"/>
                </a:rPr>
                <a:t>我的理解：保留目标匹配几何，无需先重建每个像素。</a:t>
              </a:r>
            </a:p>
          </p:txBody>
        </p:sp>
      </p:grpSp>
      <p:grpSp>
        <p:nvGrpSpPr>
          <p:cNvPr id="23" name="Group 23"/>
          <p:cNvGrpSpPr/>
          <p:nvPr/>
        </p:nvGrpSpPr>
        <p:grpSpPr>
          <a:xfrm>
            <a:off x="457200" y="4591050"/>
            <a:ext cx="11229975" cy="1632775"/>
            <a:chOff x="457200" y="4591050"/>
            <a:chExt cx="11229975" cy="1632775"/>
          </a:xfrm>
        </p:grpSpPr>
        <p:sp>
          <p:nvSpPr>
            <p:cNvPr id="20" name="Freeform 20"/>
            <p:cNvSpPr/>
            <p:nvPr/>
          </p:nvSpPr>
          <p:spPr>
            <a:xfrm>
              <a:off x="457200" y="4591050"/>
              <a:ext cx="11229975" cy="1609725"/>
            </a:xfrm>
            <a:custGeom>
              <a:avLst/>
              <a:gdLst/>
              <a:ahLst/>
              <a:cxnLst/>
              <a:rect l="l" t="t" r="r" b="b"/>
              <a:pathLst>
                <a:path w="11229975" h="1609725">
                  <a:moveTo>
                    <a:pt x="47625" y="85725"/>
                  </a:moveTo>
                  <a:cubicBezTo>
                    <a:pt x="2809875" y="0"/>
                    <a:pt x="6962775" y="57150"/>
                    <a:pt x="11191875" y="123825"/>
                  </a:cubicBezTo>
                  <a:cubicBezTo>
                    <a:pt x="11229975" y="561975"/>
                    <a:pt x="11182350" y="1095375"/>
                    <a:pt x="11144250" y="1524000"/>
                  </a:cubicBezTo>
                  <a:cubicBezTo>
                    <a:pt x="7315200" y="1609725"/>
                    <a:pt x="3400425" y="1581150"/>
                    <a:pt x="57150" y="1504950"/>
                  </a:cubicBezTo>
                  <a:cubicBezTo>
                    <a:pt x="0" y="1057275"/>
                    <a:pt x="0" y="542925"/>
                    <a:pt x="47625" y="85725"/>
                  </a:cubicBezTo>
                  <a:close/>
                </a:path>
              </a:pathLst>
            </a:custGeom>
            <a:solidFill>
              <a:srgbClr val="FFFFFF"/>
            </a:solidFill>
            <a:ln w="28575" cap="rnd">
              <a:solidFill>
                <a:schemeClr val="accent1"/>
              </a:solidFill>
              <a:round/>
            </a:ln>
          </p:spPr>
        </p:sp>
        <p:pic>
          <p:nvPicPr>
            <p:cNvPr id="21" name="Image 21"/>
            <p:cNvPicPr>
              <a:picLocks noChangeAspect="1"/>
            </p:cNvPicPr>
            <p:nvPr/>
          </p:nvPicPr>
          <p:blipFill>
            <a:blip r:embed="rId3"/>
            <a:stretch>
              <a:fillRect/>
            </a:stretch>
          </p:blipFill>
          <p:spPr>
            <a:xfrm>
              <a:off x="4595717" y="4810125"/>
              <a:ext cx="3000566" cy="1143000"/>
            </a:xfrm>
            <a:prstGeom prst="rect">
              <a:avLst/>
            </a:prstGeom>
          </p:spPr>
        </p:pic>
        <p:sp>
          <p:nvSpPr>
            <p:cNvPr id="22" name="TextBox 22"/>
            <p:cNvSpPr txBox="1"/>
            <p:nvPr/>
          </p:nvSpPr>
          <p:spPr>
            <a:xfrm>
              <a:off x="717042" y="5959792"/>
              <a:ext cx="778696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j-lt"/>
                  <a:ea typeface="+mj-ea"/>
                  <a:cs typeface="+mj-cs"/>
                </a:rPr>
                <a:t>PushT / Wall 50 次评估曲线｜Wilson 95% CI：PushT [0.738, 0.930]；Wall [0.838, 0.979]</a:t>
              </a:r>
            </a:p>
          </p:txBody>
        </p:sp>
      </p:grpSp>
      <p:sp>
        <p:nvSpPr>
          <p:cNvPr id="24" name="TextBox 24"/>
          <p:cNvSpPr txBox="1"/>
          <p:nvPr/>
        </p:nvSpPr>
        <p:spPr>
          <a:xfrm>
            <a:off x="11508981" y="6407468"/>
            <a:ext cx="213627"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j-lt"/>
                <a:ea typeface="+mj-ea"/>
                <a:cs typeface="+mj-cs"/>
              </a:rPr>
              <a:t>04</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23672" y="378142"/>
            <a:ext cx="8654134" cy="557403"/>
            <a:chOff x="423672" y="378142"/>
            <a:chExt cx="8654134" cy="557403"/>
          </a:xfrm>
        </p:grpSpPr>
        <p:sp>
          <p:nvSpPr>
            <p:cNvPr id="2" name="TextBox 2"/>
            <p:cNvSpPr txBox="1"/>
            <p:nvPr/>
          </p:nvSpPr>
          <p:spPr>
            <a:xfrm>
              <a:off x="423672" y="378142"/>
              <a:ext cx="8654134"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j-lt"/>
                  <a:ea typeface="+mj-ea"/>
                  <a:cs typeface="+mj-cs"/>
                </a:rPr>
                <a:t>LeWM：更简洁的 JEPA 目标也能服务真实控制</a:t>
              </a:r>
            </a:p>
          </p:txBody>
        </p:sp>
        <p:sp>
          <p:nvSpPr>
            <p:cNvPr id="3" name="Freeform 3"/>
            <p:cNvSpPr/>
            <p:nvPr/>
          </p:nvSpPr>
          <p:spPr>
            <a:xfrm>
              <a:off x="466725" y="752475"/>
              <a:ext cx="8486775" cy="142875"/>
            </a:xfrm>
            <a:custGeom>
              <a:avLst/>
              <a:gdLst/>
              <a:ahLst/>
              <a:cxnLst/>
              <a:rect l="l" t="t" r="r" b="b"/>
              <a:pathLst>
                <a:path w="8486775" h="142875">
                  <a:moveTo>
                    <a:pt x="0" y="85725"/>
                  </a:moveTo>
                  <a:cubicBezTo>
                    <a:pt x="2562225" y="0"/>
                    <a:pt x="5476875" y="142875"/>
                    <a:pt x="8486775" y="47625"/>
                  </a:cubicBezTo>
                </a:path>
              </a:pathLst>
            </a:custGeom>
            <a:noFill/>
            <a:ln w="47625" cap="rnd">
              <a:solidFill>
                <a:schemeClr val="accent2"/>
              </a:solidFill>
            </a:ln>
          </p:spPr>
        </p:sp>
      </p:grpSp>
      <p:grpSp>
        <p:nvGrpSpPr>
          <p:cNvPr id="18" name="Group 18"/>
          <p:cNvGrpSpPr/>
          <p:nvPr/>
        </p:nvGrpSpPr>
        <p:grpSpPr>
          <a:xfrm>
            <a:off x="514350" y="1310640"/>
            <a:ext cx="3232556" cy="4998911"/>
            <a:chOff x="514350" y="1310640"/>
            <a:chExt cx="3232556" cy="4998911"/>
          </a:xfrm>
        </p:grpSpPr>
        <p:sp>
          <p:nvSpPr>
            <p:cNvPr id="5" name="TextBox 5"/>
            <p:cNvSpPr txBox="1"/>
            <p:nvPr/>
          </p:nvSpPr>
          <p:spPr>
            <a:xfrm>
              <a:off x="543306" y="1310640"/>
              <a:ext cx="2216915" cy="352044"/>
            </a:xfrm>
            <a:prstGeom prst="rect">
              <a:avLst/>
            </a:prstGeom>
            <a:noFill/>
            <a:ln>
              <a:noFill/>
            </a:ln>
          </p:spPr>
          <p:txBody>
            <a:bodyPr wrap="none" lIns="0" tIns="0" rIns="0" bIns="0" anchor="t" anchorCtr="0">
              <a:spAutoFit/>
            </a:bodyPr>
            <a:lstStyle/>
            <a:p>
              <a:pPr algn="l"/>
              <a:r>
                <a:rPr lang="zh-CN" sz="1800" b="1" dirty="0">
                  <a:solidFill>
                    <a:schemeClr val="accent3"/>
                  </a:solidFill>
                  <a:latin typeface="+mj-lt"/>
                  <a:ea typeface="+mj-ea"/>
                  <a:cs typeface="+mj-cs"/>
                </a:rPr>
                <a:t>官方权重 · Push-T</a:t>
              </a:r>
            </a:p>
          </p:txBody>
        </p:sp>
        <p:sp>
          <p:nvSpPr>
            <p:cNvPr id="6" name="TextBox 6"/>
            <p:cNvSpPr txBox="1"/>
            <p:nvPr/>
          </p:nvSpPr>
          <p:spPr>
            <a:xfrm>
              <a:off x="533400" y="1750695"/>
              <a:ext cx="1450196" cy="1047750"/>
            </a:xfrm>
            <a:prstGeom prst="rect">
              <a:avLst/>
            </a:prstGeom>
            <a:noFill/>
            <a:ln>
              <a:noFill/>
            </a:ln>
          </p:spPr>
          <p:txBody>
            <a:bodyPr wrap="none" lIns="0" tIns="0" rIns="0" bIns="0" anchor="t" anchorCtr="0">
              <a:spAutoFit/>
            </a:bodyPr>
            <a:lstStyle/>
            <a:p>
              <a:pPr algn="l"/>
              <a:r>
                <a:rPr lang="en-US" sz="5400" b="1" dirty="0">
                  <a:solidFill>
                    <a:schemeClr val="accent2"/>
                  </a:solidFill>
                  <a:latin typeface="Consolas"/>
                  <a:ea typeface="Consolas"/>
                  <a:cs typeface="Consolas"/>
                </a:rPr>
                <a:t>96%</a:t>
              </a:r>
            </a:p>
          </p:txBody>
        </p:sp>
        <p:sp>
          <p:nvSpPr>
            <p:cNvPr id="7" name="TextBox 7"/>
            <p:cNvSpPr txBox="1"/>
            <p:nvPr/>
          </p:nvSpPr>
          <p:spPr>
            <a:xfrm>
              <a:off x="540258" y="2474595"/>
              <a:ext cx="2820253"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48 / 50 episodes</a:t>
              </a:r>
            </a:p>
          </p:txBody>
        </p:sp>
        <p:sp>
          <p:nvSpPr>
            <p:cNvPr id="8" name="TextBox 8"/>
            <p:cNvSpPr txBox="1"/>
            <p:nvPr/>
          </p:nvSpPr>
          <p:spPr>
            <a:xfrm>
              <a:off x="543306" y="2939415"/>
              <a:ext cx="1784909"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耗时 363.62 秒</a:t>
              </a:r>
            </a:p>
          </p:txBody>
        </p:sp>
        <p:sp>
          <p:nvSpPr>
            <p:cNvPr id="9" name="Freeform 9"/>
            <p:cNvSpPr/>
            <p:nvPr/>
          </p:nvSpPr>
          <p:spPr>
            <a:xfrm>
              <a:off x="552450" y="3305175"/>
              <a:ext cx="2533650" cy="114300"/>
            </a:xfrm>
            <a:custGeom>
              <a:avLst/>
              <a:gdLst/>
              <a:ahLst/>
              <a:cxnLst/>
              <a:rect l="l" t="t" r="r" b="b"/>
              <a:pathLst>
                <a:path w="2533650" h="114300">
                  <a:moveTo>
                    <a:pt x="0" y="85725"/>
                  </a:moveTo>
                  <a:cubicBezTo>
                    <a:pt x="781050" y="0"/>
                    <a:pt x="1628775" y="114300"/>
                    <a:pt x="2533650" y="28575"/>
                  </a:cubicBezTo>
                </a:path>
              </a:pathLst>
            </a:custGeom>
            <a:noFill/>
            <a:ln w="28575" cap="rnd">
              <a:solidFill>
                <a:schemeClr val="accent6"/>
              </a:solidFill>
            </a:ln>
          </p:spPr>
        </p:sp>
        <p:sp>
          <p:nvSpPr>
            <p:cNvPr id="10" name="TextBox 10"/>
            <p:cNvSpPr txBox="1"/>
            <p:nvPr/>
          </p:nvSpPr>
          <p:spPr>
            <a:xfrm>
              <a:off x="543306" y="355854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j-lt"/>
                  <a:ea typeface="+mj-ea"/>
                  <a:cs typeface="+mj-cs"/>
                </a:rPr>
                <a:t>我验证的层级</a:t>
              </a:r>
            </a:p>
          </p:txBody>
        </p:sp>
        <p:sp>
          <p:nvSpPr>
            <p:cNvPr id="11" name="TextBox 11"/>
            <p:cNvSpPr txBox="1"/>
            <p:nvPr/>
          </p:nvSpPr>
          <p:spPr>
            <a:xfrm>
              <a:off x="545592" y="4026218"/>
              <a:ext cx="226999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 权重哈希 + strict load</a:t>
              </a:r>
            </a:p>
          </p:txBody>
        </p:sp>
        <p:sp>
          <p:nvSpPr>
            <p:cNvPr id="12" name="TextBox 12"/>
            <p:cNvSpPr txBox="1"/>
            <p:nvPr/>
          </p:nvSpPr>
          <p:spPr>
            <a:xfrm>
              <a:off x="545592" y="4397692"/>
              <a:ext cx="179953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 损失有限且可反传</a:t>
              </a:r>
            </a:p>
          </p:txBody>
        </p:sp>
        <p:sp>
          <p:nvSpPr>
            <p:cNvPr id="13" name="TextBox 13"/>
            <p:cNvSpPr txBox="1"/>
            <p:nvPr/>
          </p:nvSpPr>
          <p:spPr>
            <a:xfrm>
              <a:off x="545592" y="4769168"/>
              <a:ext cx="210246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 loaders + MPC cost</a:t>
              </a:r>
            </a:p>
          </p:txBody>
        </p:sp>
        <p:sp>
          <p:nvSpPr>
            <p:cNvPr id="14" name="TextBox 14"/>
            <p:cNvSpPr txBox="1"/>
            <p:nvPr/>
          </p:nvSpPr>
          <p:spPr>
            <a:xfrm>
              <a:off x="545592" y="5140642"/>
              <a:ext cx="320131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 train batch + checkpoint reload</a:t>
              </a:r>
            </a:p>
          </p:txBody>
        </p:sp>
        <p:sp>
          <p:nvSpPr>
            <p:cNvPr id="15" name="Freeform 15"/>
            <p:cNvSpPr/>
            <p:nvPr/>
          </p:nvSpPr>
          <p:spPr>
            <a:xfrm>
              <a:off x="514350" y="5372100"/>
              <a:ext cx="2628900" cy="209550"/>
            </a:xfrm>
            <a:custGeom>
              <a:avLst/>
              <a:gdLst/>
              <a:ahLst/>
              <a:cxnLst/>
              <a:rect l="l" t="t" r="r" b="b"/>
              <a:pathLst>
                <a:path w="2628900" h="209550">
                  <a:moveTo>
                    <a:pt x="0" y="133350"/>
                  </a:moveTo>
                  <a:cubicBezTo>
                    <a:pt x="723900" y="0"/>
                    <a:pt x="1790700" y="57150"/>
                    <a:pt x="2628900" y="209550"/>
                  </a:cubicBezTo>
                </a:path>
              </a:pathLst>
            </a:custGeom>
            <a:noFill/>
            <a:ln w="38100" cap="rnd">
              <a:solidFill>
                <a:schemeClr val="accent2"/>
              </a:solidFill>
            </a:ln>
          </p:spPr>
        </p:sp>
        <p:sp>
          <p:nvSpPr>
            <p:cNvPr id="16" name="TextBox 16"/>
            <p:cNvSpPr txBox="1"/>
            <p:nvPr/>
          </p:nvSpPr>
          <p:spPr>
            <a:xfrm>
              <a:off x="545592" y="5750242"/>
              <a:ext cx="268525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j-lt"/>
                  <a:ea typeface="+mj-ea"/>
                  <a:cs typeface="+mj-cs"/>
                </a:rPr>
                <a:t>理解：预测嵌入到目标的距离，</a:t>
              </a:r>
            </a:p>
          </p:txBody>
        </p:sp>
        <p:sp>
          <p:nvSpPr>
            <p:cNvPr id="17" name="TextBox 17"/>
            <p:cNvSpPr txBox="1"/>
            <p:nvPr/>
          </p:nvSpPr>
          <p:spPr>
            <a:xfrm>
              <a:off x="545592" y="6045518"/>
              <a:ext cx="268353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本身就能成为 MPC 代价。</a:t>
              </a:r>
            </a:p>
          </p:txBody>
        </p:sp>
      </p:grpSp>
      <p:grpSp>
        <p:nvGrpSpPr>
          <p:cNvPr id="22" name="Group 22"/>
          <p:cNvGrpSpPr/>
          <p:nvPr/>
        </p:nvGrpSpPr>
        <p:grpSpPr>
          <a:xfrm>
            <a:off x="3600450" y="1057275"/>
            <a:ext cx="8096250" cy="3343275"/>
            <a:chOff x="3600450" y="1057275"/>
            <a:chExt cx="8096250" cy="3343275"/>
          </a:xfrm>
        </p:grpSpPr>
        <p:sp>
          <p:nvSpPr>
            <p:cNvPr id="19" name="Freeform 19"/>
            <p:cNvSpPr/>
            <p:nvPr/>
          </p:nvSpPr>
          <p:spPr>
            <a:xfrm>
              <a:off x="3600450" y="1057275"/>
              <a:ext cx="8096250" cy="3343275"/>
            </a:xfrm>
            <a:custGeom>
              <a:avLst/>
              <a:gdLst/>
              <a:ahLst/>
              <a:cxnLst/>
              <a:rect l="l" t="t" r="r" b="b"/>
              <a:pathLst>
                <a:path w="8096250" h="3343275">
                  <a:moveTo>
                    <a:pt x="85725" y="85725"/>
                  </a:moveTo>
                  <a:cubicBezTo>
                    <a:pt x="2190750" y="0"/>
                    <a:pt x="5162550" y="47625"/>
                    <a:pt x="8058150" y="123825"/>
                  </a:cubicBezTo>
                  <a:cubicBezTo>
                    <a:pt x="8096250" y="1133475"/>
                    <a:pt x="8077200" y="2219325"/>
                    <a:pt x="8010525" y="3267075"/>
                  </a:cubicBezTo>
                  <a:cubicBezTo>
                    <a:pt x="5238750" y="3343275"/>
                    <a:pt x="2581275" y="3324225"/>
                    <a:pt x="76200" y="3228975"/>
                  </a:cubicBezTo>
                  <a:cubicBezTo>
                    <a:pt x="0" y="2209800"/>
                    <a:pt x="19050" y="1076325"/>
                    <a:pt x="85725" y="85725"/>
                  </a:cubicBezTo>
                  <a:close/>
                </a:path>
              </a:pathLst>
            </a:custGeom>
            <a:solidFill>
              <a:srgbClr val="FFFFFF"/>
            </a:solidFill>
            <a:ln w="28575" cap="rnd">
              <a:solidFill>
                <a:schemeClr val="accent1"/>
              </a:solidFill>
              <a:round/>
            </a:ln>
          </p:spPr>
        </p:sp>
        <p:pic>
          <p:nvPicPr>
            <p:cNvPr id="20" name="Image 20"/>
            <p:cNvPicPr>
              <a:picLocks noChangeAspect="1"/>
            </p:cNvPicPr>
            <p:nvPr/>
          </p:nvPicPr>
          <p:blipFill>
            <a:blip r:embed="rId2"/>
            <a:stretch>
              <a:fillRect/>
            </a:stretch>
          </p:blipFill>
          <p:spPr>
            <a:xfrm>
              <a:off x="5298218" y="1285875"/>
              <a:ext cx="4738814" cy="2667000"/>
            </a:xfrm>
            <a:prstGeom prst="rect">
              <a:avLst/>
            </a:prstGeom>
          </p:spPr>
        </p:pic>
        <p:sp>
          <p:nvSpPr>
            <p:cNvPr id="21" name="TextBox 21"/>
            <p:cNvSpPr txBox="1"/>
            <p:nvPr/>
          </p:nvSpPr>
          <p:spPr>
            <a:xfrm>
              <a:off x="3850767" y="4073842"/>
              <a:ext cx="581815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j-lt"/>
                  <a:ea typeface="+mj-ea"/>
                  <a:cs typeface="+mj-cs"/>
                </a:rPr>
                <a:t>复现链路：权重验证 → 编码器接口 → MSE + SIGReg → MPC → 训练回载</a:t>
              </a:r>
            </a:p>
          </p:txBody>
        </p:sp>
      </p:grpSp>
      <p:grpSp>
        <p:nvGrpSpPr>
          <p:cNvPr id="26" name="Group 26"/>
          <p:cNvGrpSpPr/>
          <p:nvPr/>
        </p:nvGrpSpPr>
        <p:grpSpPr>
          <a:xfrm>
            <a:off x="3609975" y="4514850"/>
            <a:ext cx="8077200" cy="1680401"/>
            <a:chOff x="3609975" y="4514850"/>
            <a:chExt cx="8077200" cy="1680401"/>
          </a:xfrm>
        </p:grpSpPr>
        <p:sp>
          <p:nvSpPr>
            <p:cNvPr id="23" name="Freeform 23"/>
            <p:cNvSpPr/>
            <p:nvPr/>
          </p:nvSpPr>
          <p:spPr>
            <a:xfrm>
              <a:off x="3609975" y="4514850"/>
              <a:ext cx="8077200" cy="1647825"/>
            </a:xfrm>
            <a:custGeom>
              <a:avLst/>
              <a:gdLst/>
              <a:ahLst/>
              <a:cxnLst/>
              <a:rect l="l" t="t" r="r" b="b"/>
              <a:pathLst>
                <a:path w="8077200" h="1647825">
                  <a:moveTo>
                    <a:pt x="85725" y="104775"/>
                  </a:moveTo>
                  <a:cubicBezTo>
                    <a:pt x="2209800" y="0"/>
                    <a:pt x="5210175" y="76200"/>
                    <a:pt x="8029575" y="142875"/>
                  </a:cubicBezTo>
                  <a:cubicBezTo>
                    <a:pt x="8077200" y="609600"/>
                    <a:pt x="8048625" y="1114425"/>
                    <a:pt x="7991475" y="1562100"/>
                  </a:cubicBezTo>
                  <a:cubicBezTo>
                    <a:pt x="5153025" y="1647825"/>
                    <a:pt x="2562225" y="1619250"/>
                    <a:pt x="66675" y="1533525"/>
                  </a:cubicBezTo>
                  <a:cubicBezTo>
                    <a:pt x="0" y="1057275"/>
                    <a:pt x="19050" y="542925"/>
                    <a:pt x="85725" y="104775"/>
                  </a:cubicBezTo>
                  <a:close/>
                </a:path>
              </a:pathLst>
            </a:custGeom>
            <a:solidFill>
              <a:srgbClr val="FFFFFF"/>
            </a:solidFill>
            <a:ln w="28575" cap="rnd">
              <a:solidFill>
                <a:schemeClr val="accent1"/>
              </a:solidFill>
              <a:round/>
            </a:ln>
          </p:spPr>
        </p:sp>
        <p:pic>
          <p:nvPicPr>
            <p:cNvPr id="24" name="Image 24"/>
            <p:cNvPicPr>
              <a:picLocks noChangeAspect="1"/>
            </p:cNvPicPr>
            <p:nvPr/>
          </p:nvPicPr>
          <p:blipFill>
            <a:blip r:embed="rId3"/>
            <a:stretch>
              <a:fillRect/>
            </a:stretch>
          </p:blipFill>
          <p:spPr>
            <a:xfrm>
              <a:off x="6260042" y="4762500"/>
              <a:ext cx="2872317" cy="1123950"/>
            </a:xfrm>
            <a:prstGeom prst="rect">
              <a:avLst/>
            </a:prstGeom>
          </p:spPr>
        </p:pic>
        <p:sp>
          <p:nvSpPr>
            <p:cNvPr id="25" name="TextBox 25"/>
            <p:cNvSpPr txBox="1"/>
            <p:nvPr/>
          </p:nvSpPr>
          <p:spPr>
            <a:xfrm>
              <a:off x="3850767" y="5931218"/>
              <a:ext cx="445557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j-lt"/>
                  <a:ea typeface="+mj-ea"/>
                  <a:cs typeface="+mj-cs"/>
                </a:rPr>
                <a:t>真实 Push-T 评估首帧｜画面、标签与结果条完整保留</a:t>
              </a:r>
            </a:p>
          </p:txBody>
        </p:sp>
      </p:grpSp>
      <p:sp>
        <p:nvSpPr>
          <p:cNvPr id="27" name="TextBox 27"/>
          <p:cNvSpPr txBox="1"/>
          <p:nvPr/>
        </p:nvSpPr>
        <p:spPr>
          <a:xfrm>
            <a:off x="11508981" y="6407468"/>
            <a:ext cx="213627"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j-lt"/>
                <a:ea typeface="+mj-ea"/>
                <a:cs typeface="+mj-cs"/>
              </a:rPr>
              <a:t>05</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23672" y="359092"/>
            <a:ext cx="10159502" cy="557403"/>
            <a:chOff x="423672" y="359092"/>
            <a:chExt cx="10159502" cy="557403"/>
          </a:xfrm>
        </p:grpSpPr>
        <p:sp>
          <p:nvSpPr>
            <p:cNvPr id="2" name="TextBox 2"/>
            <p:cNvSpPr txBox="1"/>
            <p:nvPr/>
          </p:nvSpPr>
          <p:spPr>
            <a:xfrm>
              <a:off x="423672" y="359092"/>
              <a:ext cx="10159502"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j-lt"/>
                  <a:ea typeface="+mj-ea"/>
                  <a:cs typeface="+mj-cs"/>
                </a:rPr>
                <a:t>Δ-IRIS：未来不是一张最好看的图，而是一组条件分布</a:t>
              </a:r>
            </a:p>
          </p:txBody>
        </p:sp>
        <p:sp>
          <p:nvSpPr>
            <p:cNvPr id="3" name="Freeform 3"/>
            <p:cNvSpPr/>
            <p:nvPr/>
          </p:nvSpPr>
          <p:spPr>
            <a:xfrm>
              <a:off x="466725" y="723900"/>
              <a:ext cx="9820275" cy="180975"/>
            </a:xfrm>
            <a:custGeom>
              <a:avLst/>
              <a:gdLst/>
              <a:ahLst/>
              <a:cxnLst/>
              <a:rect l="l" t="t" r="r" b="b"/>
              <a:pathLst>
                <a:path w="9820275" h="180975">
                  <a:moveTo>
                    <a:pt x="0" y="104775"/>
                  </a:moveTo>
                  <a:cubicBezTo>
                    <a:pt x="2447925" y="0"/>
                    <a:pt x="5838825" y="180975"/>
                    <a:pt x="9820275" y="66675"/>
                  </a:cubicBezTo>
                </a:path>
              </a:pathLst>
            </a:custGeom>
            <a:noFill/>
            <a:ln w="47625" cap="rnd">
              <a:solidFill>
                <a:schemeClr val="accent2"/>
              </a:solidFill>
            </a:ln>
          </p:spPr>
        </p:sp>
      </p:grpSp>
      <p:grpSp>
        <p:nvGrpSpPr>
          <p:cNvPr id="8" name="Group 8"/>
          <p:cNvGrpSpPr/>
          <p:nvPr/>
        </p:nvGrpSpPr>
        <p:grpSpPr>
          <a:xfrm>
            <a:off x="438150" y="1028700"/>
            <a:ext cx="8591550" cy="2343150"/>
            <a:chOff x="438150" y="1028700"/>
            <a:chExt cx="8591550" cy="2343150"/>
          </a:xfrm>
        </p:grpSpPr>
        <p:sp>
          <p:nvSpPr>
            <p:cNvPr id="5" name="Freeform 5"/>
            <p:cNvSpPr/>
            <p:nvPr/>
          </p:nvSpPr>
          <p:spPr>
            <a:xfrm>
              <a:off x="438150" y="1028700"/>
              <a:ext cx="8591550" cy="2343150"/>
            </a:xfrm>
            <a:custGeom>
              <a:avLst/>
              <a:gdLst/>
              <a:ahLst/>
              <a:cxnLst/>
              <a:rect l="l" t="t" r="r" b="b"/>
              <a:pathLst>
                <a:path w="8591550" h="2343150">
                  <a:moveTo>
                    <a:pt x="66675" y="85725"/>
                  </a:moveTo>
                  <a:cubicBezTo>
                    <a:pt x="2371725" y="0"/>
                    <a:pt x="5514975" y="47625"/>
                    <a:pt x="8524875" y="114300"/>
                  </a:cubicBezTo>
                  <a:cubicBezTo>
                    <a:pt x="8591550" y="733425"/>
                    <a:pt x="8572500" y="1571625"/>
                    <a:pt x="8515350" y="2257425"/>
                  </a:cubicBezTo>
                  <a:cubicBezTo>
                    <a:pt x="5495925" y="2343150"/>
                    <a:pt x="2533650" y="2314575"/>
                    <a:pt x="66675" y="2228850"/>
                  </a:cubicBezTo>
                  <a:cubicBezTo>
                    <a:pt x="0" y="1600200"/>
                    <a:pt x="9525" y="714375"/>
                    <a:pt x="66675" y="85725"/>
                  </a:cubicBezTo>
                  <a:close/>
                </a:path>
              </a:pathLst>
            </a:custGeom>
            <a:solidFill>
              <a:srgbClr val="FFFFFF"/>
            </a:solidFill>
            <a:ln w="28575" cap="rnd">
              <a:solidFill>
                <a:schemeClr val="accent1"/>
              </a:solidFill>
              <a:round/>
            </a:ln>
          </p:spPr>
        </p:sp>
        <p:pic>
          <p:nvPicPr>
            <p:cNvPr id="6" name="Image 6"/>
            <p:cNvPicPr>
              <a:picLocks noChangeAspect="1"/>
            </p:cNvPicPr>
            <p:nvPr/>
          </p:nvPicPr>
          <p:blipFill>
            <a:blip r:embed="rId2"/>
            <a:stretch>
              <a:fillRect/>
            </a:stretch>
          </p:blipFill>
          <p:spPr>
            <a:xfrm>
              <a:off x="2045973" y="1257300"/>
              <a:ext cx="5433053" cy="1657350"/>
            </a:xfrm>
            <a:prstGeom prst="rect">
              <a:avLst/>
            </a:prstGeom>
          </p:spPr>
        </p:pic>
        <p:sp>
          <p:nvSpPr>
            <p:cNvPr id="7" name="TextBox 7"/>
            <p:cNvSpPr txBox="1"/>
            <p:nvPr/>
          </p:nvSpPr>
          <p:spPr>
            <a:xfrm>
              <a:off x="678942" y="3035618"/>
              <a:ext cx="497539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j-lt"/>
                  <a:ea typeface="+mj-ea"/>
                  <a:cs typeface="+mj-cs"/>
                </a:rPr>
                <a:t>Tokenizer 条件重建｜MAE 0.00043786 · PSNR 57.5892 dB</a:t>
              </a:r>
            </a:p>
          </p:txBody>
        </p:sp>
      </p:grpSp>
      <p:grpSp>
        <p:nvGrpSpPr>
          <p:cNvPr id="14" name="Group 14"/>
          <p:cNvGrpSpPr/>
          <p:nvPr/>
        </p:nvGrpSpPr>
        <p:grpSpPr>
          <a:xfrm>
            <a:off x="9277350" y="1038225"/>
            <a:ext cx="2324100" cy="2257425"/>
            <a:chOff x="9277350" y="1038225"/>
            <a:chExt cx="2324100" cy="2257425"/>
          </a:xfrm>
        </p:grpSpPr>
        <p:sp>
          <p:nvSpPr>
            <p:cNvPr id="9" name="Freeform 9"/>
            <p:cNvSpPr/>
            <p:nvPr/>
          </p:nvSpPr>
          <p:spPr>
            <a:xfrm>
              <a:off x="9277350" y="1038225"/>
              <a:ext cx="2324100" cy="2257425"/>
            </a:xfrm>
            <a:custGeom>
              <a:avLst/>
              <a:gdLst/>
              <a:ahLst/>
              <a:cxnLst/>
              <a:rect l="l" t="t" r="r" b="b"/>
              <a:pathLst>
                <a:path w="2324100" h="2257425">
                  <a:moveTo>
                    <a:pt x="142875" y="161925"/>
                  </a:moveTo>
                  <a:cubicBezTo>
                    <a:pt x="781050" y="0"/>
                    <a:pt x="1771650" y="66675"/>
                    <a:pt x="2276475" y="323850"/>
                  </a:cubicBezTo>
                  <a:cubicBezTo>
                    <a:pt x="2324100" y="962025"/>
                    <a:pt x="2247900" y="1609725"/>
                    <a:pt x="2057400" y="2095500"/>
                  </a:cubicBezTo>
                  <a:cubicBezTo>
                    <a:pt x="1304925" y="2257425"/>
                    <a:pt x="571500" y="2143125"/>
                    <a:pt x="161925" y="1885950"/>
                  </a:cubicBezTo>
                  <a:cubicBezTo>
                    <a:pt x="0" y="1323975"/>
                    <a:pt x="19050" y="657225"/>
                    <a:pt x="142875" y="161925"/>
                  </a:cubicBezTo>
                  <a:close/>
                </a:path>
              </a:pathLst>
            </a:custGeom>
            <a:solidFill>
              <a:schemeClr val="lt2">
                <a:alpha val="66000"/>
              </a:schemeClr>
            </a:solidFill>
            <a:ln w="38100" cap="rnd">
              <a:solidFill>
                <a:schemeClr val="accent2"/>
              </a:solidFill>
              <a:round/>
            </a:ln>
          </p:spPr>
        </p:sp>
        <p:sp>
          <p:nvSpPr>
            <p:cNvPr id="10" name="TextBox 10"/>
            <p:cNvSpPr txBox="1"/>
            <p:nvPr/>
          </p:nvSpPr>
          <p:spPr>
            <a:xfrm>
              <a:off x="9592056" y="1434465"/>
              <a:ext cx="1328612"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j-lt"/>
                  <a:ea typeface="+mj-ea"/>
                  <a:cs typeface="+mj-cs"/>
                </a:rPr>
                <a:t>重建 ≠ 预测</a:t>
              </a:r>
            </a:p>
          </p:txBody>
        </p:sp>
        <p:sp>
          <p:nvSpPr>
            <p:cNvPr id="11" name="TextBox 11"/>
            <p:cNvSpPr txBox="1"/>
            <p:nvPr/>
          </p:nvSpPr>
          <p:spPr>
            <a:xfrm>
              <a:off x="9594342" y="1892618"/>
              <a:ext cx="116586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编码器看到了</a:t>
              </a:r>
            </a:p>
          </p:txBody>
        </p:sp>
        <p:sp>
          <p:nvSpPr>
            <p:cNvPr id="12" name="TextBox 12"/>
            <p:cNvSpPr txBox="1"/>
            <p:nvPr/>
          </p:nvSpPr>
          <p:spPr>
            <a:xfrm>
              <a:off x="9594342" y="2235518"/>
              <a:ext cx="116586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真实下一帧，</a:t>
              </a:r>
            </a:p>
          </p:txBody>
        </p:sp>
        <p:sp>
          <p:nvSpPr>
            <p:cNvPr id="13" name="TextBox 13"/>
            <p:cNvSpPr txBox="1"/>
            <p:nvPr/>
          </p:nvSpPr>
          <p:spPr>
            <a:xfrm>
              <a:off x="9594342" y="2578418"/>
              <a:ext cx="154990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只验证压缩质量。</a:t>
              </a:r>
            </a:p>
          </p:txBody>
        </p:sp>
      </p:grpSp>
      <p:grpSp>
        <p:nvGrpSpPr>
          <p:cNvPr id="18" name="Group 18"/>
          <p:cNvGrpSpPr/>
          <p:nvPr/>
        </p:nvGrpSpPr>
        <p:grpSpPr>
          <a:xfrm>
            <a:off x="438150" y="3590925"/>
            <a:ext cx="8591550" cy="2352675"/>
            <a:chOff x="438150" y="3590925"/>
            <a:chExt cx="8591550" cy="2352675"/>
          </a:xfrm>
        </p:grpSpPr>
        <p:sp>
          <p:nvSpPr>
            <p:cNvPr id="15" name="Freeform 15"/>
            <p:cNvSpPr/>
            <p:nvPr/>
          </p:nvSpPr>
          <p:spPr>
            <a:xfrm>
              <a:off x="438150" y="3590925"/>
              <a:ext cx="8591550" cy="2352675"/>
            </a:xfrm>
            <a:custGeom>
              <a:avLst/>
              <a:gdLst/>
              <a:ahLst/>
              <a:cxnLst/>
              <a:rect l="l" t="t" r="r" b="b"/>
              <a:pathLst>
                <a:path w="8591550" h="2352675">
                  <a:moveTo>
                    <a:pt x="66675" y="95250"/>
                  </a:moveTo>
                  <a:cubicBezTo>
                    <a:pt x="2381250" y="0"/>
                    <a:pt x="5534025" y="57150"/>
                    <a:pt x="8524875" y="133350"/>
                  </a:cubicBezTo>
                  <a:cubicBezTo>
                    <a:pt x="8591550" y="771525"/>
                    <a:pt x="8572500" y="1562100"/>
                    <a:pt x="8515350" y="2266950"/>
                  </a:cubicBezTo>
                  <a:cubicBezTo>
                    <a:pt x="5505450" y="2352675"/>
                    <a:pt x="2543175" y="2314575"/>
                    <a:pt x="66675" y="2238375"/>
                  </a:cubicBezTo>
                  <a:cubicBezTo>
                    <a:pt x="0" y="1600200"/>
                    <a:pt x="9525" y="742950"/>
                    <a:pt x="66675" y="95250"/>
                  </a:cubicBezTo>
                  <a:close/>
                </a:path>
              </a:pathLst>
            </a:custGeom>
            <a:solidFill>
              <a:srgbClr val="FFFFFF"/>
            </a:solidFill>
            <a:ln w="28575" cap="rnd">
              <a:solidFill>
                <a:schemeClr val="accent1"/>
              </a:solidFill>
              <a:round/>
            </a:ln>
          </p:spPr>
        </p:sp>
        <p:pic>
          <p:nvPicPr>
            <p:cNvPr id="16" name="Image 16"/>
            <p:cNvPicPr>
              <a:picLocks noChangeAspect="1"/>
            </p:cNvPicPr>
            <p:nvPr/>
          </p:nvPicPr>
          <p:blipFill>
            <a:blip r:embed="rId3"/>
            <a:stretch>
              <a:fillRect/>
            </a:stretch>
          </p:blipFill>
          <p:spPr>
            <a:xfrm>
              <a:off x="2095467" y="3829050"/>
              <a:ext cx="5334065" cy="1657350"/>
            </a:xfrm>
            <a:prstGeom prst="rect">
              <a:avLst/>
            </a:prstGeom>
          </p:spPr>
        </p:pic>
        <p:sp>
          <p:nvSpPr>
            <p:cNvPr id="17" name="TextBox 17"/>
            <p:cNvSpPr txBox="1"/>
            <p:nvPr/>
          </p:nvSpPr>
          <p:spPr>
            <a:xfrm>
              <a:off x="678942" y="5607368"/>
              <a:ext cx="515481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j-lt"/>
                  <a:ea typeface="+mj-ea"/>
                  <a:cs typeface="+mj-cs"/>
                </a:rPr>
                <a:t>World model 单步想象｜MAE 0.00358743 · PSNR 30.4654 dB</a:t>
              </a:r>
            </a:p>
          </p:txBody>
        </p:sp>
      </p:grpSp>
      <p:grpSp>
        <p:nvGrpSpPr>
          <p:cNvPr id="25" name="Group 25"/>
          <p:cNvGrpSpPr/>
          <p:nvPr/>
        </p:nvGrpSpPr>
        <p:grpSpPr>
          <a:xfrm>
            <a:off x="9277350" y="3619500"/>
            <a:ext cx="2324100" cy="2295525"/>
            <a:chOff x="9277350" y="3619500"/>
            <a:chExt cx="2324100" cy="2295525"/>
          </a:xfrm>
        </p:grpSpPr>
        <p:sp>
          <p:nvSpPr>
            <p:cNvPr id="19" name="Freeform 19"/>
            <p:cNvSpPr/>
            <p:nvPr/>
          </p:nvSpPr>
          <p:spPr>
            <a:xfrm>
              <a:off x="9277350" y="3619500"/>
              <a:ext cx="2324100" cy="2295525"/>
            </a:xfrm>
            <a:custGeom>
              <a:avLst/>
              <a:gdLst/>
              <a:ahLst/>
              <a:cxnLst/>
              <a:rect l="l" t="t" r="r" b="b"/>
              <a:pathLst>
                <a:path w="2324100" h="2295525">
                  <a:moveTo>
                    <a:pt x="142875" y="161925"/>
                  </a:moveTo>
                  <a:cubicBezTo>
                    <a:pt x="838200" y="0"/>
                    <a:pt x="1800225" y="76200"/>
                    <a:pt x="2266950" y="333375"/>
                  </a:cubicBezTo>
                  <a:cubicBezTo>
                    <a:pt x="2324100" y="990600"/>
                    <a:pt x="2238375" y="1647825"/>
                    <a:pt x="2038350" y="2152650"/>
                  </a:cubicBezTo>
                  <a:cubicBezTo>
                    <a:pt x="1304925" y="2295525"/>
                    <a:pt x="571500" y="2200275"/>
                    <a:pt x="161925" y="1924050"/>
                  </a:cubicBezTo>
                  <a:cubicBezTo>
                    <a:pt x="0" y="1352550"/>
                    <a:pt x="19050" y="676275"/>
                    <a:pt x="142875" y="161925"/>
                  </a:cubicBezTo>
                  <a:close/>
                </a:path>
              </a:pathLst>
            </a:custGeom>
            <a:solidFill>
              <a:schemeClr val="lt2">
                <a:alpha val="66000"/>
              </a:schemeClr>
            </a:solidFill>
            <a:ln w="38100" cap="rnd">
              <a:solidFill>
                <a:schemeClr val="accent3"/>
              </a:solidFill>
              <a:round/>
            </a:ln>
          </p:spPr>
        </p:sp>
        <p:sp>
          <p:nvSpPr>
            <p:cNvPr id="20" name="TextBox 20"/>
            <p:cNvSpPr txBox="1"/>
            <p:nvPr/>
          </p:nvSpPr>
          <p:spPr>
            <a:xfrm>
              <a:off x="9592056" y="4015740"/>
              <a:ext cx="1036015" cy="352044"/>
            </a:xfrm>
            <a:prstGeom prst="rect">
              <a:avLst/>
            </a:prstGeom>
            <a:noFill/>
            <a:ln>
              <a:noFill/>
            </a:ln>
          </p:spPr>
          <p:txBody>
            <a:bodyPr wrap="none" lIns="0" tIns="0" rIns="0" bIns="0" anchor="t" anchorCtr="0">
              <a:spAutoFit/>
            </a:bodyPr>
            <a:lstStyle/>
            <a:p>
              <a:pPr algn="l"/>
              <a:r>
                <a:rPr lang="zh-CN" sz="1800" b="1" dirty="0">
                  <a:solidFill>
                    <a:schemeClr val="accent3"/>
                  </a:solidFill>
                  <a:latin typeface="+mj-lt"/>
                  <a:ea typeface="+mj-ea"/>
                  <a:cs typeface="+mj-cs"/>
                </a:rPr>
                <a:t>我的理解</a:t>
              </a:r>
            </a:p>
          </p:txBody>
        </p:sp>
        <p:sp>
          <p:nvSpPr>
            <p:cNvPr id="21" name="TextBox 21"/>
            <p:cNvSpPr txBox="1"/>
            <p:nvPr/>
          </p:nvSpPr>
          <p:spPr>
            <a:xfrm>
              <a:off x="9594342" y="4464368"/>
              <a:ext cx="116586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随机实体误差</a:t>
              </a:r>
            </a:p>
          </p:txBody>
        </p:sp>
        <p:sp>
          <p:nvSpPr>
            <p:cNvPr id="22" name="TextBox 22"/>
            <p:cNvSpPr txBox="1"/>
            <p:nvPr/>
          </p:nvSpPr>
          <p:spPr>
            <a:xfrm>
              <a:off x="9594342" y="4807268"/>
              <a:ext cx="174193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应按条件分布解释；</a:t>
              </a:r>
            </a:p>
          </p:txBody>
        </p:sp>
        <p:sp>
          <p:nvSpPr>
            <p:cNvPr id="23" name="TextBox 23"/>
            <p:cNvSpPr txBox="1"/>
            <p:nvPr/>
          </p:nvSpPr>
          <p:spPr>
            <a:xfrm>
              <a:off x="9594342" y="5150168"/>
              <a:ext cx="135788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报告典型误差，</a:t>
              </a:r>
            </a:p>
          </p:txBody>
        </p:sp>
        <p:sp>
          <p:nvSpPr>
            <p:cNvPr id="24" name="TextBox 24"/>
            <p:cNvSpPr txBox="1"/>
            <p:nvPr/>
          </p:nvSpPr>
          <p:spPr>
            <a:xfrm>
              <a:off x="9594342" y="5493068"/>
              <a:ext cx="174193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而非只挑最好样本。</a:t>
              </a:r>
            </a:p>
          </p:txBody>
        </p:sp>
      </p:grpSp>
      <p:sp>
        <p:nvSpPr>
          <p:cNvPr id="26" name="TextBox 26"/>
          <p:cNvSpPr txBox="1"/>
          <p:nvPr/>
        </p:nvSpPr>
        <p:spPr>
          <a:xfrm>
            <a:off x="11508981" y="6407468"/>
            <a:ext cx="213627"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j-lt"/>
                <a:ea typeface="+mj-ea"/>
                <a:cs typeface="+mj-cs"/>
              </a:rPr>
              <a:t>07</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23672" y="378142"/>
            <a:ext cx="8988956" cy="557403"/>
            <a:chOff x="423672" y="378142"/>
            <a:chExt cx="8988956" cy="557403"/>
          </a:xfrm>
        </p:grpSpPr>
        <p:sp>
          <p:nvSpPr>
            <p:cNvPr id="2" name="TextBox 2"/>
            <p:cNvSpPr txBox="1"/>
            <p:nvPr/>
          </p:nvSpPr>
          <p:spPr>
            <a:xfrm>
              <a:off x="423672" y="378142"/>
              <a:ext cx="8988956"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j-lt"/>
                  <a:ea typeface="+mj-ea"/>
                  <a:cs typeface="+mj-cs"/>
                </a:rPr>
                <a:t>TD-MPC2：世界模型只需预测对控制有用的信息</a:t>
              </a:r>
            </a:p>
          </p:txBody>
        </p:sp>
        <p:sp>
          <p:nvSpPr>
            <p:cNvPr id="3" name="Freeform 3"/>
            <p:cNvSpPr/>
            <p:nvPr/>
          </p:nvSpPr>
          <p:spPr>
            <a:xfrm>
              <a:off x="466725" y="742950"/>
              <a:ext cx="8382000" cy="152400"/>
            </a:xfrm>
            <a:custGeom>
              <a:avLst/>
              <a:gdLst/>
              <a:ahLst/>
              <a:cxnLst/>
              <a:rect l="l" t="t" r="r" b="b"/>
              <a:pathLst>
                <a:path w="8382000" h="152400">
                  <a:moveTo>
                    <a:pt x="0" y="95250"/>
                  </a:moveTo>
                  <a:cubicBezTo>
                    <a:pt x="2409825" y="0"/>
                    <a:pt x="5238750" y="152400"/>
                    <a:pt x="8382000" y="57150"/>
                  </a:cubicBezTo>
                </a:path>
              </a:pathLst>
            </a:custGeom>
            <a:noFill/>
            <a:ln w="47625" cap="rnd">
              <a:solidFill>
                <a:schemeClr val="accent3"/>
              </a:solidFill>
            </a:ln>
          </p:spPr>
        </p:sp>
      </p:grpSp>
      <p:grpSp>
        <p:nvGrpSpPr>
          <p:cNvPr id="22" name="Group 22"/>
          <p:cNvGrpSpPr/>
          <p:nvPr/>
        </p:nvGrpSpPr>
        <p:grpSpPr>
          <a:xfrm>
            <a:off x="723900" y="1028700"/>
            <a:ext cx="6234669" cy="5000625"/>
            <a:chOff x="723900" y="1028700"/>
            <a:chExt cx="6234669" cy="5000625"/>
          </a:xfrm>
        </p:grpSpPr>
        <p:sp>
          <p:nvSpPr>
            <p:cNvPr id="5" name="Freeform 5"/>
            <p:cNvSpPr/>
            <p:nvPr/>
          </p:nvSpPr>
          <p:spPr>
            <a:xfrm>
              <a:off x="723900" y="1181100"/>
              <a:ext cx="6219825" cy="4848225"/>
            </a:xfrm>
            <a:custGeom>
              <a:avLst/>
              <a:gdLst/>
              <a:ahLst/>
              <a:cxnLst/>
              <a:rect l="l" t="t" r="r" b="b"/>
              <a:pathLst>
                <a:path w="6219825" h="4848225">
                  <a:moveTo>
                    <a:pt x="857250" y="895350"/>
                  </a:moveTo>
                  <a:cubicBezTo>
                    <a:pt x="1962150" y="19050"/>
                    <a:pt x="4114800" y="0"/>
                    <a:pt x="5257800" y="876300"/>
                  </a:cubicBezTo>
                  <a:cubicBezTo>
                    <a:pt x="6191250" y="1600200"/>
                    <a:pt x="6219825" y="3057525"/>
                    <a:pt x="5295900" y="3867150"/>
                  </a:cubicBezTo>
                  <a:cubicBezTo>
                    <a:pt x="4152900" y="4848225"/>
                    <a:pt x="1990725" y="4714875"/>
                    <a:pt x="866775" y="3752850"/>
                  </a:cubicBezTo>
                  <a:cubicBezTo>
                    <a:pt x="0" y="3009900"/>
                    <a:pt x="28575" y="1628775"/>
                    <a:pt x="857250" y="895350"/>
                  </a:cubicBezTo>
                  <a:close/>
                </a:path>
              </a:pathLst>
            </a:custGeom>
            <a:noFill/>
            <a:ln w="47625" cap="rnd">
              <a:solidFill>
                <a:schemeClr val="accent1"/>
              </a:solidFill>
              <a:round/>
            </a:ln>
          </p:spPr>
        </p:sp>
        <p:sp>
          <p:nvSpPr>
            <p:cNvPr id="6" name="Freeform 6"/>
            <p:cNvSpPr/>
            <p:nvPr/>
          </p:nvSpPr>
          <p:spPr>
            <a:xfrm>
              <a:off x="5819775" y="1828800"/>
              <a:ext cx="295275" cy="314325"/>
            </a:xfrm>
            <a:custGeom>
              <a:avLst/>
              <a:gdLst/>
              <a:ahLst/>
              <a:cxnLst/>
              <a:rect l="l" t="t" r="r" b="b"/>
              <a:pathLst>
                <a:path w="295275" h="314325">
                  <a:moveTo>
                    <a:pt x="38100" y="0"/>
                  </a:moveTo>
                  <a:lnTo>
                    <a:pt x="295275" y="209550"/>
                  </a:lnTo>
                  <a:lnTo>
                    <a:pt x="0" y="314325"/>
                  </a:lnTo>
                </a:path>
              </a:pathLst>
            </a:custGeom>
            <a:noFill/>
            <a:ln w="47625" cap="rnd">
              <a:solidFill>
                <a:schemeClr val="accent1"/>
              </a:solidFill>
              <a:round/>
            </a:ln>
          </p:spPr>
        </p:sp>
        <p:sp>
          <p:nvSpPr>
            <p:cNvPr id="7" name="Ellipse 7"/>
            <p:cNvSpPr/>
            <p:nvPr/>
          </p:nvSpPr>
          <p:spPr>
            <a:xfrm>
              <a:off x="1162050" y="1924050"/>
              <a:ext cx="1028700" cy="1028700"/>
            </a:xfrm>
            <a:prstGeom prst="ellipse">
              <a:avLst/>
            </a:prstGeom>
            <a:solidFill>
              <a:schemeClr val="lt2"/>
            </a:solidFill>
            <a:ln w="38100">
              <a:solidFill>
                <a:schemeClr val="accent3"/>
              </a:solidFill>
            </a:ln>
          </p:spPr>
        </p:sp>
        <p:sp>
          <p:nvSpPr>
            <p:cNvPr id="8" name="Ellipse 8"/>
            <p:cNvSpPr/>
            <p:nvPr/>
          </p:nvSpPr>
          <p:spPr>
            <a:xfrm>
              <a:off x="3276600" y="1028700"/>
              <a:ext cx="1104900" cy="1104900"/>
            </a:xfrm>
            <a:prstGeom prst="ellipse">
              <a:avLst/>
            </a:prstGeom>
            <a:solidFill>
              <a:schemeClr val="lt2"/>
            </a:solidFill>
            <a:ln w="38100">
              <a:solidFill>
                <a:schemeClr val="accent3"/>
              </a:solidFill>
            </a:ln>
          </p:spPr>
        </p:sp>
        <p:sp>
          <p:nvSpPr>
            <p:cNvPr id="9" name="Ellipse 9"/>
            <p:cNvSpPr/>
            <p:nvPr/>
          </p:nvSpPr>
          <p:spPr>
            <a:xfrm>
              <a:off x="5438775" y="2114550"/>
              <a:ext cx="1219200" cy="1219200"/>
            </a:xfrm>
            <a:prstGeom prst="ellipse">
              <a:avLst/>
            </a:prstGeom>
            <a:solidFill>
              <a:schemeClr val="lt2"/>
            </a:solidFill>
            <a:ln w="38100">
              <a:solidFill>
                <a:schemeClr val="accent2"/>
              </a:solidFill>
            </a:ln>
          </p:spPr>
        </p:sp>
        <p:sp>
          <p:nvSpPr>
            <p:cNvPr id="10" name="Ellipse 10"/>
            <p:cNvSpPr/>
            <p:nvPr/>
          </p:nvSpPr>
          <p:spPr>
            <a:xfrm>
              <a:off x="5067300" y="4362450"/>
              <a:ext cx="1181100" cy="1181100"/>
            </a:xfrm>
            <a:prstGeom prst="ellipse">
              <a:avLst/>
            </a:prstGeom>
            <a:solidFill>
              <a:schemeClr val="lt2"/>
            </a:solidFill>
            <a:ln w="38100">
              <a:solidFill>
                <a:srgbClr val="2F7D5C"/>
              </a:solidFill>
            </a:ln>
          </p:spPr>
        </p:sp>
        <p:sp>
          <p:nvSpPr>
            <p:cNvPr id="11" name="Ellipse 11"/>
            <p:cNvSpPr/>
            <p:nvPr/>
          </p:nvSpPr>
          <p:spPr>
            <a:xfrm>
              <a:off x="2190750" y="4629150"/>
              <a:ext cx="1181100" cy="1181100"/>
            </a:xfrm>
            <a:prstGeom prst="ellipse">
              <a:avLst/>
            </a:prstGeom>
            <a:solidFill>
              <a:schemeClr val="lt2"/>
            </a:solidFill>
            <a:ln w="38100">
              <a:solidFill>
                <a:schemeClr val="accent1"/>
              </a:solidFill>
            </a:ln>
          </p:spPr>
        </p:sp>
        <p:sp>
          <p:nvSpPr>
            <p:cNvPr id="12" name="TextBox 12"/>
            <p:cNvSpPr txBox="1"/>
            <p:nvPr/>
          </p:nvSpPr>
          <p:spPr>
            <a:xfrm>
              <a:off x="1412824" y="2329815"/>
              <a:ext cx="527152" cy="352044"/>
            </a:xfrm>
            <a:prstGeom prst="rect">
              <a:avLst/>
            </a:prstGeom>
            <a:noFill/>
            <a:ln>
              <a:noFill/>
            </a:ln>
          </p:spPr>
          <p:txBody>
            <a:bodyPr wrap="none" lIns="0" tIns="0" rIns="0" bIns="0" anchor="t" anchorCtr="0">
              <a:spAutoFit/>
            </a:bodyPr>
            <a:lstStyle/>
            <a:p>
              <a:pPr algn="ctr"/>
              <a:r>
                <a:rPr lang="zh-CN" sz="1800" b="1" dirty="0">
                  <a:solidFill>
                    <a:schemeClr val="accent3"/>
                  </a:solidFill>
                  <a:latin typeface="+mj-lt"/>
                  <a:ea typeface="+mj-ea"/>
                  <a:cs typeface="+mj-cs"/>
                </a:rPr>
                <a:t>观测</a:t>
              </a:r>
            </a:p>
          </p:txBody>
        </p:sp>
        <p:sp>
          <p:nvSpPr>
            <p:cNvPr id="13" name="TextBox 13"/>
            <p:cNvSpPr txBox="1"/>
            <p:nvPr/>
          </p:nvSpPr>
          <p:spPr>
            <a:xfrm>
              <a:off x="3431898" y="1472565"/>
              <a:ext cx="794305" cy="352044"/>
            </a:xfrm>
            <a:prstGeom prst="rect">
              <a:avLst/>
            </a:prstGeom>
            <a:noFill/>
            <a:ln>
              <a:noFill/>
            </a:ln>
          </p:spPr>
          <p:txBody>
            <a:bodyPr wrap="none" lIns="0" tIns="0" rIns="0" bIns="0" anchor="t" anchorCtr="0">
              <a:spAutoFit/>
            </a:bodyPr>
            <a:lstStyle/>
            <a:p>
              <a:pPr algn="ctr"/>
              <a:r>
                <a:rPr lang="en-US" sz="1800" b="1" dirty="0">
                  <a:solidFill>
                    <a:schemeClr val="accent3"/>
                  </a:solidFill>
                  <a:latin typeface="+mj-lt"/>
                  <a:ea typeface="+mj-ea"/>
                  <a:cs typeface="+mj-cs"/>
                </a:rPr>
                <a:t>latent</a:t>
              </a:r>
            </a:p>
          </p:txBody>
        </p:sp>
        <p:sp>
          <p:nvSpPr>
            <p:cNvPr id="14" name="TextBox 14"/>
            <p:cNvSpPr txBox="1"/>
            <p:nvPr/>
          </p:nvSpPr>
          <p:spPr>
            <a:xfrm>
              <a:off x="5530367" y="2472690"/>
              <a:ext cx="1036015" cy="352044"/>
            </a:xfrm>
            <a:prstGeom prst="rect">
              <a:avLst/>
            </a:prstGeom>
            <a:noFill/>
            <a:ln>
              <a:noFill/>
            </a:ln>
          </p:spPr>
          <p:txBody>
            <a:bodyPr wrap="none" lIns="0" tIns="0" rIns="0" bIns="0" anchor="t" anchorCtr="0">
              <a:spAutoFit/>
            </a:bodyPr>
            <a:lstStyle/>
            <a:p>
              <a:pPr algn="ctr"/>
              <a:r>
                <a:rPr lang="zh-CN" sz="1800" b="1" dirty="0">
                  <a:solidFill>
                    <a:schemeClr val="accent2"/>
                  </a:solidFill>
                  <a:latin typeface="+mj-lt"/>
                  <a:ea typeface="+mj-ea"/>
                  <a:cs typeface="+mj-cs"/>
                </a:rPr>
                <a:t>采样动作</a:t>
              </a:r>
            </a:p>
          </p:txBody>
        </p:sp>
        <p:sp>
          <p:nvSpPr>
            <p:cNvPr id="15" name="TextBox 15"/>
            <p:cNvSpPr txBox="1"/>
            <p:nvPr/>
          </p:nvSpPr>
          <p:spPr>
            <a:xfrm>
              <a:off x="5138181" y="2854642"/>
              <a:ext cx="1820388" cy="264033"/>
            </a:xfrm>
            <a:prstGeom prst="rect">
              <a:avLst/>
            </a:prstGeom>
            <a:noFill/>
            <a:ln>
              <a:noFill/>
            </a:ln>
          </p:spPr>
          <p:txBody>
            <a:bodyPr wrap="none" lIns="0" tIns="0" rIns="0" bIns="0" anchor="t" anchorCtr="0">
              <a:spAutoFit/>
            </a:bodyPr>
            <a:lstStyle/>
            <a:p>
              <a:pPr algn="ctr"/>
              <a:r>
                <a:rPr lang="en-US" sz="1350" dirty="0">
                  <a:solidFill>
                    <a:schemeClr val="dk1"/>
                  </a:solidFill>
                  <a:latin typeface="+mn-lt"/>
                  <a:ea typeface="+mn-ea"/>
                  <a:cs typeface="+mn-cs"/>
                </a:rPr>
                <a:t>policy prior + MPPI</a:t>
              </a:r>
            </a:p>
          </p:txBody>
        </p:sp>
        <p:sp>
          <p:nvSpPr>
            <p:cNvPr id="16" name="TextBox 16"/>
            <p:cNvSpPr txBox="1"/>
            <p:nvPr/>
          </p:nvSpPr>
          <p:spPr>
            <a:xfrm>
              <a:off x="4910854" y="4682490"/>
              <a:ext cx="1493992" cy="352044"/>
            </a:xfrm>
            <a:prstGeom prst="rect">
              <a:avLst/>
            </a:prstGeom>
            <a:noFill/>
            <a:ln>
              <a:noFill/>
            </a:ln>
          </p:spPr>
          <p:txBody>
            <a:bodyPr wrap="none" lIns="0" tIns="0" rIns="0" bIns="0" anchor="t" anchorCtr="0">
              <a:spAutoFit/>
            </a:bodyPr>
            <a:lstStyle/>
            <a:p>
              <a:pPr algn="ctr"/>
              <a:r>
                <a:rPr lang="zh-CN" sz="1800" b="1" dirty="0">
                  <a:solidFill>
                    <a:srgbClr val="2F7D5C"/>
                  </a:solidFill>
                  <a:latin typeface="+mj-lt"/>
                  <a:ea typeface="+mj-ea"/>
                  <a:cs typeface="+mj-cs"/>
                </a:rPr>
                <a:t>短期 reward</a:t>
              </a:r>
            </a:p>
          </p:txBody>
        </p:sp>
        <p:sp>
          <p:nvSpPr>
            <p:cNvPr id="17" name="TextBox 17"/>
            <p:cNvSpPr txBox="1"/>
            <p:nvPr/>
          </p:nvSpPr>
          <p:spPr>
            <a:xfrm>
              <a:off x="5061204" y="5045392"/>
              <a:ext cx="1193292" cy="264033"/>
            </a:xfrm>
            <a:prstGeom prst="rect">
              <a:avLst/>
            </a:prstGeom>
            <a:noFill/>
            <a:ln>
              <a:noFill/>
            </a:ln>
          </p:spPr>
          <p:txBody>
            <a:bodyPr wrap="none" lIns="0" tIns="0" rIns="0" bIns="0" anchor="t" anchorCtr="0">
              <a:spAutoFit/>
            </a:bodyPr>
            <a:lstStyle/>
            <a:p>
              <a:pPr algn="ctr"/>
              <a:r>
                <a:rPr lang="en-US" sz="1350" dirty="0">
                  <a:solidFill>
                    <a:schemeClr val="dk1"/>
                  </a:solidFill>
                  <a:latin typeface="+mn-lt"/>
                  <a:ea typeface="+mn-ea"/>
                  <a:cs typeface="+mn-cs"/>
                </a:rPr>
                <a:t>+ terminal Q</a:t>
              </a:r>
            </a:p>
          </p:txBody>
        </p:sp>
        <p:sp>
          <p:nvSpPr>
            <p:cNvPr id="18" name="TextBox 18"/>
            <p:cNvSpPr txBox="1"/>
            <p:nvPr/>
          </p:nvSpPr>
          <p:spPr>
            <a:xfrm>
              <a:off x="2136076" y="4949190"/>
              <a:ext cx="1290447"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j-lt"/>
                  <a:ea typeface="+mj-ea"/>
                  <a:cs typeface="+mj-cs"/>
                </a:rPr>
                <a:t>执行第一步</a:t>
              </a:r>
            </a:p>
          </p:txBody>
        </p:sp>
        <p:sp>
          <p:nvSpPr>
            <p:cNvPr id="19" name="TextBox 19"/>
            <p:cNvSpPr txBox="1"/>
            <p:nvPr/>
          </p:nvSpPr>
          <p:spPr>
            <a:xfrm>
              <a:off x="2294382" y="5321618"/>
              <a:ext cx="973836"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滚动重规划</a:t>
              </a:r>
            </a:p>
          </p:txBody>
        </p:sp>
        <p:sp>
          <p:nvSpPr>
            <p:cNvPr id="20" name="TextBox 20"/>
            <p:cNvSpPr txBox="1"/>
            <p:nvPr/>
          </p:nvSpPr>
          <p:spPr>
            <a:xfrm>
              <a:off x="2081022" y="3045142"/>
              <a:ext cx="2909336"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j-lt"/>
                  <a:ea typeface="+mj-ea"/>
                  <a:cs typeface="+mj-cs"/>
                </a:rPr>
                <a:t>短模型 + 长价值</a:t>
              </a:r>
            </a:p>
          </p:txBody>
        </p:sp>
        <p:sp>
          <p:nvSpPr>
            <p:cNvPr id="21" name="TextBox 21"/>
            <p:cNvSpPr txBox="1"/>
            <p:nvPr/>
          </p:nvSpPr>
          <p:spPr>
            <a:xfrm>
              <a:off x="2314956" y="3596640"/>
              <a:ext cx="3602736"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不追求像素逼真，追求闭环可用</a:t>
              </a:r>
            </a:p>
          </p:txBody>
        </p:sp>
      </p:grpSp>
      <p:grpSp>
        <p:nvGrpSpPr>
          <p:cNvPr id="36" name="Group 36"/>
          <p:cNvGrpSpPr/>
          <p:nvPr/>
        </p:nvGrpSpPr>
        <p:grpSpPr>
          <a:xfrm>
            <a:off x="7667625" y="1367790"/>
            <a:ext cx="3933825" cy="4528185"/>
            <a:chOff x="7667625" y="1367790"/>
            <a:chExt cx="3933825" cy="4528185"/>
          </a:xfrm>
        </p:grpSpPr>
        <p:sp>
          <p:nvSpPr>
            <p:cNvPr id="23" name="TextBox 23"/>
            <p:cNvSpPr txBox="1"/>
            <p:nvPr/>
          </p:nvSpPr>
          <p:spPr>
            <a:xfrm>
              <a:off x="7753731" y="1367790"/>
              <a:ext cx="1799311" cy="352044"/>
            </a:xfrm>
            <a:prstGeom prst="rect">
              <a:avLst/>
            </a:prstGeom>
            <a:noFill/>
            <a:ln>
              <a:noFill/>
            </a:ln>
          </p:spPr>
          <p:txBody>
            <a:bodyPr wrap="none" lIns="0" tIns="0" rIns="0" bIns="0" anchor="t" anchorCtr="0">
              <a:spAutoFit/>
            </a:bodyPr>
            <a:lstStyle/>
            <a:p>
              <a:pPr algn="l"/>
              <a:r>
                <a:rPr lang="zh-CN" sz="1800" b="1" dirty="0">
                  <a:solidFill>
                    <a:schemeClr val="accent3"/>
                  </a:solidFill>
                  <a:latin typeface="+mj-lt"/>
                  <a:ea typeface="+mj-ea"/>
                  <a:cs typeface="+mj-cs"/>
                </a:rPr>
                <a:t>复现证据与边界</a:t>
              </a:r>
            </a:p>
          </p:txBody>
        </p:sp>
        <p:sp>
          <p:nvSpPr>
            <p:cNvPr id="24" name="Freeform 24"/>
            <p:cNvSpPr/>
            <p:nvPr/>
          </p:nvSpPr>
          <p:spPr>
            <a:xfrm>
              <a:off x="7667625" y="1647825"/>
              <a:ext cx="3933825" cy="1857375"/>
            </a:xfrm>
            <a:custGeom>
              <a:avLst/>
              <a:gdLst/>
              <a:ahLst/>
              <a:cxnLst/>
              <a:rect l="l" t="t" r="r" b="b"/>
              <a:pathLst>
                <a:path w="3933825" h="1857375">
                  <a:moveTo>
                    <a:pt x="114300" y="114300"/>
                  </a:moveTo>
                  <a:cubicBezTo>
                    <a:pt x="1276350" y="0"/>
                    <a:pt x="2771775" y="85725"/>
                    <a:pt x="3848100" y="219075"/>
                  </a:cubicBezTo>
                  <a:cubicBezTo>
                    <a:pt x="3933825" y="800100"/>
                    <a:pt x="3886200" y="1390650"/>
                    <a:pt x="3733800" y="1762125"/>
                  </a:cubicBezTo>
                  <a:cubicBezTo>
                    <a:pt x="2514600" y="1857375"/>
                    <a:pt x="1257300" y="1819275"/>
                    <a:pt x="104775" y="1685925"/>
                  </a:cubicBezTo>
                  <a:cubicBezTo>
                    <a:pt x="0" y="1190625"/>
                    <a:pt x="9525" y="619125"/>
                    <a:pt x="114300" y="114300"/>
                  </a:cubicBezTo>
                  <a:close/>
                </a:path>
              </a:pathLst>
            </a:custGeom>
            <a:solidFill>
              <a:schemeClr val="lt2">
                <a:alpha val="62000"/>
              </a:schemeClr>
            </a:solidFill>
            <a:ln w="28575" cap="rnd">
              <a:solidFill>
                <a:schemeClr val="accent1"/>
              </a:solidFill>
              <a:round/>
            </a:ln>
          </p:spPr>
        </p:sp>
        <p:sp>
          <p:nvSpPr>
            <p:cNvPr id="25" name="TextBox 25"/>
            <p:cNvSpPr txBox="1"/>
            <p:nvPr/>
          </p:nvSpPr>
          <p:spPr>
            <a:xfrm>
              <a:off x="8003286" y="1882140"/>
              <a:ext cx="1316288" cy="645414"/>
            </a:xfrm>
            <a:prstGeom prst="rect">
              <a:avLst/>
            </a:prstGeom>
            <a:noFill/>
            <a:ln>
              <a:noFill/>
            </a:ln>
          </p:spPr>
          <p:txBody>
            <a:bodyPr wrap="none" lIns="0" tIns="0" rIns="0" bIns="0" anchor="t" anchorCtr="0">
              <a:spAutoFit/>
            </a:bodyPr>
            <a:lstStyle/>
            <a:p>
              <a:pPr algn="l"/>
              <a:r>
                <a:rPr lang="en-US" sz="3300" b="1" dirty="0">
                  <a:solidFill>
                    <a:srgbClr val="2F7D5C"/>
                  </a:solidFill>
                  <a:latin typeface="Consolas"/>
                  <a:ea typeface="Consolas"/>
                  <a:cs typeface="Consolas"/>
                </a:rPr>
                <a:t>762.2</a:t>
              </a:r>
            </a:p>
          </p:txBody>
        </p:sp>
        <p:sp>
          <p:nvSpPr>
            <p:cNvPr id="26" name="TextBox 26"/>
            <p:cNvSpPr txBox="1"/>
            <p:nvPr/>
          </p:nvSpPr>
          <p:spPr>
            <a:xfrm>
              <a:off x="9706356" y="2015490"/>
              <a:ext cx="159288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官方 dog-run</a:t>
              </a:r>
            </a:p>
          </p:txBody>
        </p:sp>
        <p:sp>
          <p:nvSpPr>
            <p:cNvPr id="27" name="TextBox 27"/>
            <p:cNvSpPr txBox="1"/>
            <p:nvPr/>
          </p:nvSpPr>
          <p:spPr>
            <a:xfrm>
              <a:off x="8003286" y="2367915"/>
              <a:ext cx="1316288" cy="645414"/>
            </a:xfrm>
            <a:prstGeom prst="rect">
              <a:avLst/>
            </a:prstGeom>
            <a:noFill/>
            <a:ln>
              <a:noFill/>
            </a:ln>
          </p:spPr>
          <p:txBody>
            <a:bodyPr wrap="none" lIns="0" tIns="0" rIns="0" bIns="0" anchor="t" anchorCtr="0">
              <a:spAutoFit/>
            </a:bodyPr>
            <a:lstStyle/>
            <a:p>
              <a:pPr algn="l"/>
              <a:r>
                <a:rPr lang="en-US" sz="3300" b="1" dirty="0">
                  <a:solidFill>
                    <a:schemeClr val="accent2"/>
                  </a:solidFill>
                  <a:latin typeface="Consolas"/>
                  <a:ea typeface="Consolas"/>
                  <a:cs typeface="Consolas"/>
                </a:rPr>
                <a:t>134.0</a:t>
              </a:r>
            </a:p>
          </p:txBody>
        </p:sp>
        <p:sp>
          <p:nvSpPr>
            <p:cNvPr id="28" name="TextBox 28"/>
            <p:cNvSpPr txBox="1"/>
            <p:nvPr/>
          </p:nvSpPr>
          <p:spPr>
            <a:xfrm>
              <a:off x="9706356" y="2501265"/>
              <a:ext cx="1362456"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154k steps</a:t>
              </a:r>
            </a:p>
          </p:txBody>
        </p:sp>
        <p:sp>
          <p:nvSpPr>
            <p:cNvPr id="29" name="TextBox 29"/>
            <p:cNvSpPr txBox="1"/>
            <p:nvPr/>
          </p:nvSpPr>
          <p:spPr>
            <a:xfrm>
              <a:off x="8013192" y="2987992"/>
              <a:ext cx="252923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训练阶段最高：157.3 @ 151k</a:t>
              </a:r>
            </a:p>
          </p:txBody>
        </p:sp>
        <p:sp>
          <p:nvSpPr>
            <p:cNvPr id="30" name="Freeform 30"/>
            <p:cNvSpPr/>
            <p:nvPr/>
          </p:nvSpPr>
          <p:spPr>
            <a:xfrm>
              <a:off x="7667625" y="3571875"/>
              <a:ext cx="3924300" cy="2324100"/>
            </a:xfrm>
            <a:custGeom>
              <a:avLst/>
              <a:gdLst/>
              <a:ahLst/>
              <a:cxnLst/>
              <a:rect l="l" t="t" r="r" b="b"/>
              <a:pathLst>
                <a:path w="3924300" h="2324100">
                  <a:moveTo>
                    <a:pt x="114300" y="123825"/>
                  </a:moveTo>
                  <a:cubicBezTo>
                    <a:pt x="1228725" y="0"/>
                    <a:pt x="2743200" y="76200"/>
                    <a:pt x="3848100" y="228600"/>
                  </a:cubicBezTo>
                  <a:cubicBezTo>
                    <a:pt x="3924300" y="762000"/>
                    <a:pt x="3886200" y="1562100"/>
                    <a:pt x="3714750" y="2200275"/>
                  </a:cubicBezTo>
                  <a:cubicBezTo>
                    <a:pt x="2600325" y="2324100"/>
                    <a:pt x="1304925" y="2238375"/>
                    <a:pt x="114300" y="2085975"/>
                  </a:cubicBezTo>
                  <a:cubicBezTo>
                    <a:pt x="0" y="1457325"/>
                    <a:pt x="9525" y="723900"/>
                    <a:pt x="114300" y="123825"/>
                  </a:cubicBezTo>
                  <a:close/>
                </a:path>
              </a:pathLst>
            </a:custGeom>
            <a:solidFill>
              <a:schemeClr val="lt1"/>
            </a:solidFill>
            <a:ln w="38100" cap="rnd">
              <a:solidFill>
                <a:schemeClr val="accent2"/>
              </a:solidFill>
              <a:round/>
            </a:ln>
          </p:spPr>
        </p:sp>
        <p:sp>
          <p:nvSpPr>
            <p:cNvPr id="31" name="TextBox 31"/>
            <p:cNvSpPr txBox="1"/>
            <p:nvPr/>
          </p:nvSpPr>
          <p:spPr>
            <a:xfrm>
              <a:off x="8007858" y="3912870"/>
              <a:ext cx="2466929"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j-lt"/>
                  <a:ea typeface="+mj-ea"/>
                  <a:cs typeface="+mj-cs"/>
                </a:rPr>
                <a:t>10k 只是 smoke</a:t>
              </a:r>
            </a:p>
          </p:txBody>
        </p:sp>
        <p:sp>
          <p:nvSpPr>
            <p:cNvPr id="32" name="TextBox 32"/>
            <p:cNvSpPr txBox="1"/>
            <p:nvPr/>
          </p:nvSpPr>
          <p:spPr>
            <a:xfrm>
              <a:off x="8010906" y="4377690"/>
              <a:ext cx="284241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正式复现应到 7M steps</a:t>
              </a:r>
            </a:p>
          </p:txBody>
        </p:sp>
        <p:sp>
          <p:nvSpPr>
            <p:cNvPr id="33" name="TextBox 33"/>
            <p:cNvSpPr txBox="1"/>
            <p:nvPr/>
          </p:nvSpPr>
          <p:spPr>
            <a:xfrm>
              <a:off x="8010906" y="4720590"/>
              <a:ext cx="227137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并报告多 seed 方差</a:t>
              </a:r>
            </a:p>
          </p:txBody>
        </p:sp>
        <p:sp>
          <p:nvSpPr>
            <p:cNvPr id="34" name="TextBox 34"/>
            <p:cNvSpPr txBox="1"/>
            <p:nvPr/>
          </p:nvSpPr>
          <p:spPr>
            <a:xfrm>
              <a:off x="8013192" y="5216842"/>
              <a:ext cx="2942862"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j-lt"/>
                  <a:ea typeface="+mj-ea"/>
                  <a:cs typeface="+mj-cs"/>
                </a:rPr>
                <a:t>我的理解：规模化难点在 latent、</a:t>
              </a:r>
            </a:p>
          </p:txBody>
        </p:sp>
        <p:sp>
          <p:nvSpPr>
            <p:cNvPr id="35" name="TextBox 35"/>
            <p:cNvSpPr txBox="1"/>
            <p:nvPr/>
          </p:nvSpPr>
          <p:spPr>
            <a:xfrm>
              <a:off x="8013192" y="5531168"/>
              <a:ext cx="242704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价值尺度与 Q 过估计。</a:t>
              </a:r>
            </a:p>
          </p:txBody>
        </p:sp>
      </p:grpSp>
      <p:sp>
        <p:nvSpPr>
          <p:cNvPr id="37" name="TextBox 37"/>
          <p:cNvSpPr txBox="1"/>
          <p:nvPr/>
        </p:nvSpPr>
        <p:spPr>
          <a:xfrm>
            <a:off x="11508981" y="6407468"/>
            <a:ext cx="213627"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j-lt"/>
                <a:ea typeface="+mj-ea"/>
                <a:cs typeface="+mj-cs"/>
              </a:rPr>
              <a:t>08</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23672" y="397192"/>
            <a:ext cx="6474562" cy="557403"/>
            <a:chOff x="423672" y="397192"/>
            <a:chExt cx="6474562" cy="557403"/>
          </a:xfrm>
        </p:grpSpPr>
        <p:sp>
          <p:nvSpPr>
            <p:cNvPr id="2" name="TextBox 2"/>
            <p:cNvSpPr txBox="1"/>
            <p:nvPr/>
          </p:nvSpPr>
          <p:spPr>
            <a:xfrm>
              <a:off x="423672" y="397192"/>
              <a:ext cx="6474562"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j-lt"/>
                  <a:ea typeface="+mj-ea"/>
                  <a:cs typeface="+mj-cs"/>
                </a:rPr>
                <a:t>跨四条路线，我形成了三条统一判断</a:t>
              </a:r>
            </a:p>
          </p:txBody>
        </p:sp>
        <p:sp>
          <p:nvSpPr>
            <p:cNvPr id="3" name="Freeform 3"/>
            <p:cNvSpPr/>
            <p:nvPr/>
          </p:nvSpPr>
          <p:spPr>
            <a:xfrm>
              <a:off x="466725" y="771525"/>
              <a:ext cx="6419850" cy="133350"/>
            </a:xfrm>
            <a:custGeom>
              <a:avLst/>
              <a:gdLst/>
              <a:ahLst/>
              <a:cxnLst/>
              <a:rect l="l" t="t" r="r" b="b"/>
              <a:pathLst>
                <a:path w="6419850" h="133350">
                  <a:moveTo>
                    <a:pt x="0" y="85725"/>
                  </a:moveTo>
                  <a:cubicBezTo>
                    <a:pt x="1800225" y="0"/>
                    <a:pt x="4105275" y="133350"/>
                    <a:pt x="6419850" y="38100"/>
                  </a:cubicBezTo>
                </a:path>
              </a:pathLst>
            </a:custGeom>
            <a:noFill/>
            <a:ln w="47625" cap="rnd">
              <a:solidFill>
                <a:schemeClr val="accent2"/>
              </a:solidFill>
            </a:ln>
          </p:spPr>
        </p:sp>
      </p:grpSp>
      <p:grpSp>
        <p:nvGrpSpPr>
          <p:cNvPr id="9" name="Group 9"/>
          <p:cNvGrpSpPr/>
          <p:nvPr/>
        </p:nvGrpSpPr>
        <p:grpSpPr>
          <a:xfrm>
            <a:off x="590550" y="1406842"/>
            <a:ext cx="10782300" cy="1153478"/>
            <a:chOff x="590550" y="1406842"/>
            <a:chExt cx="10782300" cy="1153478"/>
          </a:xfrm>
        </p:grpSpPr>
        <p:sp>
          <p:nvSpPr>
            <p:cNvPr id="5" name="TextBox 5"/>
            <p:cNvSpPr txBox="1"/>
            <p:nvPr/>
          </p:nvSpPr>
          <p:spPr>
            <a:xfrm>
              <a:off x="590550" y="1512570"/>
              <a:ext cx="877725" cy="1047750"/>
            </a:xfrm>
            <a:prstGeom prst="rect">
              <a:avLst/>
            </a:prstGeom>
            <a:noFill/>
            <a:ln>
              <a:noFill/>
            </a:ln>
          </p:spPr>
          <p:txBody>
            <a:bodyPr wrap="none" lIns="0" tIns="0" rIns="0" bIns="0" anchor="t" anchorCtr="0">
              <a:spAutoFit/>
            </a:bodyPr>
            <a:lstStyle/>
            <a:p>
              <a:pPr algn="l"/>
              <a:r>
                <a:rPr lang="en-US" sz="5400" b="1" dirty="0">
                  <a:solidFill>
                    <a:schemeClr val="accent3"/>
                  </a:solidFill>
                  <a:latin typeface="Consolas"/>
                  <a:ea typeface="Consolas"/>
                  <a:cs typeface="Consolas"/>
                </a:rPr>
                <a:t>01</a:t>
              </a:r>
            </a:p>
          </p:txBody>
        </p:sp>
        <p:sp>
          <p:nvSpPr>
            <p:cNvPr id="6" name="TextBox 6"/>
            <p:cNvSpPr txBox="1"/>
            <p:nvPr/>
          </p:nvSpPr>
          <p:spPr>
            <a:xfrm>
              <a:off x="1795272" y="1406842"/>
              <a:ext cx="2848908"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j-lt"/>
                  <a:ea typeface="+mj-ea"/>
                  <a:cs typeface="+mj-cs"/>
                </a:rPr>
                <a:t>表征不等于重建</a:t>
              </a:r>
            </a:p>
          </p:txBody>
        </p:sp>
        <p:sp>
          <p:nvSpPr>
            <p:cNvPr id="7" name="TextBox 7"/>
            <p:cNvSpPr txBox="1"/>
            <p:nvPr/>
          </p:nvSpPr>
          <p:spPr>
            <a:xfrm>
              <a:off x="1800606" y="1939290"/>
              <a:ext cx="9470715"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DINO-WM / LeWM：特征几何能支持目标匹配，就不必重建每个像素。</a:t>
              </a:r>
            </a:p>
          </p:txBody>
        </p:sp>
        <p:sp>
          <p:nvSpPr>
            <p:cNvPr id="8" name="Freeform 8"/>
            <p:cNvSpPr/>
            <p:nvPr/>
          </p:nvSpPr>
          <p:spPr>
            <a:xfrm>
              <a:off x="1733550" y="2247900"/>
              <a:ext cx="9639300" cy="161925"/>
            </a:xfrm>
            <a:custGeom>
              <a:avLst/>
              <a:gdLst/>
              <a:ahLst/>
              <a:cxnLst/>
              <a:rect l="l" t="t" r="r" b="b"/>
              <a:pathLst>
                <a:path w="9639300" h="161925">
                  <a:moveTo>
                    <a:pt x="0" y="85725"/>
                  </a:moveTo>
                  <a:cubicBezTo>
                    <a:pt x="2762250" y="0"/>
                    <a:pt x="6019800" y="161925"/>
                    <a:pt x="9639300" y="47625"/>
                  </a:cubicBezTo>
                </a:path>
              </a:pathLst>
            </a:custGeom>
            <a:noFill/>
            <a:ln w="28575" cap="rnd">
              <a:solidFill>
                <a:schemeClr val="accent6"/>
              </a:solidFill>
            </a:ln>
          </p:spPr>
        </p:sp>
      </p:grpSp>
      <p:grpSp>
        <p:nvGrpSpPr>
          <p:cNvPr id="14" name="Group 14"/>
          <p:cNvGrpSpPr/>
          <p:nvPr/>
        </p:nvGrpSpPr>
        <p:grpSpPr>
          <a:xfrm>
            <a:off x="590550" y="2835592"/>
            <a:ext cx="10782300" cy="1153478"/>
            <a:chOff x="590550" y="2835592"/>
            <a:chExt cx="10782300" cy="1153478"/>
          </a:xfrm>
        </p:grpSpPr>
        <p:sp>
          <p:nvSpPr>
            <p:cNvPr id="10" name="TextBox 10"/>
            <p:cNvSpPr txBox="1"/>
            <p:nvPr/>
          </p:nvSpPr>
          <p:spPr>
            <a:xfrm>
              <a:off x="590550" y="2941320"/>
              <a:ext cx="877725" cy="1047750"/>
            </a:xfrm>
            <a:prstGeom prst="rect">
              <a:avLst/>
            </a:prstGeom>
            <a:noFill/>
            <a:ln>
              <a:noFill/>
            </a:ln>
          </p:spPr>
          <p:txBody>
            <a:bodyPr wrap="none" lIns="0" tIns="0" rIns="0" bIns="0" anchor="t" anchorCtr="0">
              <a:spAutoFit/>
            </a:bodyPr>
            <a:lstStyle/>
            <a:p>
              <a:pPr algn="l"/>
              <a:r>
                <a:rPr lang="en-US" sz="5400" b="1" dirty="0">
                  <a:solidFill>
                    <a:schemeClr val="accent2"/>
                  </a:solidFill>
                  <a:latin typeface="Consolas"/>
                  <a:ea typeface="Consolas"/>
                  <a:cs typeface="Consolas"/>
                </a:rPr>
                <a:t>02</a:t>
              </a:r>
            </a:p>
          </p:txBody>
        </p:sp>
        <p:sp>
          <p:nvSpPr>
            <p:cNvPr id="11" name="TextBox 11"/>
            <p:cNvSpPr txBox="1"/>
            <p:nvPr/>
          </p:nvSpPr>
          <p:spPr>
            <a:xfrm>
              <a:off x="1795272" y="2835592"/>
              <a:ext cx="3251759"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j-lt"/>
                  <a:ea typeface="+mj-ea"/>
                  <a:cs typeface="+mj-cs"/>
                </a:rPr>
                <a:t>预测不等于一张图</a:t>
              </a:r>
            </a:p>
          </p:txBody>
        </p:sp>
        <p:sp>
          <p:nvSpPr>
            <p:cNvPr id="12" name="TextBox 12"/>
            <p:cNvSpPr txBox="1"/>
            <p:nvPr/>
          </p:nvSpPr>
          <p:spPr>
            <a:xfrm>
              <a:off x="1800606" y="3368040"/>
              <a:ext cx="8661197"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Δ-IRIS：随机未来应报告条件分布、典型误差与不确定性边界。</a:t>
              </a:r>
            </a:p>
          </p:txBody>
        </p:sp>
        <p:sp>
          <p:nvSpPr>
            <p:cNvPr id="13" name="Freeform 13"/>
            <p:cNvSpPr/>
            <p:nvPr/>
          </p:nvSpPr>
          <p:spPr>
            <a:xfrm>
              <a:off x="1733550" y="3667125"/>
              <a:ext cx="9639300" cy="161925"/>
            </a:xfrm>
            <a:custGeom>
              <a:avLst/>
              <a:gdLst/>
              <a:ahLst/>
              <a:cxnLst/>
              <a:rect l="l" t="t" r="r" b="b"/>
              <a:pathLst>
                <a:path w="9639300" h="161925">
                  <a:moveTo>
                    <a:pt x="0" y="95250"/>
                  </a:moveTo>
                  <a:cubicBezTo>
                    <a:pt x="2752725" y="0"/>
                    <a:pt x="6048375" y="161925"/>
                    <a:pt x="9639300" y="47625"/>
                  </a:cubicBezTo>
                </a:path>
              </a:pathLst>
            </a:custGeom>
            <a:noFill/>
            <a:ln w="28575" cap="rnd">
              <a:solidFill>
                <a:schemeClr val="accent6"/>
              </a:solidFill>
            </a:ln>
          </p:spPr>
        </p:sp>
      </p:grpSp>
      <p:grpSp>
        <p:nvGrpSpPr>
          <p:cNvPr id="19" name="Group 19"/>
          <p:cNvGrpSpPr/>
          <p:nvPr/>
        </p:nvGrpSpPr>
        <p:grpSpPr>
          <a:xfrm>
            <a:off x="590550" y="4264342"/>
            <a:ext cx="10782300" cy="1153478"/>
            <a:chOff x="590550" y="4264342"/>
            <a:chExt cx="10782300" cy="1153478"/>
          </a:xfrm>
        </p:grpSpPr>
        <p:sp>
          <p:nvSpPr>
            <p:cNvPr id="15" name="TextBox 15"/>
            <p:cNvSpPr txBox="1"/>
            <p:nvPr/>
          </p:nvSpPr>
          <p:spPr>
            <a:xfrm>
              <a:off x="590550" y="4370070"/>
              <a:ext cx="877725" cy="1047750"/>
            </a:xfrm>
            <a:prstGeom prst="rect">
              <a:avLst/>
            </a:prstGeom>
            <a:noFill/>
            <a:ln>
              <a:noFill/>
            </a:ln>
          </p:spPr>
          <p:txBody>
            <a:bodyPr wrap="none" lIns="0" tIns="0" rIns="0" bIns="0" anchor="t" anchorCtr="0">
              <a:spAutoFit/>
            </a:bodyPr>
            <a:lstStyle/>
            <a:p>
              <a:pPr algn="l"/>
              <a:r>
                <a:rPr lang="en-US" sz="5400" b="1" dirty="0">
                  <a:solidFill>
                    <a:srgbClr val="2F7D5C"/>
                  </a:solidFill>
                  <a:latin typeface="Consolas"/>
                  <a:ea typeface="Consolas"/>
                  <a:cs typeface="Consolas"/>
                </a:rPr>
                <a:t>03</a:t>
              </a:r>
            </a:p>
          </p:txBody>
        </p:sp>
        <p:sp>
          <p:nvSpPr>
            <p:cNvPr id="16" name="TextBox 16"/>
            <p:cNvSpPr txBox="1"/>
            <p:nvPr/>
          </p:nvSpPr>
          <p:spPr>
            <a:xfrm>
              <a:off x="1795272" y="4264342"/>
              <a:ext cx="3916462"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j-lt"/>
                  <a:ea typeface="+mj-ea"/>
                  <a:cs typeface="+mj-cs"/>
                </a:rPr>
                <a:t>规划不等于长 rollout</a:t>
              </a:r>
            </a:p>
          </p:txBody>
        </p:sp>
        <p:sp>
          <p:nvSpPr>
            <p:cNvPr id="17" name="TextBox 17"/>
            <p:cNvSpPr txBox="1"/>
            <p:nvPr/>
          </p:nvSpPr>
          <p:spPr>
            <a:xfrm>
              <a:off x="1800606" y="4796790"/>
              <a:ext cx="9467186"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TD-MPC2：短期模型预测 + terminal Q + policy prior，也能形成可扩展闭环。</a:t>
              </a:r>
            </a:p>
          </p:txBody>
        </p:sp>
        <p:sp>
          <p:nvSpPr>
            <p:cNvPr id="18" name="Freeform 18"/>
            <p:cNvSpPr/>
            <p:nvPr/>
          </p:nvSpPr>
          <p:spPr>
            <a:xfrm>
              <a:off x="1733550" y="5095875"/>
              <a:ext cx="9639300" cy="161925"/>
            </a:xfrm>
            <a:custGeom>
              <a:avLst/>
              <a:gdLst/>
              <a:ahLst/>
              <a:cxnLst/>
              <a:rect l="l" t="t" r="r" b="b"/>
              <a:pathLst>
                <a:path w="9639300" h="161925">
                  <a:moveTo>
                    <a:pt x="0" y="95250"/>
                  </a:moveTo>
                  <a:cubicBezTo>
                    <a:pt x="2743200" y="0"/>
                    <a:pt x="6029325" y="161925"/>
                    <a:pt x="9639300" y="47625"/>
                  </a:cubicBezTo>
                </a:path>
              </a:pathLst>
            </a:custGeom>
            <a:noFill/>
            <a:ln w="28575" cap="rnd">
              <a:solidFill>
                <a:schemeClr val="accent6"/>
              </a:solidFill>
            </a:ln>
          </p:spPr>
        </p:sp>
      </p:grpSp>
      <p:grpSp>
        <p:nvGrpSpPr>
          <p:cNvPr id="22" name="Group 22"/>
          <p:cNvGrpSpPr/>
          <p:nvPr/>
        </p:nvGrpSpPr>
        <p:grpSpPr>
          <a:xfrm>
            <a:off x="1258085" y="5543550"/>
            <a:ext cx="9675830" cy="705612"/>
            <a:chOff x="1258085" y="5543550"/>
            <a:chExt cx="9675830" cy="705612"/>
          </a:xfrm>
        </p:grpSpPr>
        <p:sp>
          <p:nvSpPr>
            <p:cNvPr id="20" name="Freeform 20"/>
            <p:cNvSpPr/>
            <p:nvPr/>
          </p:nvSpPr>
          <p:spPr>
            <a:xfrm>
              <a:off x="2133600" y="5543550"/>
              <a:ext cx="7905750" cy="685800"/>
            </a:xfrm>
            <a:custGeom>
              <a:avLst/>
              <a:gdLst/>
              <a:ahLst/>
              <a:cxnLst/>
              <a:rect l="l" t="t" r="r" b="b"/>
              <a:pathLst>
                <a:path w="7905750" h="685800">
                  <a:moveTo>
                    <a:pt x="0" y="161925"/>
                  </a:moveTo>
                  <a:cubicBezTo>
                    <a:pt x="1828800" y="0"/>
                    <a:pt x="5857875" y="57150"/>
                    <a:pt x="7905750" y="228600"/>
                  </a:cubicBezTo>
                  <a:cubicBezTo>
                    <a:pt x="7791450" y="561975"/>
                    <a:pt x="5534025" y="685800"/>
                    <a:pt x="2047875" y="619125"/>
                  </a:cubicBezTo>
                  <a:cubicBezTo>
                    <a:pt x="866775" y="590550"/>
                    <a:pt x="142875" y="428625"/>
                    <a:pt x="0" y="161925"/>
                  </a:cubicBezTo>
                  <a:close/>
                </a:path>
              </a:pathLst>
            </a:custGeom>
            <a:solidFill>
              <a:schemeClr val="lt2">
                <a:alpha val="72000"/>
              </a:schemeClr>
            </a:solidFill>
            <a:ln w="38100" cap="rnd">
              <a:solidFill>
                <a:schemeClr val="accent2"/>
              </a:solidFill>
              <a:round/>
            </a:ln>
          </p:spPr>
        </p:sp>
        <p:sp>
          <p:nvSpPr>
            <p:cNvPr id="21" name="TextBox 21"/>
            <p:cNvSpPr txBox="1"/>
            <p:nvPr/>
          </p:nvSpPr>
          <p:spPr>
            <a:xfrm>
              <a:off x="1258085" y="5779770"/>
              <a:ext cx="9675830" cy="469392"/>
            </a:xfrm>
            <a:prstGeom prst="rect">
              <a:avLst/>
            </a:prstGeom>
            <a:noFill/>
            <a:ln>
              <a:noFill/>
            </a:ln>
          </p:spPr>
          <p:txBody>
            <a:bodyPr wrap="none" lIns="0" tIns="0" rIns="0" bIns="0" anchor="t" anchorCtr="0">
              <a:spAutoFit/>
            </a:bodyPr>
            <a:lstStyle/>
            <a:p>
              <a:pPr algn="ctr"/>
              <a:r>
                <a:rPr lang="zh-CN" sz="2400" b="1" dirty="0">
                  <a:solidFill>
                    <a:schemeClr val="accent2"/>
                  </a:solidFill>
                  <a:latin typeface="+mj-lt"/>
                  <a:ea typeface="+mj-ea"/>
                  <a:cs typeface="+mj-cs"/>
                </a:rPr>
                <a:t>好的世界模型 = 任务相关表示 + 可校准不确定性 + 闭环决策价值</a:t>
              </a:r>
            </a:p>
          </p:txBody>
        </p:sp>
      </p:grpSp>
      <p:sp>
        <p:nvSpPr>
          <p:cNvPr id="23" name="TextBox 23"/>
          <p:cNvSpPr txBox="1"/>
          <p:nvPr/>
        </p:nvSpPr>
        <p:spPr>
          <a:xfrm>
            <a:off x="11508981" y="6407468"/>
            <a:ext cx="213627"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j-lt"/>
                <a:ea typeface="+mj-ea"/>
                <a:cs typeface="+mj-cs"/>
              </a:rPr>
              <a:t>09</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23672" y="378142"/>
            <a:ext cx="7280262" cy="557403"/>
            <a:chOff x="423672" y="378142"/>
            <a:chExt cx="7280262" cy="557403"/>
          </a:xfrm>
        </p:grpSpPr>
        <p:sp>
          <p:nvSpPr>
            <p:cNvPr id="2" name="TextBox 2"/>
            <p:cNvSpPr txBox="1"/>
            <p:nvPr/>
          </p:nvSpPr>
          <p:spPr>
            <a:xfrm>
              <a:off x="423672" y="378142"/>
              <a:ext cx="7280262"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j-lt"/>
                  <a:ea typeface="+mj-ea"/>
                  <a:cs typeface="+mj-cs"/>
                </a:rPr>
                <a:t>可复现工程，把一次运行变成可追溯证据</a:t>
              </a:r>
            </a:p>
          </p:txBody>
        </p:sp>
        <p:sp>
          <p:nvSpPr>
            <p:cNvPr id="3" name="Freeform 3"/>
            <p:cNvSpPr/>
            <p:nvPr/>
          </p:nvSpPr>
          <p:spPr>
            <a:xfrm>
              <a:off x="466725" y="752475"/>
              <a:ext cx="7058025" cy="142875"/>
            </a:xfrm>
            <a:custGeom>
              <a:avLst/>
              <a:gdLst/>
              <a:ahLst/>
              <a:cxnLst/>
              <a:rect l="l" t="t" r="r" b="b"/>
              <a:pathLst>
                <a:path w="7058025" h="142875">
                  <a:moveTo>
                    <a:pt x="0" y="85725"/>
                  </a:moveTo>
                  <a:cubicBezTo>
                    <a:pt x="1962150" y="0"/>
                    <a:pt x="4324350" y="142875"/>
                    <a:pt x="7058025" y="47625"/>
                  </a:cubicBezTo>
                </a:path>
              </a:pathLst>
            </a:custGeom>
            <a:noFill/>
            <a:ln w="47625" cap="rnd">
              <a:solidFill>
                <a:schemeClr val="accent3"/>
              </a:solidFill>
            </a:ln>
          </p:spPr>
        </p:sp>
      </p:grpSp>
      <p:grpSp>
        <p:nvGrpSpPr>
          <p:cNvPr id="29" name="Group 29"/>
          <p:cNvGrpSpPr/>
          <p:nvPr/>
        </p:nvGrpSpPr>
        <p:grpSpPr>
          <a:xfrm>
            <a:off x="486156" y="1386840"/>
            <a:ext cx="10772394" cy="1627061"/>
            <a:chOff x="486156" y="1386840"/>
            <a:chExt cx="10772394" cy="1627061"/>
          </a:xfrm>
        </p:grpSpPr>
        <p:sp>
          <p:nvSpPr>
            <p:cNvPr id="5" name="TextBox 5"/>
            <p:cNvSpPr txBox="1"/>
            <p:nvPr/>
          </p:nvSpPr>
          <p:spPr>
            <a:xfrm>
              <a:off x="486156" y="1386840"/>
              <a:ext cx="1290447" cy="352044"/>
            </a:xfrm>
            <a:prstGeom prst="rect">
              <a:avLst/>
            </a:prstGeom>
            <a:noFill/>
            <a:ln>
              <a:noFill/>
            </a:ln>
          </p:spPr>
          <p:txBody>
            <a:bodyPr wrap="none" lIns="0" tIns="0" rIns="0" bIns="0" anchor="t" anchorCtr="0">
              <a:spAutoFit/>
            </a:bodyPr>
            <a:lstStyle/>
            <a:p>
              <a:pPr algn="l"/>
              <a:r>
                <a:rPr lang="zh-CN" sz="1800" b="1" dirty="0">
                  <a:solidFill>
                    <a:schemeClr val="accent3"/>
                  </a:solidFill>
                  <a:latin typeface="+mj-lt"/>
                  <a:ea typeface="+mj-ea"/>
                  <a:cs typeface="+mj-cs"/>
                </a:rPr>
                <a:t>七步证据链</a:t>
              </a:r>
            </a:p>
          </p:txBody>
        </p:sp>
        <p:sp>
          <p:nvSpPr>
            <p:cNvPr id="6" name="Freeform 6"/>
            <p:cNvSpPr/>
            <p:nvPr/>
          </p:nvSpPr>
          <p:spPr>
            <a:xfrm>
              <a:off x="876300" y="2028825"/>
              <a:ext cx="10353675" cy="361950"/>
            </a:xfrm>
            <a:custGeom>
              <a:avLst/>
              <a:gdLst/>
              <a:ahLst/>
              <a:cxnLst/>
              <a:rect l="l" t="t" r="r" b="b"/>
              <a:pathLst>
                <a:path w="10353675" h="361950">
                  <a:moveTo>
                    <a:pt x="0" y="333375"/>
                  </a:moveTo>
                  <a:cubicBezTo>
                    <a:pt x="1466850" y="114300"/>
                    <a:pt x="3124200" y="361950"/>
                    <a:pt x="4676775" y="180975"/>
                  </a:cubicBezTo>
                  <a:cubicBezTo>
                    <a:pt x="6257925" y="0"/>
                    <a:pt x="8020050" y="304800"/>
                    <a:pt x="10353675" y="104775"/>
                  </a:cubicBezTo>
                </a:path>
              </a:pathLst>
            </a:custGeom>
            <a:noFill/>
            <a:ln w="47625" cap="rnd">
              <a:solidFill>
                <a:schemeClr val="accent1"/>
              </a:solidFill>
              <a:round/>
            </a:ln>
          </p:spPr>
        </p:sp>
        <p:sp>
          <p:nvSpPr>
            <p:cNvPr id="7" name="Freeform 7"/>
            <p:cNvSpPr/>
            <p:nvPr/>
          </p:nvSpPr>
          <p:spPr>
            <a:xfrm>
              <a:off x="10991850" y="2009775"/>
              <a:ext cx="266700" cy="295275"/>
            </a:xfrm>
            <a:custGeom>
              <a:avLst/>
              <a:gdLst/>
              <a:ahLst/>
              <a:cxnLst/>
              <a:rect l="l" t="t" r="r" b="b"/>
              <a:pathLst>
                <a:path w="266700" h="295275">
                  <a:moveTo>
                    <a:pt x="0" y="0"/>
                  </a:moveTo>
                  <a:lnTo>
                    <a:pt x="266700" y="123825"/>
                  </a:lnTo>
                  <a:lnTo>
                    <a:pt x="38100" y="295275"/>
                  </a:lnTo>
                </a:path>
              </a:pathLst>
            </a:custGeom>
            <a:noFill/>
            <a:ln w="47625" cap="rnd">
              <a:solidFill>
                <a:schemeClr val="accent1"/>
              </a:solidFill>
              <a:round/>
            </a:ln>
          </p:spPr>
        </p:sp>
        <p:sp>
          <p:nvSpPr>
            <p:cNvPr id="8" name="Ellipse 8"/>
            <p:cNvSpPr/>
            <p:nvPr/>
          </p:nvSpPr>
          <p:spPr>
            <a:xfrm>
              <a:off x="762000" y="2047875"/>
              <a:ext cx="571500" cy="571500"/>
            </a:xfrm>
            <a:prstGeom prst="ellipse">
              <a:avLst/>
            </a:prstGeom>
            <a:solidFill>
              <a:schemeClr val="lt2"/>
            </a:solidFill>
            <a:ln w="38100">
              <a:solidFill>
                <a:schemeClr val="accent3"/>
              </a:solidFill>
            </a:ln>
          </p:spPr>
        </p:sp>
        <p:sp>
          <p:nvSpPr>
            <p:cNvPr id="9" name="Ellipse 9"/>
            <p:cNvSpPr/>
            <p:nvPr/>
          </p:nvSpPr>
          <p:spPr>
            <a:xfrm>
              <a:off x="2381250" y="1971675"/>
              <a:ext cx="571500" cy="571500"/>
            </a:xfrm>
            <a:prstGeom prst="ellipse">
              <a:avLst/>
            </a:prstGeom>
            <a:solidFill>
              <a:schemeClr val="lt2"/>
            </a:solidFill>
            <a:ln w="38100">
              <a:solidFill>
                <a:schemeClr val="accent3"/>
              </a:solidFill>
            </a:ln>
          </p:spPr>
        </p:sp>
        <p:sp>
          <p:nvSpPr>
            <p:cNvPr id="10" name="Ellipse 10"/>
            <p:cNvSpPr/>
            <p:nvPr/>
          </p:nvSpPr>
          <p:spPr>
            <a:xfrm>
              <a:off x="4000500" y="1990725"/>
              <a:ext cx="571500" cy="571500"/>
            </a:xfrm>
            <a:prstGeom prst="ellipse">
              <a:avLst/>
            </a:prstGeom>
            <a:solidFill>
              <a:schemeClr val="lt2"/>
            </a:solidFill>
            <a:ln w="38100">
              <a:solidFill>
                <a:schemeClr val="accent3"/>
              </a:solidFill>
            </a:ln>
          </p:spPr>
        </p:sp>
        <p:sp>
          <p:nvSpPr>
            <p:cNvPr id="11" name="Ellipse 11"/>
            <p:cNvSpPr/>
            <p:nvPr/>
          </p:nvSpPr>
          <p:spPr>
            <a:xfrm>
              <a:off x="5619750" y="1905000"/>
              <a:ext cx="571500" cy="571500"/>
            </a:xfrm>
            <a:prstGeom prst="ellipse">
              <a:avLst/>
            </a:prstGeom>
            <a:solidFill>
              <a:schemeClr val="lt2"/>
            </a:solidFill>
            <a:ln w="38100">
              <a:solidFill>
                <a:schemeClr val="accent2"/>
              </a:solidFill>
            </a:ln>
          </p:spPr>
        </p:sp>
        <p:sp>
          <p:nvSpPr>
            <p:cNvPr id="12" name="Ellipse 12"/>
            <p:cNvSpPr/>
            <p:nvPr/>
          </p:nvSpPr>
          <p:spPr>
            <a:xfrm>
              <a:off x="7239000" y="1885950"/>
              <a:ext cx="571500" cy="571500"/>
            </a:xfrm>
            <a:prstGeom prst="ellipse">
              <a:avLst/>
            </a:prstGeom>
            <a:solidFill>
              <a:schemeClr val="lt2"/>
            </a:solidFill>
            <a:ln w="38100">
              <a:solidFill>
                <a:schemeClr val="accent2"/>
              </a:solidFill>
            </a:ln>
          </p:spPr>
        </p:sp>
        <p:sp>
          <p:nvSpPr>
            <p:cNvPr id="13" name="Ellipse 13"/>
            <p:cNvSpPr/>
            <p:nvPr/>
          </p:nvSpPr>
          <p:spPr>
            <a:xfrm>
              <a:off x="8858250" y="1924050"/>
              <a:ext cx="571500" cy="571500"/>
            </a:xfrm>
            <a:prstGeom prst="ellipse">
              <a:avLst/>
            </a:prstGeom>
            <a:solidFill>
              <a:schemeClr val="lt2"/>
            </a:solidFill>
            <a:ln w="38100">
              <a:solidFill>
                <a:srgbClr val="2F7D5C"/>
              </a:solidFill>
            </a:ln>
          </p:spPr>
        </p:sp>
        <p:sp>
          <p:nvSpPr>
            <p:cNvPr id="14" name="Ellipse 14"/>
            <p:cNvSpPr/>
            <p:nvPr/>
          </p:nvSpPr>
          <p:spPr>
            <a:xfrm>
              <a:off x="10439400" y="1847850"/>
              <a:ext cx="647700" cy="647700"/>
            </a:xfrm>
            <a:prstGeom prst="ellipse">
              <a:avLst/>
            </a:prstGeom>
            <a:solidFill>
              <a:schemeClr val="lt2"/>
            </a:solidFill>
            <a:ln w="47625">
              <a:solidFill>
                <a:srgbClr val="2F7D5C"/>
              </a:solidFill>
            </a:ln>
          </p:spPr>
        </p:sp>
        <p:sp>
          <p:nvSpPr>
            <p:cNvPr id="15" name="TextBox 15"/>
            <p:cNvSpPr txBox="1"/>
            <p:nvPr/>
          </p:nvSpPr>
          <p:spPr>
            <a:xfrm>
              <a:off x="898669" y="2205990"/>
              <a:ext cx="298163" cy="352044"/>
            </a:xfrm>
            <a:prstGeom prst="rect">
              <a:avLst/>
            </a:prstGeom>
            <a:noFill/>
            <a:ln>
              <a:noFill/>
            </a:ln>
          </p:spPr>
          <p:txBody>
            <a:bodyPr wrap="none" lIns="0" tIns="0" rIns="0" bIns="0" anchor="t" anchorCtr="0">
              <a:spAutoFit/>
            </a:bodyPr>
            <a:lstStyle/>
            <a:p>
              <a:pPr algn="ctr"/>
              <a:r>
                <a:rPr lang="en-US" sz="1800" b="1" dirty="0">
                  <a:solidFill>
                    <a:schemeClr val="accent3"/>
                  </a:solidFill>
                  <a:latin typeface="Consolas"/>
                  <a:ea typeface="Consolas"/>
                  <a:cs typeface="Consolas"/>
                </a:rPr>
                <a:t>01</a:t>
              </a:r>
            </a:p>
          </p:txBody>
        </p:sp>
        <p:sp>
          <p:nvSpPr>
            <p:cNvPr id="16" name="TextBox 16"/>
            <p:cNvSpPr txBox="1"/>
            <p:nvPr/>
          </p:nvSpPr>
          <p:spPr>
            <a:xfrm>
              <a:off x="2517919" y="2129790"/>
              <a:ext cx="298163" cy="352044"/>
            </a:xfrm>
            <a:prstGeom prst="rect">
              <a:avLst/>
            </a:prstGeom>
            <a:noFill/>
            <a:ln>
              <a:noFill/>
            </a:ln>
          </p:spPr>
          <p:txBody>
            <a:bodyPr wrap="none" lIns="0" tIns="0" rIns="0" bIns="0" anchor="t" anchorCtr="0">
              <a:spAutoFit/>
            </a:bodyPr>
            <a:lstStyle/>
            <a:p>
              <a:pPr algn="ctr"/>
              <a:r>
                <a:rPr lang="en-US" sz="1800" b="1" dirty="0">
                  <a:solidFill>
                    <a:schemeClr val="accent3"/>
                  </a:solidFill>
                  <a:latin typeface="Consolas"/>
                  <a:ea typeface="Consolas"/>
                  <a:cs typeface="Consolas"/>
                </a:rPr>
                <a:t>02</a:t>
              </a:r>
            </a:p>
          </p:txBody>
        </p:sp>
        <p:sp>
          <p:nvSpPr>
            <p:cNvPr id="17" name="TextBox 17"/>
            <p:cNvSpPr txBox="1"/>
            <p:nvPr/>
          </p:nvSpPr>
          <p:spPr>
            <a:xfrm>
              <a:off x="4137169" y="2148840"/>
              <a:ext cx="298163" cy="352044"/>
            </a:xfrm>
            <a:prstGeom prst="rect">
              <a:avLst/>
            </a:prstGeom>
            <a:noFill/>
            <a:ln>
              <a:noFill/>
            </a:ln>
          </p:spPr>
          <p:txBody>
            <a:bodyPr wrap="none" lIns="0" tIns="0" rIns="0" bIns="0" anchor="t" anchorCtr="0">
              <a:spAutoFit/>
            </a:bodyPr>
            <a:lstStyle/>
            <a:p>
              <a:pPr algn="ctr"/>
              <a:r>
                <a:rPr lang="en-US" sz="1800" b="1" dirty="0">
                  <a:solidFill>
                    <a:schemeClr val="accent3"/>
                  </a:solidFill>
                  <a:latin typeface="Consolas"/>
                  <a:ea typeface="Consolas"/>
                  <a:cs typeface="Consolas"/>
                </a:rPr>
                <a:t>03</a:t>
              </a:r>
            </a:p>
          </p:txBody>
        </p:sp>
        <p:sp>
          <p:nvSpPr>
            <p:cNvPr id="18" name="TextBox 18"/>
            <p:cNvSpPr txBox="1"/>
            <p:nvPr/>
          </p:nvSpPr>
          <p:spPr>
            <a:xfrm>
              <a:off x="5756419" y="2063115"/>
              <a:ext cx="298163" cy="352044"/>
            </a:xfrm>
            <a:prstGeom prst="rect">
              <a:avLst/>
            </a:prstGeom>
            <a:noFill/>
            <a:ln>
              <a:noFill/>
            </a:ln>
          </p:spPr>
          <p:txBody>
            <a:bodyPr wrap="none" lIns="0" tIns="0" rIns="0" bIns="0" anchor="t" anchorCtr="0">
              <a:spAutoFit/>
            </a:bodyPr>
            <a:lstStyle/>
            <a:p>
              <a:pPr algn="ctr"/>
              <a:r>
                <a:rPr lang="en-US" sz="1800" b="1" dirty="0">
                  <a:solidFill>
                    <a:schemeClr val="accent2"/>
                  </a:solidFill>
                  <a:latin typeface="Consolas"/>
                  <a:ea typeface="Consolas"/>
                  <a:cs typeface="Consolas"/>
                </a:rPr>
                <a:t>04</a:t>
              </a:r>
            </a:p>
          </p:txBody>
        </p:sp>
        <p:sp>
          <p:nvSpPr>
            <p:cNvPr id="19" name="TextBox 19"/>
            <p:cNvSpPr txBox="1"/>
            <p:nvPr/>
          </p:nvSpPr>
          <p:spPr>
            <a:xfrm>
              <a:off x="7375669" y="2044065"/>
              <a:ext cx="298163" cy="352044"/>
            </a:xfrm>
            <a:prstGeom prst="rect">
              <a:avLst/>
            </a:prstGeom>
            <a:noFill/>
            <a:ln>
              <a:noFill/>
            </a:ln>
          </p:spPr>
          <p:txBody>
            <a:bodyPr wrap="none" lIns="0" tIns="0" rIns="0" bIns="0" anchor="t" anchorCtr="0">
              <a:spAutoFit/>
            </a:bodyPr>
            <a:lstStyle/>
            <a:p>
              <a:pPr algn="ctr"/>
              <a:r>
                <a:rPr lang="en-US" sz="1800" b="1" dirty="0">
                  <a:solidFill>
                    <a:schemeClr val="accent2"/>
                  </a:solidFill>
                  <a:latin typeface="Consolas"/>
                  <a:ea typeface="Consolas"/>
                  <a:cs typeface="Consolas"/>
                </a:rPr>
                <a:t>05</a:t>
              </a:r>
            </a:p>
          </p:txBody>
        </p:sp>
        <p:sp>
          <p:nvSpPr>
            <p:cNvPr id="20" name="TextBox 20"/>
            <p:cNvSpPr txBox="1"/>
            <p:nvPr/>
          </p:nvSpPr>
          <p:spPr>
            <a:xfrm>
              <a:off x="8994919" y="2082165"/>
              <a:ext cx="298163" cy="352044"/>
            </a:xfrm>
            <a:prstGeom prst="rect">
              <a:avLst/>
            </a:prstGeom>
            <a:noFill/>
            <a:ln>
              <a:noFill/>
            </a:ln>
          </p:spPr>
          <p:txBody>
            <a:bodyPr wrap="none" lIns="0" tIns="0" rIns="0" bIns="0" anchor="t" anchorCtr="0">
              <a:spAutoFit/>
            </a:bodyPr>
            <a:lstStyle/>
            <a:p>
              <a:pPr algn="ctr"/>
              <a:r>
                <a:rPr lang="en-US" sz="1800" b="1" dirty="0">
                  <a:solidFill>
                    <a:srgbClr val="2F7D5C"/>
                  </a:solidFill>
                  <a:latin typeface="Consolas"/>
                  <a:ea typeface="Consolas"/>
                  <a:cs typeface="Consolas"/>
                </a:rPr>
                <a:t>06</a:t>
              </a:r>
            </a:p>
          </p:txBody>
        </p:sp>
        <p:sp>
          <p:nvSpPr>
            <p:cNvPr id="21" name="TextBox 21"/>
            <p:cNvSpPr txBox="1"/>
            <p:nvPr/>
          </p:nvSpPr>
          <p:spPr>
            <a:xfrm>
              <a:off x="10614169" y="2044065"/>
              <a:ext cx="298163" cy="352044"/>
            </a:xfrm>
            <a:prstGeom prst="rect">
              <a:avLst/>
            </a:prstGeom>
            <a:noFill/>
            <a:ln>
              <a:noFill/>
            </a:ln>
          </p:spPr>
          <p:txBody>
            <a:bodyPr wrap="none" lIns="0" tIns="0" rIns="0" bIns="0" anchor="t" anchorCtr="0">
              <a:spAutoFit/>
            </a:bodyPr>
            <a:lstStyle/>
            <a:p>
              <a:pPr algn="ctr"/>
              <a:r>
                <a:rPr lang="en-US" sz="1800" b="1" dirty="0">
                  <a:solidFill>
                    <a:srgbClr val="2F7D5C"/>
                  </a:solidFill>
                  <a:latin typeface="Consolas"/>
                  <a:ea typeface="Consolas"/>
                  <a:cs typeface="Consolas"/>
                </a:rPr>
                <a:t>07</a:t>
              </a:r>
            </a:p>
          </p:txBody>
        </p:sp>
        <p:sp>
          <p:nvSpPr>
            <p:cNvPr id="22" name="TextBox 22"/>
            <p:cNvSpPr txBox="1"/>
            <p:nvPr/>
          </p:nvSpPr>
          <p:spPr>
            <a:xfrm>
              <a:off x="656844" y="2749868"/>
              <a:ext cx="781812"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固定提交</a:t>
              </a:r>
            </a:p>
          </p:txBody>
        </p:sp>
        <p:sp>
          <p:nvSpPr>
            <p:cNvPr id="23" name="TextBox 23"/>
            <p:cNvSpPr txBox="1"/>
            <p:nvPr/>
          </p:nvSpPr>
          <p:spPr>
            <a:xfrm>
              <a:off x="2276094" y="2673668"/>
              <a:ext cx="781812"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隔离环境</a:t>
              </a:r>
            </a:p>
          </p:txBody>
        </p:sp>
        <p:sp>
          <p:nvSpPr>
            <p:cNvPr id="24" name="TextBox 24"/>
            <p:cNvSpPr txBox="1"/>
            <p:nvPr/>
          </p:nvSpPr>
          <p:spPr>
            <a:xfrm>
              <a:off x="3696462" y="2692718"/>
              <a:ext cx="1179576" cy="264033"/>
            </a:xfrm>
            <a:prstGeom prst="rect">
              <a:avLst/>
            </a:prstGeom>
            <a:noFill/>
            <a:ln>
              <a:noFill/>
            </a:ln>
          </p:spPr>
          <p:txBody>
            <a:bodyPr wrap="none" lIns="0" tIns="0" rIns="0" bIns="0" anchor="t" anchorCtr="0">
              <a:spAutoFit/>
            </a:bodyPr>
            <a:lstStyle/>
            <a:p>
              <a:pPr algn="ctr"/>
              <a:r>
                <a:rPr lang="en-US" sz="1350" dirty="0">
                  <a:solidFill>
                    <a:schemeClr val="dk1"/>
                  </a:solidFill>
                  <a:latin typeface="+mn-lt"/>
                  <a:ea typeface="+mn-ea"/>
                  <a:cs typeface="+mn-cs"/>
                </a:rPr>
                <a:t>CUDA / EGL</a:t>
              </a:r>
            </a:p>
          </p:txBody>
        </p:sp>
        <p:sp>
          <p:nvSpPr>
            <p:cNvPr id="25" name="TextBox 25"/>
            <p:cNvSpPr txBox="1"/>
            <p:nvPr/>
          </p:nvSpPr>
          <p:spPr>
            <a:xfrm>
              <a:off x="5394579" y="2606992"/>
              <a:ext cx="1021842"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最小 smoke</a:t>
              </a:r>
            </a:p>
          </p:txBody>
        </p:sp>
        <p:sp>
          <p:nvSpPr>
            <p:cNvPr id="26" name="TextBox 26"/>
            <p:cNvSpPr txBox="1"/>
            <p:nvPr/>
          </p:nvSpPr>
          <p:spPr>
            <a:xfrm>
              <a:off x="7133844" y="2587942"/>
              <a:ext cx="781812"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严格加载</a:t>
              </a:r>
            </a:p>
          </p:txBody>
        </p:sp>
        <p:sp>
          <p:nvSpPr>
            <p:cNvPr id="27" name="TextBox 27"/>
            <p:cNvSpPr txBox="1"/>
            <p:nvPr/>
          </p:nvSpPr>
          <p:spPr>
            <a:xfrm>
              <a:off x="8753094" y="2626042"/>
              <a:ext cx="781812"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有界评估</a:t>
              </a:r>
            </a:p>
          </p:txBody>
        </p:sp>
        <p:sp>
          <p:nvSpPr>
            <p:cNvPr id="28" name="TextBox 28"/>
            <p:cNvSpPr txBox="1"/>
            <p:nvPr/>
          </p:nvSpPr>
          <p:spPr>
            <a:xfrm>
              <a:off x="10372344" y="2606992"/>
              <a:ext cx="781812"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证据交付</a:t>
              </a:r>
            </a:p>
          </p:txBody>
        </p:sp>
      </p:grpSp>
      <p:grpSp>
        <p:nvGrpSpPr>
          <p:cNvPr id="44" name="Group 44"/>
          <p:cNvGrpSpPr/>
          <p:nvPr/>
        </p:nvGrpSpPr>
        <p:grpSpPr>
          <a:xfrm>
            <a:off x="438150" y="3825240"/>
            <a:ext cx="11220450" cy="2341435"/>
            <a:chOff x="438150" y="3825240"/>
            <a:chExt cx="11220450" cy="2341435"/>
          </a:xfrm>
        </p:grpSpPr>
        <p:sp>
          <p:nvSpPr>
            <p:cNvPr id="30" name="TextBox 30"/>
            <p:cNvSpPr txBox="1"/>
            <p:nvPr/>
          </p:nvSpPr>
          <p:spPr>
            <a:xfrm>
              <a:off x="486156" y="3825240"/>
              <a:ext cx="2638936"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j-lt"/>
                  <a:ea typeface="+mj-ea"/>
                  <a:cs typeface="+mj-cs"/>
                </a:rPr>
                <a:t>典型问题 → 修复 → 证据</a:t>
              </a:r>
            </a:p>
          </p:txBody>
        </p:sp>
        <p:sp>
          <p:nvSpPr>
            <p:cNvPr id="31" name="Freeform 31"/>
            <p:cNvSpPr/>
            <p:nvPr/>
          </p:nvSpPr>
          <p:spPr>
            <a:xfrm>
              <a:off x="438150" y="4086225"/>
              <a:ext cx="3667125" cy="1885950"/>
            </a:xfrm>
            <a:custGeom>
              <a:avLst/>
              <a:gdLst/>
              <a:ahLst/>
              <a:cxnLst/>
              <a:rect l="l" t="t" r="r" b="b"/>
              <a:pathLst>
                <a:path w="3667125" h="1885950">
                  <a:moveTo>
                    <a:pt x="104775" y="133350"/>
                  </a:moveTo>
                  <a:cubicBezTo>
                    <a:pt x="1695450" y="0"/>
                    <a:pt x="3219450" y="76200"/>
                    <a:pt x="3590925" y="247650"/>
                  </a:cubicBezTo>
                  <a:cubicBezTo>
                    <a:pt x="3667125" y="742950"/>
                    <a:pt x="3619500" y="1304925"/>
                    <a:pt x="3486150" y="1771650"/>
                  </a:cubicBezTo>
                  <a:cubicBezTo>
                    <a:pt x="2286000" y="1885950"/>
                    <a:pt x="1190625" y="1819275"/>
                    <a:pt x="104775" y="1685925"/>
                  </a:cubicBezTo>
                  <a:cubicBezTo>
                    <a:pt x="0" y="1200150"/>
                    <a:pt x="9525" y="638175"/>
                    <a:pt x="104775" y="133350"/>
                  </a:cubicBezTo>
                  <a:close/>
                </a:path>
              </a:pathLst>
            </a:custGeom>
            <a:solidFill>
              <a:schemeClr val="lt2">
                <a:alpha val="60000"/>
              </a:schemeClr>
            </a:solidFill>
            <a:ln w="28575" cap="rnd">
              <a:solidFill>
                <a:schemeClr val="accent1"/>
              </a:solidFill>
              <a:round/>
            </a:ln>
          </p:spPr>
        </p:sp>
        <p:sp>
          <p:nvSpPr>
            <p:cNvPr id="32" name="TextBox 32"/>
            <p:cNvSpPr txBox="1"/>
            <p:nvPr/>
          </p:nvSpPr>
          <p:spPr>
            <a:xfrm>
              <a:off x="771906" y="4434840"/>
              <a:ext cx="103601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j-lt"/>
                  <a:ea typeface="+mj-ea"/>
                  <a:cs typeface="+mj-cs"/>
                </a:rPr>
                <a:t>版本漂移</a:t>
              </a:r>
            </a:p>
          </p:txBody>
        </p:sp>
        <p:sp>
          <p:nvSpPr>
            <p:cNvPr id="33" name="TextBox 33"/>
            <p:cNvSpPr txBox="1"/>
            <p:nvPr/>
          </p:nvSpPr>
          <p:spPr>
            <a:xfrm>
              <a:off x="771906" y="4806315"/>
              <a:ext cx="229697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固定 commit / 依赖</a:t>
              </a:r>
            </a:p>
          </p:txBody>
        </p:sp>
        <p:sp>
          <p:nvSpPr>
            <p:cNvPr id="34" name="TextBox 34"/>
            <p:cNvSpPr txBox="1"/>
            <p:nvPr/>
          </p:nvSpPr>
          <p:spPr>
            <a:xfrm>
              <a:off x="771906" y="5177790"/>
              <a:ext cx="2066544" cy="352044"/>
            </a:xfrm>
            <a:prstGeom prst="rect">
              <a:avLst/>
            </a:prstGeom>
            <a:noFill/>
            <a:ln>
              <a:noFill/>
            </a:ln>
          </p:spPr>
          <p:txBody>
            <a:bodyPr wrap="none" lIns="0" tIns="0" rIns="0" bIns="0" anchor="t" anchorCtr="0">
              <a:spAutoFit/>
            </a:bodyPr>
            <a:lstStyle/>
            <a:p>
              <a:pPr algn="l"/>
              <a:r>
                <a:rPr lang="zh-CN" sz="1800" dirty="0">
                  <a:solidFill>
                    <a:srgbClr val="2F7D5C"/>
                  </a:solidFill>
                  <a:latin typeface="+mn-lt"/>
                  <a:ea typeface="+mn-ea"/>
                  <a:cs typeface="+mn-cs"/>
                </a:rPr>
                <a:t>→ 哈希 + 环境清单</a:t>
              </a:r>
            </a:p>
          </p:txBody>
        </p:sp>
        <p:sp>
          <p:nvSpPr>
            <p:cNvPr id="35" name="Freeform 35"/>
            <p:cNvSpPr/>
            <p:nvPr/>
          </p:nvSpPr>
          <p:spPr>
            <a:xfrm>
              <a:off x="4191000" y="4076700"/>
              <a:ext cx="3676650" cy="1905000"/>
            </a:xfrm>
            <a:custGeom>
              <a:avLst/>
              <a:gdLst/>
              <a:ahLst/>
              <a:cxnLst/>
              <a:rect l="l" t="t" r="r" b="b"/>
              <a:pathLst>
                <a:path w="3676650" h="1905000">
                  <a:moveTo>
                    <a:pt x="104775" y="142875"/>
                  </a:moveTo>
                  <a:cubicBezTo>
                    <a:pt x="1704975" y="0"/>
                    <a:pt x="3257550" y="95250"/>
                    <a:pt x="3590925" y="266700"/>
                  </a:cubicBezTo>
                  <a:cubicBezTo>
                    <a:pt x="3676650" y="762000"/>
                    <a:pt x="3629025" y="1314450"/>
                    <a:pt x="3486150" y="1781175"/>
                  </a:cubicBezTo>
                  <a:cubicBezTo>
                    <a:pt x="2276475" y="1905000"/>
                    <a:pt x="1200150" y="1828800"/>
                    <a:pt x="104775" y="1695450"/>
                  </a:cubicBezTo>
                  <a:cubicBezTo>
                    <a:pt x="0" y="1209675"/>
                    <a:pt x="9525" y="647700"/>
                    <a:pt x="104775" y="142875"/>
                  </a:cubicBezTo>
                  <a:close/>
                </a:path>
              </a:pathLst>
            </a:custGeom>
            <a:solidFill>
              <a:schemeClr val="lt1"/>
            </a:solidFill>
            <a:ln w="28575" cap="rnd">
              <a:solidFill>
                <a:schemeClr val="accent1"/>
              </a:solidFill>
              <a:round/>
            </a:ln>
          </p:spPr>
        </p:sp>
        <p:sp>
          <p:nvSpPr>
            <p:cNvPr id="36" name="TextBox 36"/>
            <p:cNvSpPr txBox="1"/>
            <p:nvPr/>
          </p:nvSpPr>
          <p:spPr>
            <a:xfrm>
              <a:off x="4524756" y="443484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j-lt"/>
                  <a:ea typeface="+mj-ea"/>
                  <a:cs typeface="+mj-cs"/>
                </a:rPr>
                <a:t>无显示器运行</a:t>
              </a:r>
            </a:p>
          </p:txBody>
        </p:sp>
        <p:sp>
          <p:nvSpPr>
            <p:cNvPr id="37" name="TextBox 37"/>
            <p:cNvSpPr txBox="1"/>
            <p:nvPr/>
          </p:nvSpPr>
          <p:spPr>
            <a:xfrm>
              <a:off x="4524756" y="4806315"/>
              <a:ext cx="22860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MuJoCo EGL 探针</a:t>
              </a:r>
            </a:p>
          </p:txBody>
        </p:sp>
        <p:sp>
          <p:nvSpPr>
            <p:cNvPr id="38" name="TextBox 38"/>
            <p:cNvSpPr txBox="1"/>
            <p:nvPr/>
          </p:nvSpPr>
          <p:spPr>
            <a:xfrm>
              <a:off x="4524756" y="5177790"/>
              <a:ext cx="1810512" cy="352044"/>
            </a:xfrm>
            <a:prstGeom prst="rect">
              <a:avLst/>
            </a:prstGeom>
            <a:noFill/>
            <a:ln>
              <a:noFill/>
            </a:ln>
          </p:spPr>
          <p:txBody>
            <a:bodyPr wrap="none" lIns="0" tIns="0" rIns="0" bIns="0" anchor="t" anchorCtr="0">
              <a:spAutoFit/>
            </a:bodyPr>
            <a:lstStyle/>
            <a:p>
              <a:pPr algn="l"/>
              <a:r>
                <a:rPr lang="zh-CN" sz="1800" dirty="0">
                  <a:solidFill>
                    <a:srgbClr val="2F7D5C"/>
                  </a:solidFill>
                  <a:latin typeface="+mn-lt"/>
                  <a:ea typeface="+mn-ea"/>
                  <a:cs typeface="+mn-cs"/>
                </a:rPr>
                <a:t>→ 日志 + 结果图</a:t>
              </a:r>
            </a:p>
          </p:txBody>
        </p:sp>
        <p:sp>
          <p:nvSpPr>
            <p:cNvPr id="39" name="Freeform 39"/>
            <p:cNvSpPr/>
            <p:nvPr/>
          </p:nvSpPr>
          <p:spPr>
            <a:xfrm>
              <a:off x="7943850" y="4095750"/>
              <a:ext cx="3714750" cy="1876425"/>
            </a:xfrm>
            <a:custGeom>
              <a:avLst/>
              <a:gdLst/>
              <a:ahLst/>
              <a:cxnLst/>
              <a:rect l="l" t="t" r="r" b="b"/>
              <a:pathLst>
                <a:path w="3714750" h="1876425">
                  <a:moveTo>
                    <a:pt x="104775" y="123825"/>
                  </a:moveTo>
                  <a:cubicBezTo>
                    <a:pt x="1657350" y="0"/>
                    <a:pt x="3200400" y="85725"/>
                    <a:pt x="3638550" y="247650"/>
                  </a:cubicBezTo>
                  <a:cubicBezTo>
                    <a:pt x="3714750" y="752475"/>
                    <a:pt x="3667125" y="1304925"/>
                    <a:pt x="3524250" y="1762125"/>
                  </a:cubicBezTo>
                  <a:cubicBezTo>
                    <a:pt x="2343150" y="1876425"/>
                    <a:pt x="1171575" y="1809750"/>
                    <a:pt x="104775" y="1676400"/>
                  </a:cubicBezTo>
                  <a:cubicBezTo>
                    <a:pt x="0" y="1190625"/>
                    <a:pt x="9525" y="628650"/>
                    <a:pt x="104775" y="123825"/>
                  </a:cubicBezTo>
                  <a:close/>
                </a:path>
              </a:pathLst>
            </a:custGeom>
            <a:solidFill>
              <a:schemeClr val="lt2">
                <a:alpha val="60000"/>
              </a:schemeClr>
            </a:solidFill>
            <a:ln w="28575" cap="rnd">
              <a:solidFill>
                <a:schemeClr val="accent1"/>
              </a:solidFill>
              <a:round/>
            </a:ln>
          </p:spPr>
        </p:sp>
        <p:sp>
          <p:nvSpPr>
            <p:cNvPr id="40" name="TextBox 40"/>
            <p:cNvSpPr txBox="1"/>
            <p:nvPr/>
          </p:nvSpPr>
          <p:spPr>
            <a:xfrm>
              <a:off x="8277606" y="443484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j-lt"/>
                  <a:ea typeface="+mj-ea"/>
                  <a:cs typeface="+mj-cs"/>
                </a:rPr>
                <a:t>评估语义混淆</a:t>
              </a:r>
            </a:p>
          </p:txBody>
        </p:sp>
        <p:sp>
          <p:nvSpPr>
            <p:cNvPr id="41" name="TextBox 41"/>
            <p:cNvSpPr txBox="1"/>
            <p:nvPr/>
          </p:nvSpPr>
          <p:spPr>
            <a:xfrm>
              <a:off x="8277606" y="4806315"/>
              <a:ext cx="297545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区分 smoke / 权重 / 训练</a:t>
              </a:r>
            </a:p>
          </p:txBody>
        </p:sp>
        <p:sp>
          <p:nvSpPr>
            <p:cNvPr id="42" name="TextBox 42"/>
            <p:cNvSpPr txBox="1"/>
            <p:nvPr/>
          </p:nvSpPr>
          <p:spPr>
            <a:xfrm>
              <a:off x="8277606" y="5177790"/>
              <a:ext cx="2066544" cy="352044"/>
            </a:xfrm>
            <a:prstGeom prst="rect">
              <a:avLst/>
            </a:prstGeom>
            <a:noFill/>
            <a:ln>
              <a:noFill/>
            </a:ln>
          </p:spPr>
          <p:txBody>
            <a:bodyPr wrap="none" lIns="0" tIns="0" rIns="0" bIns="0" anchor="t" anchorCtr="0">
              <a:spAutoFit/>
            </a:bodyPr>
            <a:lstStyle/>
            <a:p>
              <a:pPr algn="l"/>
              <a:r>
                <a:rPr lang="zh-CN" sz="1800" dirty="0">
                  <a:solidFill>
                    <a:srgbClr val="2F7D5C"/>
                  </a:solidFill>
                  <a:latin typeface="+mn-lt"/>
                  <a:ea typeface="+mn-ea"/>
                  <a:cs typeface="+mn-cs"/>
                </a:rPr>
                <a:t>→ 口径 + 边界声明</a:t>
              </a:r>
            </a:p>
          </p:txBody>
        </p:sp>
        <p:sp>
          <p:nvSpPr>
            <p:cNvPr id="43" name="TextBox 43"/>
            <p:cNvSpPr txBox="1"/>
            <p:nvPr/>
          </p:nvSpPr>
          <p:spPr>
            <a:xfrm>
              <a:off x="488442" y="5902642"/>
              <a:ext cx="423824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每个结论都能指向命令、日志、指标或落盘产物。</a:t>
              </a:r>
            </a:p>
          </p:txBody>
        </p:sp>
      </p:grpSp>
      <p:sp>
        <p:nvSpPr>
          <p:cNvPr id="45" name="TextBox 45"/>
          <p:cNvSpPr txBox="1"/>
          <p:nvPr/>
        </p:nvSpPr>
        <p:spPr>
          <a:xfrm>
            <a:off x="11508981" y="6407468"/>
            <a:ext cx="213627"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j-lt"/>
                <a:ea typeface="+mj-ea"/>
                <a:cs typeface="+mj-cs"/>
              </a:rPr>
              <a:t>10</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23672" y="378142"/>
            <a:ext cx="8085963" cy="557403"/>
            <a:chOff x="423672" y="378142"/>
            <a:chExt cx="8085963" cy="557403"/>
          </a:xfrm>
        </p:grpSpPr>
        <p:sp>
          <p:nvSpPr>
            <p:cNvPr id="2" name="TextBox 2"/>
            <p:cNvSpPr txBox="1"/>
            <p:nvPr/>
          </p:nvSpPr>
          <p:spPr>
            <a:xfrm>
              <a:off x="423672" y="378142"/>
              <a:ext cx="8085963"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j-lt"/>
                  <a:ea typeface="+mj-ea"/>
                  <a:cs typeface="+mj-cs"/>
                </a:rPr>
                <a:t>下一步，把世界模型嵌入真实机器人决策闭环</a:t>
              </a:r>
            </a:p>
          </p:txBody>
        </p:sp>
        <p:sp>
          <p:nvSpPr>
            <p:cNvPr id="3" name="Freeform 3"/>
            <p:cNvSpPr/>
            <p:nvPr/>
          </p:nvSpPr>
          <p:spPr>
            <a:xfrm>
              <a:off x="466725" y="752475"/>
              <a:ext cx="7477125" cy="142875"/>
            </a:xfrm>
            <a:custGeom>
              <a:avLst/>
              <a:gdLst/>
              <a:ahLst/>
              <a:cxnLst/>
              <a:rect l="l" t="t" r="r" b="b"/>
              <a:pathLst>
                <a:path w="7477125" h="142875">
                  <a:moveTo>
                    <a:pt x="0" y="85725"/>
                  </a:moveTo>
                  <a:cubicBezTo>
                    <a:pt x="1933575" y="0"/>
                    <a:pt x="4429125" y="142875"/>
                    <a:pt x="7477125" y="47625"/>
                  </a:cubicBezTo>
                </a:path>
              </a:pathLst>
            </a:custGeom>
            <a:noFill/>
            <a:ln w="47625" cap="rnd">
              <a:solidFill>
                <a:schemeClr val="accent3"/>
              </a:solidFill>
            </a:ln>
          </p:spPr>
        </p:sp>
      </p:grpSp>
      <p:grpSp>
        <p:nvGrpSpPr>
          <p:cNvPr id="15" name="Group 15"/>
          <p:cNvGrpSpPr/>
          <p:nvPr/>
        </p:nvGrpSpPr>
        <p:grpSpPr>
          <a:xfrm>
            <a:off x="428625" y="1200150"/>
            <a:ext cx="3495675" cy="3848100"/>
            <a:chOff x="428625" y="1200150"/>
            <a:chExt cx="3495675" cy="3848100"/>
          </a:xfrm>
        </p:grpSpPr>
        <p:sp>
          <p:nvSpPr>
            <p:cNvPr id="5" name="Freeform 5"/>
            <p:cNvSpPr/>
            <p:nvPr/>
          </p:nvSpPr>
          <p:spPr>
            <a:xfrm>
              <a:off x="428625" y="1200150"/>
              <a:ext cx="3495675" cy="3848100"/>
            </a:xfrm>
            <a:custGeom>
              <a:avLst/>
              <a:gdLst/>
              <a:ahLst/>
              <a:cxnLst/>
              <a:rect l="l" t="t" r="r" b="b"/>
              <a:pathLst>
                <a:path w="3495675" h="3848100">
                  <a:moveTo>
                    <a:pt x="152400" y="190500"/>
                  </a:moveTo>
                  <a:cubicBezTo>
                    <a:pt x="1123950" y="0"/>
                    <a:pt x="2667000" y="76200"/>
                    <a:pt x="3381375" y="295275"/>
                  </a:cubicBezTo>
                  <a:cubicBezTo>
                    <a:pt x="3495675" y="1276350"/>
                    <a:pt x="3448050" y="2667000"/>
                    <a:pt x="3248025" y="3676650"/>
                  </a:cubicBezTo>
                  <a:cubicBezTo>
                    <a:pt x="2105025" y="3848100"/>
                    <a:pt x="1009650" y="3752850"/>
                    <a:pt x="161925" y="3495675"/>
                  </a:cubicBezTo>
                  <a:cubicBezTo>
                    <a:pt x="0" y="2476500"/>
                    <a:pt x="9525" y="1200150"/>
                    <a:pt x="152400" y="190500"/>
                  </a:cubicBezTo>
                  <a:close/>
                </a:path>
              </a:pathLst>
            </a:custGeom>
            <a:solidFill>
              <a:schemeClr val="lt2">
                <a:alpha val="58000"/>
              </a:schemeClr>
            </a:solidFill>
            <a:ln w="28575" cap="rnd">
              <a:solidFill>
                <a:schemeClr val="accent1"/>
              </a:solidFill>
              <a:round/>
            </a:ln>
          </p:spPr>
        </p:sp>
        <p:sp>
          <p:nvSpPr>
            <p:cNvPr id="6" name="TextBox 6"/>
            <p:cNvSpPr txBox="1"/>
            <p:nvPr/>
          </p:nvSpPr>
          <p:spPr>
            <a:xfrm>
              <a:off x="764286" y="1510665"/>
              <a:ext cx="304602" cy="645414"/>
            </a:xfrm>
            <a:prstGeom prst="rect">
              <a:avLst/>
            </a:prstGeom>
            <a:noFill/>
            <a:ln>
              <a:noFill/>
            </a:ln>
          </p:spPr>
          <p:txBody>
            <a:bodyPr wrap="none" lIns="0" tIns="0" rIns="0" bIns="0" anchor="t" anchorCtr="0">
              <a:spAutoFit/>
            </a:bodyPr>
            <a:lstStyle/>
            <a:p>
              <a:pPr algn="l"/>
              <a:r>
                <a:rPr lang="en-US" sz="3300" b="1" dirty="0">
                  <a:solidFill>
                    <a:schemeClr val="accent3"/>
                  </a:solidFill>
                  <a:latin typeface="Consolas"/>
                  <a:ea typeface="Consolas"/>
                  <a:cs typeface="Consolas"/>
                </a:rPr>
                <a:t>A</a:t>
              </a:r>
            </a:p>
          </p:txBody>
        </p:sp>
        <p:sp>
          <p:nvSpPr>
            <p:cNvPr id="7" name="TextBox 7"/>
            <p:cNvSpPr txBox="1"/>
            <p:nvPr/>
          </p:nvSpPr>
          <p:spPr>
            <a:xfrm>
              <a:off x="1302258" y="1598295"/>
              <a:ext cx="2497653"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j-lt"/>
                  <a:ea typeface="+mj-ea"/>
                  <a:cs typeface="+mj-cs"/>
                </a:rPr>
                <a:t>人形机器人 HOI</a:t>
              </a:r>
            </a:p>
          </p:txBody>
        </p:sp>
        <p:sp>
          <p:nvSpPr>
            <p:cNvPr id="8" name="TextBox 8"/>
            <p:cNvSpPr txBox="1"/>
            <p:nvPr/>
          </p:nvSpPr>
          <p:spPr>
            <a:xfrm>
              <a:off x="771906" y="2215515"/>
              <a:ext cx="264535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基础：HDMI 复现与</a:t>
              </a:r>
            </a:p>
          </p:txBody>
        </p:sp>
        <p:sp>
          <p:nvSpPr>
            <p:cNvPr id="9" name="TextBox 9"/>
            <p:cNvSpPr txBox="1"/>
            <p:nvPr/>
          </p:nvSpPr>
          <p:spPr>
            <a:xfrm>
              <a:off x="771906" y="2558415"/>
              <a:ext cx="181051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自定义数据接入</a:t>
              </a:r>
            </a:p>
          </p:txBody>
        </p:sp>
        <p:sp>
          <p:nvSpPr>
            <p:cNvPr id="10" name="Freeform 10"/>
            <p:cNvSpPr/>
            <p:nvPr/>
          </p:nvSpPr>
          <p:spPr>
            <a:xfrm>
              <a:off x="781050" y="2914650"/>
              <a:ext cx="2705100" cy="142875"/>
            </a:xfrm>
            <a:custGeom>
              <a:avLst/>
              <a:gdLst/>
              <a:ahLst/>
              <a:cxnLst/>
              <a:rect l="l" t="t" r="r" b="b"/>
              <a:pathLst>
                <a:path w="2705100" h="142875">
                  <a:moveTo>
                    <a:pt x="0" y="95250"/>
                  </a:moveTo>
                  <a:cubicBezTo>
                    <a:pt x="876300" y="0"/>
                    <a:pt x="1952625" y="142875"/>
                    <a:pt x="2705100" y="38100"/>
                  </a:cubicBezTo>
                </a:path>
              </a:pathLst>
            </a:custGeom>
            <a:noFill/>
            <a:ln w="28575" cap="rnd">
              <a:solidFill>
                <a:schemeClr val="accent6"/>
              </a:solidFill>
            </a:ln>
          </p:spPr>
        </p:sp>
        <p:sp>
          <p:nvSpPr>
            <p:cNvPr id="11" name="TextBox 11"/>
            <p:cNvSpPr txBox="1"/>
            <p:nvPr/>
          </p:nvSpPr>
          <p:spPr>
            <a:xfrm>
              <a:off x="771906" y="3234690"/>
              <a:ext cx="1036015" cy="352044"/>
            </a:xfrm>
            <a:prstGeom prst="rect">
              <a:avLst/>
            </a:prstGeom>
            <a:noFill/>
            <a:ln>
              <a:noFill/>
            </a:ln>
          </p:spPr>
          <p:txBody>
            <a:bodyPr wrap="none" lIns="0" tIns="0" rIns="0" bIns="0" anchor="t" anchorCtr="0">
              <a:spAutoFit/>
            </a:bodyPr>
            <a:lstStyle/>
            <a:p>
              <a:pPr algn="l"/>
              <a:r>
                <a:rPr lang="zh-CN" sz="1800" b="1" dirty="0">
                  <a:solidFill>
                    <a:schemeClr val="accent3"/>
                  </a:solidFill>
                  <a:latin typeface="+mj-lt"/>
                  <a:ea typeface="+mj-ea"/>
                  <a:cs typeface="+mj-cs"/>
                </a:rPr>
                <a:t>要研究：</a:t>
              </a:r>
            </a:p>
          </p:txBody>
        </p:sp>
        <p:sp>
          <p:nvSpPr>
            <p:cNvPr id="12" name="TextBox 12"/>
            <p:cNvSpPr txBox="1"/>
            <p:nvPr/>
          </p:nvSpPr>
          <p:spPr>
            <a:xfrm>
              <a:off x="771906" y="3625215"/>
              <a:ext cx="10424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接触几何</a:t>
              </a:r>
            </a:p>
          </p:txBody>
        </p:sp>
        <p:sp>
          <p:nvSpPr>
            <p:cNvPr id="13" name="TextBox 13"/>
            <p:cNvSpPr txBox="1"/>
            <p:nvPr/>
          </p:nvSpPr>
          <p:spPr>
            <a:xfrm>
              <a:off x="771906" y="3977640"/>
              <a:ext cx="10424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局部规划</a:t>
              </a:r>
            </a:p>
          </p:txBody>
        </p:sp>
        <p:sp>
          <p:nvSpPr>
            <p:cNvPr id="14" name="TextBox 14"/>
            <p:cNvSpPr txBox="1"/>
            <p:nvPr/>
          </p:nvSpPr>
          <p:spPr>
            <a:xfrm>
              <a:off x="771906" y="4330065"/>
              <a:ext cx="129844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交互稳定性</a:t>
              </a:r>
            </a:p>
          </p:txBody>
        </p:sp>
      </p:grpSp>
      <p:grpSp>
        <p:nvGrpSpPr>
          <p:cNvPr id="26" name="Group 26"/>
          <p:cNvGrpSpPr/>
          <p:nvPr/>
        </p:nvGrpSpPr>
        <p:grpSpPr>
          <a:xfrm>
            <a:off x="4286250" y="1209675"/>
            <a:ext cx="3505200" cy="3829050"/>
            <a:chOff x="4286250" y="1209675"/>
            <a:chExt cx="3505200" cy="3829050"/>
          </a:xfrm>
        </p:grpSpPr>
        <p:sp>
          <p:nvSpPr>
            <p:cNvPr id="16" name="Freeform 16"/>
            <p:cNvSpPr/>
            <p:nvPr/>
          </p:nvSpPr>
          <p:spPr>
            <a:xfrm>
              <a:off x="4286250" y="1209675"/>
              <a:ext cx="3505200" cy="3829050"/>
            </a:xfrm>
            <a:custGeom>
              <a:avLst/>
              <a:gdLst/>
              <a:ahLst/>
              <a:cxnLst/>
              <a:rect l="l" t="t" r="r" b="b"/>
              <a:pathLst>
                <a:path w="3505200" h="3829050">
                  <a:moveTo>
                    <a:pt x="161925" y="180975"/>
                  </a:moveTo>
                  <a:cubicBezTo>
                    <a:pt x="1181100" y="0"/>
                    <a:pt x="2619375" y="76200"/>
                    <a:pt x="3390900" y="295275"/>
                  </a:cubicBezTo>
                  <a:cubicBezTo>
                    <a:pt x="3505200" y="1314450"/>
                    <a:pt x="3448050" y="2647950"/>
                    <a:pt x="3248025" y="3667125"/>
                  </a:cubicBezTo>
                  <a:cubicBezTo>
                    <a:pt x="2143125" y="3829050"/>
                    <a:pt x="1009650" y="3743325"/>
                    <a:pt x="171450" y="3486150"/>
                  </a:cubicBezTo>
                  <a:cubicBezTo>
                    <a:pt x="0" y="2457450"/>
                    <a:pt x="19050" y="1200150"/>
                    <a:pt x="161925" y="180975"/>
                  </a:cubicBezTo>
                  <a:close/>
                </a:path>
              </a:pathLst>
            </a:custGeom>
            <a:solidFill>
              <a:schemeClr val="lt1"/>
            </a:solidFill>
            <a:ln w="38100" cap="rnd">
              <a:solidFill>
                <a:schemeClr val="accent2"/>
              </a:solidFill>
              <a:round/>
            </a:ln>
          </p:spPr>
        </p:sp>
        <p:sp>
          <p:nvSpPr>
            <p:cNvPr id="17" name="TextBox 17"/>
            <p:cNvSpPr txBox="1"/>
            <p:nvPr/>
          </p:nvSpPr>
          <p:spPr>
            <a:xfrm>
              <a:off x="4631436" y="1510665"/>
              <a:ext cx="304602" cy="645414"/>
            </a:xfrm>
            <a:prstGeom prst="rect">
              <a:avLst/>
            </a:prstGeom>
            <a:noFill/>
            <a:ln>
              <a:noFill/>
            </a:ln>
          </p:spPr>
          <p:txBody>
            <a:bodyPr wrap="none" lIns="0" tIns="0" rIns="0" bIns="0" anchor="t" anchorCtr="0">
              <a:spAutoFit/>
            </a:bodyPr>
            <a:lstStyle/>
            <a:p>
              <a:pPr algn="l"/>
              <a:r>
                <a:rPr lang="en-US" sz="3300" b="1" dirty="0">
                  <a:solidFill>
                    <a:schemeClr val="accent2"/>
                  </a:solidFill>
                  <a:latin typeface="Consolas"/>
                  <a:ea typeface="Consolas"/>
                  <a:cs typeface="Consolas"/>
                </a:rPr>
                <a:t>B</a:t>
              </a:r>
            </a:p>
          </p:txBody>
        </p:sp>
        <p:sp>
          <p:nvSpPr>
            <p:cNvPr id="18" name="TextBox 18"/>
            <p:cNvSpPr txBox="1"/>
            <p:nvPr/>
          </p:nvSpPr>
          <p:spPr>
            <a:xfrm>
              <a:off x="5169408" y="1598295"/>
              <a:ext cx="258726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j-lt"/>
                  <a:ea typeface="+mj-ea"/>
                  <a:cs typeface="+mj-cs"/>
                </a:rPr>
                <a:t>VLA / WAM 协同</a:t>
              </a:r>
            </a:p>
          </p:txBody>
        </p:sp>
        <p:sp>
          <p:nvSpPr>
            <p:cNvPr id="19" name="TextBox 19"/>
            <p:cNvSpPr txBox="1"/>
            <p:nvPr/>
          </p:nvSpPr>
          <p:spPr>
            <a:xfrm>
              <a:off x="4639056" y="2215515"/>
              <a:ext cx="239442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基础：π0 / OpenPI</a:t>
              </a:r>
            </a:p>
          </p:txBody>
        </p:sp>
        <p:sp>
          <p:nvSpPr>
            <p:cNvPr id="20" name="TextBox 20"/>
            <p:cNvSpPr txBox="1"/>
            <p:nvPr/>
          </p:nvSpPr>
          <p:spPr>
            <a:xfrm>
              <a:off x="4639056" y="2558415"/>
              <a:ext cx="216621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与 Flow Matching</a:t>
              </a:r>
            </a:p>
          </p:txBody>
        </p:sp>
        <p:sp>
          <p:nvSpPr>
            <p:cNvPr id="21" name="Freeform 21"/>
            <p:cNvSpPr/>
            <p:nvPr/>
          </p:nvSpPr>
          <p:spPr>
            <a:xfrm>
              <a:off x="4648200" y="2914650"/>
              <a:ext cx="2705100" cy="142875"/>
            </a:xfrm>
            <a:custGeom>
              <a:avLst/>
              <a:gdLst/>
              <a:ahLst/>
              <a:cxnLst/>
              <a:rect l="l" t="t" r="r" b="b"/>
              <a:pathLst>
                <a:path w="2705100" h="142875">
                  <a:moveTo>
                    <a:pt x="0" y="95250"/>
                  </a:moveTo>
                  <a:cubicBezTo>
                    <a:pt x="895350" y="0"/>
                    <a:pt x="1962150" y="142875"/>
                    <a:pt x="2705100" y="38100"/>
                  </a:cubicBezTo>
                </a:path>
              </a:pathLst>
            </a:custGeom>
            <a:noFill/>
            <a:ln w="28575" cap="rnd">
              <a:solidFill>
                <a:schemeClr val="accent6"/>
              </a:solidFill>
            </a:ln>
          </p:spPr>
        </p:sp>
        <p:sp>
          <p:nvSpPr>
            <p:cNvPr id="22" name="TextBox 22"/>
            <p:cNvSpPr txBox="1"/>
            <p:nvPr/>
          </p:nvSpPr>
          <p:spPr>
            <a:xfrm>
              <a:off x="4639056" y="3234690"/>
              <a:ext cx="1036015"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j-lt"/>
                  <a:ea typeface="+mj-ea"/>
                  <a:cs typeface="+mj-cs"/>
                </a:rPr>
                <a:t>要研究：</a:t>
              </a:r>
            </a:p>
          </p:txBody>
        </p:sp>
        <p:sp>
          <p:nvSpPr>
            <p:cNvPr id="23" name="TextBox 23"/>
            <p:cNvSpPr txBox="1"/>
            <p:nvPr/>
          </p:nvSpPr>
          <p:spPr>
            <a:xfrm>
              <a:off x="4639056" y="3625215"/>
              <a:ext cx="217901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VLA 给动作先验</a:t>
              </a:r>
            </a:p>
          </p:txBody>
        </p:sp>
        <p:sp>
          <p:nvSpPr>
            <p:cNvPr id="24" name="TextBox 24"/>
            <p:cNvSpPr txBox="1"/>
            <p:nvPr/>
          </p:nvSpPr>
          <p:spPr>
            <a:xfrm>
              <a:off x="4641342" y="4026218"/>
              <a:ext cx="267050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WAM rollout / 检查 / 重规划</a:t>
              </a:r>
            </a:p>
          </p:txBody>
        </p:sp>
        <p:sp>
          <p:nvSpPr>
            <p:cNvPr id="25" name="TextBox 25"/>
            <p:cNvSpPr txBox="1"/>
            <p:nvPr/>
          </p:nvSpPr>
          <p:spPr>
            <a:xfrm>
              <a:off x="4639056" y="4330065"/>
              <a:ext cx="206654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失败时触发重规划</a:t>
              </a:r>
            </a:p>
          </p:txBody>
        </p:sp>
      </p:grpSp>
      <p:grpSp>
        <p:nvGrpSpPr>
          <p:cNvPr id="37" name="Group 37"/>
          <p:cNvGrpSpPr/>
          <p:nvPr/>
        </p:nvGrpSpPr>
        <p:grpSpPr>
          <a:xfrm>
            <a:off x="8153400" y="1219200"/>
            <a:ext cx="3584600" cy="3829050"/>
            <a:chOff x="8153400" y="1219200"/>
            <a:chExt cx="3584600" cy="3829050"/>
          </a:xfrm>
        </p:grpSpPr>
        <p:sp>
          <p:nvSpPr>
            <p:cNvPr id="27" name="Freeform 27"/>
            <p:cNvSpPr/>
            <p:nvPr/>
          </p:nvSpPr>
          <p:spPr>
            <a:xfrm>
              <a:off x="8153400" y="1219200"/>
              <a:ext cx="3514725" cy="3829050"/>
            </a:xfrm>
            <a:custGeom>
              <a:avLst/>
              <a:gdLst/>
              <a:ahLst/>
              <a:cxnLst/>
              <a:rect l="l" t="t" r="r" b="b"/>
              <a:pathLst>
                <a:path w="3514725" h="3829050">
                  <a:moveTo>
                    <a:pt x="161925" y="171450"/>
                  </a:moveTo>
                  <a:cubicBezTo>
                    <a:pt x="1181100" y="0"/>
                    <a:pt x="2647950" y="76200"/>
                    <a:pt x="3390900" y="285750"/>
                  </a:cubicBezTo>
                  <a:cubicBezTo>
                    <a:pt x="3514725" y="1276350"/>
                    <a:pt x="3457575" y="2647950"/>
                    <a:pt x="3248025" y="3657600"/>
                  </a:cubicBezTo>
                  <a:cubicBezTo>
                    <a:pt x="2133600" y="3829050"/>
                    <a:pt x="1000125" y="3724275"/>
                    <a:pt x="171450" y="3476625"/>
                  </a:cubicBezTo>
                  <a:cubicBezTo>
                    <a:pt x="0" y="2466975"/>
                    <a:pt x="19050" y="1181100"/>
                    <a:pt x="161925" y="171450"/>
                  </a:cubicBezTo>
                  <a:close/>
                </a:path>
              </a:pathLst>
            </a:custGeom>
            <a:solidFill>
              <a:schemeClr val="lt2">
                <a:alpha val="58000"/>
              </a:schemeClr>
            </a:solidFill>
            <a:ln w="28575" cap="rnd">
              <a:solidFill>
                <a:schemeClr val="accent1"/>
              </a:solidFill>
              <a:round/>
            </a:ln>
          </p:spPr>
        </p:sp>
        <p:sp>
          <p:nvSpPr>
            <p:cNvPr id="28" name="TextBox 28"/>
            <p:cNvSpPr txBox="1"/>
            <p:nvPr/>
          </p:nvSpPr>
          <p:spPr>
            <a:xfrm>
              <a:off x="8498586" y="1510665"/>
              <a:ext cx="304602" cy="645414"/>
            </a:xfrm>
            <a:prstGeom prst="rect">
              <a:avLst/>
            </a:prstGeom>
            <a:noFill/>
            <a:ln>
              <a:noFill/>
            </a:ln>
          </p:spPr>
          <p:txBody>
            <a:bodyPr wrap="none" lIns="0" tIns="0" rIns="0" bIns="0" anchor="t" anchorCtr="0">
              <a:spAutoFit/>
            </a:bodyPr>
            <a:lstStyle/>
            <a:p>
              <a:pPr algn="l"/>
              <a:r>
                <a:rPr lang="en-US" sz="3300" b="1" dirty="0">
                  <a:solidFill>
                    <a:srgbClr val="2F7D5C"/>
                  </a:solidFill>
                  <a:latin typeface="Consolas"/>
                  <a:ea typeface="Consolas"/>
                  <a:cs typeface="Consolas"/>
                </a:rPr>
                <a:t>C</a:t>
              </a:r>
            </a:p>
          </p:txBody>
        </p:sp>
        <p:sp>
          <p:nvSpPr>
            <p:cNvPr id="29" name="TextBox 29"/>
            <p:cNvSpPr txBox="1"/>
            <p:nvPr/>
          </p:nvSpPr>
          <p:spPr>
            <a:xfrm>
              <a:off x="8846058" y="1598295"/>
              <a:ext cx="289194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j-lt"/>
                  <a:ea typeface="+mj-ea"/>
                  <a:cs typeface="+mj-cs"/>
                </a:rPr>
                <a:t>复杂动力学 + MPC</a:t>
              </a:r>
            </a:p>
          </p:txBody>
        </p:sp>
        <p:sp>
          <p:nvSpPr>
            <p:cNvPr id="30" name="TextBox 30"/>
            <p:cNvSpPr txBox="1"/>
            <p:nvPr/>
          </p:nvSpPr>
          <p:spPr>
            <a:xfrm>
              <a:off x="8506206" y="2215515"/>
              <a:ext cx="246339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基础：无人机—悠悠球</a:t>
              </a:r>
            </a:p>
          </p:txBody>
        </p:sp>
        <p:sp>
          <p:nvSpPr>
            <p:cNvPr id="31" name="TextBox 31"/>
            <p:cNvSpPr txBox="1"/>
            <p:nvPr/>
          </p:nvSpPr>
          <p:spPr>
            <a:xfrm>
              <a:off x="8506206" y="2558415"/>
              <a:ext cx="283464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残差动力学与潜空间模型</a:t>
              </a:r>
            </a:p>
          </p:txBody>
        </p:sp>
        <p:sp>
          <p:nvSpPr>
            <p:cNvPr id="32" name="Freeform 32"/>
            <p:cNvSpPr/>
            <p:nvPr/>
          </p:nvSpPr>
          <p:spPr>
            <a:xfrm>
              <a:off x="8515350" y="2914650"/>
              <a:ext cx="2705100" cy="142875"/>
            </a:xfrm>
            <a:custGeom>
              <a:avLst/>
              <a:gdLst/>
              <a:ahLst/>
              <a:cxnLst/>
              <a:rect l="l" t="t" r="r" b="b"/>
              <a:pathLst>
                <a:path w="2705100" h="142875">
                  <a:moveTo>
                    <a:pt x="0" y="95250"/>
                  </a:moveTo>
                  <a:cubicBezTo>
                    <a:pt x="876300" y="0"/>
                    <a:pt x="1933575" y="142875"/>
                    <a:pt x="2705100" y="38100"/>
                  </a:cubicBezTo>
                </a:path>
              </a:pathLst>
            </a:custGeom>
            <a:noFill/>
            <a:ln w="28575" cap="rnd">
              <a:solidFill>
                <a:schemeClr val="accent6"/>
              </a:solidFill>
            </a:ln>
          </p:spPr>
        </p:sp>
        <p:sp>
          <p:nvSpPr>
            <p:cNvPr id="33" name="TextBox 33"/>
            <p:cNvSpPr txBox="1"/>
            <p:nvPr/>
          </p:nvSpPr>
          <p:spPr>
            <a:xfrm>
              <a:off x="8506206" y="3234690"/>
              <a:ext cx="1036015" cy="352044"/>
            </a:xfrm>
            <a:prstGeom prst="rect">
              <a:avLst/>
            </a:prstGeom>
            <a:noFill/>
            <a:ln>
              <a:noFill/>
            </a:ln>
          </p:spPr>
          <p:txBody>
            <a:bodyPr wrap="none" lIns="0" tIns="0" rIns="0" bIns="0" anchor="t" anchorCtr="0">
              <a:spAutoFit/>
            </a:bodyPr>
            <a:lstStyle/>
            <a:p>
              <a:pPr algn="l"/>
              <a:r>
                <a:rPr lang="zh-CN" sz="1800" b="1" dirty="0">
                  <a:solidFill>
                    <a:srgbClr val="2F7D5C"/>
                  </a:solidFill>
                  <a:latin typeface="+mj-lt"/>
                  <a:ea typeface="+mj-ea"/>
                  <a:cs typeface="+mj-cs"/>
                </a:rPr>
                <a:t>要研究：</a:t>
              </a:r>
            </a:p>
          </p:txBody>
        </p:sp>
        <p:sp>
          <p:nvSpPr>
            <p:cNvPr id="34" name="TextBox 34"/>
            <p:cNvSpPr txBox="1"/>
            <p:nvPr/>
          </p:nvSpPr>
          <p:spPr>
            <a:xfrm>
              <a:off x="8506206" y="3625215"/>
              <a:ext cx="10424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旋转跟随</a:t>
              </a:r>
            </a:p>
          </p:txBody>
        </p:sp>
        <p:sp>
          <p:nvSpPr>
            <p:cNvPr id="35" name="TextBox 35"/>
            <p:cNvSpPr txBox="1"/>
            <p:nvPr/>
          </p:nvSpPr>
          <p:spPr>
            <a:xfrm>
              <a:off x="8506206" y="3977640"/>
              <a:ext cx="10424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减摆控制</a:t>
              </a:r>
            </a:p>
          </p:txBody>
        </p:sp>
        <p:sp>
          <p:nvSpPr>
            <p:cNvPr id="36" name="TextBox 36"/>
            <p:cNvSpPr txBox="1"/>
            <p:nvPr/>
          </p:nvSpPr>
          <p:spPr>
            <a:xfrm>
              <a:off x="8506206" y="4330065"/>
              <a:ext cx="155448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末端捕获闭环</a:t>
              </a:r>
            </a:p>
          </p:txBody>
        </p:sp>
      </p:grpSp>
      <p:grpSp>
        <p:nvGrpSpPr>
          <p:cNvPr id="40" name="Group 40"/>
          <p:cNvGrpSpPr/>
          <p:nvPr/>
        </p:nvGrpSpPr>
        <p:grpSpPr>
          <a:xfrm>
            <a:off x="1164793" y="5295900"/>
            <a:ext cx="9862414" cy="838200"/>
            <a:chOff x="1164793" y="5295900"/>
            <a:chExt cx="9862414" cy="838200"/>
          </a:xfrm>
        </p:grpSpPr>
        <p:sp>
          <p:nvSpPr>
            <p:cNvPr id="38" name="Freeform 38"/>
            <p:cNvSpPr/>
            <p:nvPr/>
          </p:nvSpPr>
          <p:spPr>
            <a:xfrm>
              <a:off x="2257425" y="5295900"/>
              <a:ext cx="7677150" cy="838200"/>
            </a:xfrm>
            <a:custGeom>
              <a:avLst/>
              <a:gdLst/>
              <a:ahLst/>
              <a:cxnLst/>
              <a:rect l="l" t="t" r="r" b="b"/>
              <a:pathLst>
                <a:path w="7677150" h="838200">
                  <a:moveTo>
                    <a:pt x="0" y="180975"/>
                  </a:moveTo>
                  <a:cubicBezTo>
                    <a:pt x="1647825" y="0"/>
                    <a:pt x="5867400" y="85725"/>
                    <a:pt x="7677150" y="257175"/>
                  </a:cubicBezTo>
                  <a:cubicBezTo>
                    <a:pt x="7534275" y="657225"/>
                    <a:pt x="5372100" y="838200"/>
                    <a:pt x="2038350" y="771525"/>
                  </a:cubicBezTo>
                  <a:cubicBezTo>
                    <a:pt x="866775" y="752475"/>
                    <a:pt x="123825" y="581025"/>
                    <a:pt x="0" y="180975"/>
                  </a:cubicBezTo>
                  <a:close/>
                </a:path>
              </a:pathLst>
            </a:custGeom>
            <a:solidFill>
              <a:schemeClr val="lt2">
                <a:alpha val="72000"/>
              </a:schemeClr>
            </a:solidFill>
            <a:ln w="38100" cap="rnd">
              <a:solidFill>
                <a:schemeClr val="accent3"/>
              </a:solidFill>
              <a:round/>
            </a:ln>
          </p:spPr>
        </p:sp>
        <p:sp>
          <p:nvSpPr>
            <p:cNvPr id="39" name="TextBox 39"/>
            <p:cNvSpPr txBox="1"/>
            <p:nvPr/>
          </p:nvSpPr>
          <p:spPr>
            <a:xfrm>
              <a:off x="1164793" y="5560695"/>
              <a:ext cx="9862414" cy="469392"/>
            </a:xfrm>
            <a:prstGeom prst="rect">
              <a:avLst/>
            </a:prstGeom>
            <a:noFill/>
            <a:ln>
              <a:noFill/>
            </a:ln>
          </p:spPr>
          <p:txBody>
            <a:bodyPr wrap="none" lIns="0" tIns="0" rIns="0" bIns="0" anchor="t" anchorCtr="0">
              <a:spAutoFit/>
            </a:bodyPr>
            <a:lstStyle/>
            <a:p>
              <a:pPr algn="ctr"/>
              <a:r>
                <a:rPr lang="zh-CN" sz="2400" b="1" dirty="0">
                  <a:solidFill>
                    <a:schemeClr val="accent3"/>
                  </a:solidFill>
                  <a:latin typeface="+mj-lt"/>
                  <a:ea typeface="+mj-ea"/>
                  <a:cs typeface="+mj-cs"/>
                </a:rPr>
                <a:t>统一问题：如何学习能泛化、又能被规划器真正使用的预测状态？</a:t>
              </a:r>
            </a:p>
          </p:txBody>
        </p:sp>
      </p:grpSp>
      <p:sp>
        <p:nvSpPr>
          <p:cNvPr id="41" name="TextBox 41"/>
          <p:cNvSpPr txBox="1"/>
          <p:nvPr/>
        </p:nvSpPr>
        <p:spPr>
          <a:xfrm>
            <a:off x="11508981" y="6407468"/>
            <a:ext cx="213627"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j-lt"/>
                <a:ea typeface="+mj-ea"/>
                <a:cs typeface="+mj-cs"/>
              </a:rPr>
              <a:t>11</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23672" y="416242"/>
            <a:ext cx="9697364" cy="557403"/>
            <a:chOff x="423672" y="416242"/>
            <a:chExt cx="9697364" cy="557403"/>
          </a:xfrm>
        </p:grpSpPr>
        <p:sp>
          <p:nvSpPr>
            <p:cNvPr id="2" name="TextBox 2"/>
            <p:cNvSpPr txBox="1"/>
            <p:nvPr/>
          </p:nvSpPr>
          <p:spPr>
            <a:xfrm>
              <a:off x="423672" y="416242"/>
              <a:ext cx="9697364"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j-lt"/>
                  <a:ea typeface="+mj-ea"/>
                  <a:cs typeface="+mj-cs"/>
                </a:rPr>
                <a:t>目标不是重复更多论文，而是定义问题并完成验证闭环</a:t>
              </a:r>
            </a:p>
          </p:txBody>
        </p:sp>
        <p:sp>
          <p:nvSpPr>
            <p:cNvPr id="3" name="Freeform 3"/>
            <p:cNvSpPr/>
            <p:nvPr/>
          </p:nvSpPr>
          <p:spPr>
            <a:xfrm>
              <a:off x="466725" y="781050"/>
              <a:ext cx="9172575" cy="171450"/>
            </a:xfrm>
            <a:custGeom>
              <a:avLst/>
              <a:gdLst/>
              <a:ahLst/>
              <a:cxnLst/>
              <a:rect l="l" t="t" r="r" b="b"/>
              <a:pathLst>
                <a:path w="9172575" h="171450">
                  <a:moveTo>
                    <a:pt x="0" y="104775"/>
                  </a:moveTo>
                  <a:cubicBezTo>
                    <a:pt x="2428875" y="0"/>
                    <a:pt x="5657850" y="171450"/>
                    <a:pt x="9172575" y="47625"/>
                  </a:cubicBezTo>
                </a:path>
              </a:pathLst>
            </a:custGeom>
            <a:noFill/>
            <a:ln w="57150" cap="rnd">
              <a:solidFill>
                <a:schemeClr val="accent2"/>
              </a:solidFill>
            </a:ln>
          </p:spPr>
        </p:sp>
      </p:grpSp>
      <p:grpSp>
        <p:nvGrpSpPr>
          <p:cNvPr id="11" name="Group 11"/>
          <p:cNvGrpSpPr/>
          <p:nvPr/>
        </p:nvGrpSpPr>
        <p:grpSpPr>
          <a:xfrm>
            <a:off x="649986" y="1691640"/>
            <a:ext cx="6293739" cy="2969514"/>
            <a:chOff x="649986" y="1691640"/>
            <a:chExt cx="6293739" cy="2969514"/>
          </a:xfrm>
        </p:grpSpPr>
        <p:sp>
          <p:nvSpPr>
            <p:cNvPr id="5" name="TextBox 5"/>
            <p:cNvSpPr txBox="1"/>
            <p:nvPr/>
          </p:nvSpPr>
          <p:spPr>
            <a:xfrm>
              <a:off x="657606" y="1691640"/>
              <a:ext cx="3071470" cy="352044"/>
            </a:xfrm>
            <a:prstGeom prst="rect">
              <a:avLst/>
            </a:prstGeom>
            <a:noFill/>
            <a:ln>
              <a:noFill/>
            </a:ln>
          </p:spPr>
          <p:txBody>
            <a:bodyPr wrap="none" lIns="0" tIns="0" rIns="0" bIns="0" anchor="t" anchorCtr="0">
              <a:spAutoFit/>
            </a:bodyPr>
            <a:lstStyle/>
            <a:p>
              <a:pPr algn="l"/>
              <a:r>
                <a:rPr lang="zh-CN" sz="1800" b="1" dirty="0">
                  <a:solidFill>
                    <a:schemeClr val="accent3"/>
                  </a:solidFill>
                  <a:latin typeface="+mj-lt"/>
                  <a:ea typeface="+mj-ea"/>
                  <a:cs typeface="+mj-cs"/>
                </a:rPr>
                <a:t>我希望继续做这样的研究：</a:t>
              </a:r>
            </a:p>
          </p:txBody>
        </p:sp>
        <p:sp>
          <p:nvSpPr>
            <p:cNvPr id="6" name="TextBox 6"/>
            <p:cNvSpPr txBox="1"/>
            <p:nvPr/>
          </p:nvSpPr>
          <p:spPr>
            <a:xfrm>
              <a:off x="649986" y="2215515"/>
              <a:ext cx="2365820" cy="645414"/>
            </a:xfrm>
            <a:prstGeom prst="rect">
              <a:avLst/>
            </a:prstGeom>
            <a:noFill/>
            <a:ln>
              <a:noFill/>
            </a:ln>
          </p:spPr>
          <p:txBody>
            <a:bodyPr wrap="none" lIns="0" tIns="0" rIns="0" bIns="0" anchor="t" anchorCtr="0">
              <a:spAutoFit/>
            </a:bodyPr>
            <a:lstStyle/>
            <a:p>
              <a:pPr algn="l"/>
              <a:r>
                <a:rPr lang="zh-CN" sz="3300" b="1" dirty="0">
                  <a:solidFill>
                    <a:schemeClr val="accent1"/>
                  </a:solidFill>
                  <a:latin typeface="+mj-lt"/>
                  <a:ea typeface="+mj-ea"/>
                  <a:cs typeface="+mj-cs"/>
                </a:rPr>
                <a:t>能被运行，</a:t>
              </a:r>
            </a:p>
          </p:txBody>
        </p:sp>
        <p:sp>
          <p:nvSpPr>
            <p:cNvPr id="7" name="TextBox 7"/>
            <p:cNvSpPr txBox="1"/>
            <p:nvPr/>
          </p:nvSpPr>
          <p:spPr>
            <a:xfrm>
              <a:off x="649986" y="2815590"/>
              <a:ext cx="2365820" cy="645414"/>
            </a:xfrm>
            <a:prstGeom prst="rect">
              <a:avLst/>
            </a:prstGeom>
            <a:noFill/>
            <a:ln>
              <a:noFill/>
            </a:ln>
          </p:spPr>
          <p:txBody>
            <a:bodyPr wrap="none" lIns="0" tIns="0" rIns="0" bIns="0" anchor="t" anchorCtr="0">
              <a:spAutoFit/>
            </a:bodyPr>
            <a:lstStyle/>
            <a:p>
              <a:pPr algn="l"/>
              <a:r>
                <a:rPr lang="zh-CN" sz="3300" b="1" dirty="0">
                  <a:solidFill>
                    <a:schemeClr val="accent1"/>
                  </a:solidFill>
                  <a:latin typeface="+mj-lt"/>
                  <a:ea typeface="+mj-ea"/>
                  <a:cs typeface="+mj-cs"/>
                </a:rPr>
                <a:t>能被验证，</a:t>
              </a:r>
            </a:p>
          </p:txBody>
        </p:sp>
        <p:sp>
          <p:nvSpPr>
            <p:cNvPr id="8" name="TextBox 8"/>
            <p:cNvSpPr txBox="1"/>
            <p:nvPr/>
          </p:nvSpPr>
          <p:spPr>
            <a:xfrm>
              <a:off x="649986" y="3415665"/>
              <a:ext cx="2365820" cy="645414"/>
            </a:xfrm>
            <a:prstGeom prst="rect">
              <a:avLst/>
            </a:prstGeom>
            <a:noFill/>
            <a:ln>
              <a:noFill/>
            </a:ln>
          </p:spPr>
          <p:txBody>
            <a:bodyPr wrap="none" lIns="0" tIns="0" rIns="0" bIns="0" anchor="t" anchorCtr="0">
              <a:spAutoFit/>
            </a:bodyPr>
            <a:lstStyle/>
            <a:p>
              <a:pPr algn="l"/>
              <a:r>
                <a:rPr lang="zh-CN" sz="3300" b="1" dirty="0">
                  <a:solidFill>
                    <a:schemeClr val="accent2"/>
                  </a:solidFill>
                  <a:latin typeface="+mj-lt"/>
                  <a:ea typeface="+mj-ea"/>
                  <a:cs typeface="+mj-cs"/>
                </a:rPr>
                <a:t>能被解释，</a:t>
              </a:r>
            </a:p>
          </p:txBody>
        </p:sp>
        <p:sp>
          <p:nvSpPr>
            <p:cNvPr id="9" name="TextBox 9"/>
            <p:cNvSpPr txBox="1"/>
            <p:nvPr/>
          </p:nvSpPr>
          <p:spPr>
            <a:xfrm>
              <a:off x="649986" y="4015740"/>
              <a:ext cx="4698111" cy="645414"/>
            </a:xfrm>
            <a:prstGeom prst="rect">
              <a:avLst/>
            </a:prstGeom>
            <a:noFill/>
            <a:ln>
              <a:noFill/>
            </a:ln>
          </p:spPr>
          <p:txBody>
            <a:bodyPr wrap="none" lIns="0" tIns="0" rIns="0" bIns="0" anchor="t" anchorCtr="0">
              <a:spAutoFit/>
            </a:bodyPr>
            <a:lstStyle/>
            <a:p>
              <a:pPr algn="l"/>
              <a:r>
                <a:rPr lang="zh-CN" sz="3300" b="1" dirty="0">
                  <a:solidFill>
                    <a:schemeClr val="accent1"/>
                  </a:solidFill>
                  <a:latin typeface="+mj-lt"/>
                  <a:ea typeface="+mj-ea"/>
                  <a:cs typeface="+mj-cs"/>
                </a:rPr>
                <a:t>最终进入机器人闭环。</a:t>
              </a:r>
            </a:p>
          </p:txBody>
        </p:sp>
        <p:sp>
          <p:nvSpPr>
            <p:cNvPr id="10" name="Freeform 10"/>
            <p:cNvSpPr/>
            <p:nvPr/>
          </p:nvSpPr>
          <p:spPr>
            <a:xfrm>
              <a:off x="676275" y="4391025"/>
              <a:ext cx="6267450" cy="200025"/>
            </a:xfrm>
            <a:custGeom>
              <a:avLst/>
              <a:gdLst/>
              <a:ahLst/>
              <a:cxnLst/>
              <a:rect l="l" t="t" r="r" b="b"/>
              <a:pathLst>
                <a:path w="6267450" h="200025">
                  <a:moveTo>
                    <a:pt x="0" y="142875"/>
                  </a:moveTo>
                  <a:cubicBezTo>
                    <a:pt x="1924050" y="0"/>
                    <a:pt x="4019550" y="200025"/>
                    <a:pt x="6267450" y="57150"/>
                  </a:cubicBezTo>
                </a:path>
              </a:pathLst>
            </a:custGeom>
            <a:noFill/>
            <a:ln w="76200" cap="rnd">
              <a:solidFill>
                <a:schemeClr val="accent2">
                  <a:alpha val="72000"/>
                </a:schemeClr>
              </a:solidFill>
            </a:ln>
          </p:spPr>
        </p:sp>
      </p:grpSp>
      <p:grpSp>
        <p:nvGrpSpPr>
          <p:cNvPr id="20" name="Group 20"/>
          <p:cNvGrpSpPr/>
          <p:nvPr/>
        </p:nvGrpSpPr>
        <p:grpSpPr>
          <a:xfrm>
            <a:off x="7820025" y="1276350"/>
            <a:ext cx="3743325" cy="3409950"/>
            <a:chOff x="7820025" y="1276350"/>
            <a:chExt cx="3743325" cy="3409950"/>
          </a:xfrm>
        </p:grpSpPr>
        <p:sp>
          <p:nvSpPr>
            <p:cNvPr id="12" name="Freeform 12"/>
            <p:cNvSpPr/>
            <p:nvPr/>
          </p:nvSpPr>
          <p:spPr>
            <a:xfrm>
              <a:off x="7820025" y="1276350"/>
              <a:ext cx="3743325" cy="3409950"/>
            </a:xfrm>
            <a:custGeom>
              <a:avLst/>
              <a:gdLst/>
              <a:ahLst/>
              <a:cxnLst/>
              <a:rect l="l" t="t" r="r" b="b"/>
              <a:pathLst>
                <a:path w="3743325" h="3409950">
                  <a:moveTo>
                    <a:pt x="161925" y="228600"/>
                  </a:moveTo>
                  <a:cubicBezTo>
                    <a:pt x="1066800" y="0"/>
                    <a:pt x="2781300" y="85725"/>
                    <a:pt x="3543300" y="400050"/>
                  </a:cubicBezTo>
                  <a:cubicBezTo>
                    <a:pt x="3743325" y="1200150"/>
                    <a:pt x="3648075" y="2571750"/>
                    <a:pt x="3390900" y="3171825"/>
                  </a:cubicBezTo>
                  <a:cubicBezTo>
                    <a:pt x="2428875" y="3409950"/>
                    <a:pt x="971550" y="3267075"/>
                    <a:pt x="209550" y="3000375"/>
                  </a:cubicBezTo>
                  <a:cubicBezTo>
                    <a:pt x="0" y="2105025"/>
                    <a:pt x="0" y="971550"/>
                    <a:pt x="161925" y="228600"/>
                  </a:cubicBezTo>
                  <a:close/>
                </a:path>
              </a:pathLst>
            </a:custGeom>
            <a:solidFill>
              <a:schemeClr val="lt2">
                <a:alpha val="68000"/>
              </a:schemeClr>
            </a:solidFill>
            <a:ln w="28575" cap="rnd">
              <a:solidFill>
                <a:schemeClr val="accent1"/>
              </a:solidFill>
              <a:round/>
            </a:ln>
          </p:spPr>
        </p:sp>
        <p:sp>
          <p:nvSpPr>
            <p:cNvPr id="13" name="TextBox 13"/>
            <p:cNvSpPr txBox="1"/>
            <p:nvPr/>
          </p:nvSpPr>
          <p:spPr>
            <a:xfrm>
              <a:off x="8226933" y="1750695"/>
              <a:ext cx="2059838" cy="469392"/>
            </a:xfrm>
            <a:prstGeom prst="rect">
              <a:avLst/>
            </a:prstGeom>
            <a:noFill/>
            <a:ln>
              <a:noFill/>
            </a:ln>
          </p:spPr>
          <p:txBody>
            <a:bodyPr wrap="none" lIns="0" tIns="0" rIns="0" bIns="0" anchor="t" anchorCtr="0">
              <a:spAutoFit/>
            </a:bodyPr>
            <a:lstStyle/>
            <a:p>
              <a:pPr algn="l"/>
              <a:r>
                <a:rPr lang="zh-CN" sz="2400" b="1" dirty="0">
                  <a:solidFill>
                    <a:schemeClr val="accent3"/>
                  </a:solidFill>
                  <a:latin typeface="+mj-lt"/>
                  <a:ea typeface="+mj-ea"/>
                  <a:cs typeface="+mj-cs"/>
                </a:rPr>
                <a:t>我带走的能力</a:t>
              </a:r>
            </a:p>
          </p:txBody>
        </p:sp>
        <p:sp>
          <p:nvSpPr>
            <p:cNvPr id="14" name="TextBox 14"/>
            <p:cNvSpPr txBox="1"/>
            <p:nvPr/>
          </p:nvSpPr>
          <p:spPr>
            <a:xfrm>
              <a:off x="8229981" y="2358390"/>
              <a:ext cx="2128632"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① 快速进入新方向</a:t>
              </a:r>
            </a:p>
          </p:txBody>
        </p:sp>
        <p:sp>
          <p:nvSpPr>
            <p:cNvPr id="15" name="TextBox 15"/>
            <p:cNvSpPr txBox="1"/>
            <p:nvPr/>
          </p:nvSpPr>
          <p:spPr>
            <a:xfrm>
              <a:off x="8229981" y="2701290"/>
              <a:ext cx="2066544"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从论文到代码结构</a:t>
              </a:r>
            </a:p>
          </p:txBody>
        </p:sp>
        <p:sp>
          <p:nvSpPr>
            <p:cNvPr id="16" name="TextBox 16"/>
            <p:cNvSpPr txBox="1"/>
            <p:nvPr/>
          </p:nvSpPr>
          <p:spPr>
            <a:xfrm>
              <a:off x="8229981" y="3177540"/>
              <a:ext cx="1859798"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② 严谨完成验证</a:t>
              </a:r>
            </a:p>
          </p:txBody>
        </p:sp>
        <p:sp>
          <p:nvSpPr>
            <p:cNvPr id="17" name="TextBox 17"/>
            <p:cNvSpPr txBox="1"/>
            <p:nvPr/>
          </p:nvSpPr>
          <p:spPr>
            <a:xfrm>
              <a:off x="8229981" y="3520440"/>
              <a:ext cx="2975458"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区分 smoke / 权重 / 训练</a:t>
              </a:r>
            </a:p>
          </p:txBody>
        </p:sp>
        <p:sp>
          <p:nvSpPr>
            <p:cNvPr id="18" name="TextBox 18"/>
            <p:cNvSpPr txBox="1"/>
            <p:nvPr/>
          </p:nvSpPr>
          <p:spPr>
            <a:xfrm>
              <a:off x="8229981" y="3996690"/>
              <a:ext cx="1859798"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③ 形成个人判断</a:t>
              </a:r>
            </a:p>
          </p:txBody>
        </p:sp>
        <p:sp>
          <p:nvSpPr>
            <p:cNvPr id="19" name="TextBox 19"/>
            <p:cNvSpPr txBox="1"/>
            <p:nvPr/>
          </p:nvSpPr>
          <p:spPr>
            <a:xfrm>
              <a:off x="8232267" y="4388168"/>
              <a:ext cx="193395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统一表示、预测与控制</a:t>
              </a:r>
            </a:p>
          </p:txBody>
        </p:sp>
      </p:grpSp>
      <p:grpSp>
        <p:nvGrpSpPr>
          <p:cNvPr id="26" name="Group 26"/>
          <p:cNvGrpSpPr/>
          <p:nvPr/>
        </p:nvGrpSpPr>
        <p:grpSpPr>
          <a:xfrm>
            <a:off x="1054608" y="5219700"/>
            <a:ext cx="10042017" cy="1010412"/>
            <a:chOff x="1054608" y="5219700"/>
            <a:chExt cx="10042017" cy="1010412"/>
          </a:xfrm>
        </p:grpSpPr>
        <p:sp>
          <p:nvSpPr>
            <p:cNvPr id="21" name="Freeform 21"/>
            <p:cNvSpPr/>
            <p:nvPr/>
          </p:nvSpPr>
          <p:spPr>
            <a:xfrm>
              <a:off x="1104900" y="5314950"/>
              <a:ext cx="9944100" cy="419100"/>
            </a:xfrm>
            <a:custGeom>
              <a:avLst/>
              <a:gdLst/>
              <a:ahLst/>
              <a:cxnLst/>
              <a:rect l="l" t="t" r="r" b="b"/>
              <a:pathLst>
                <a:path w="9944100" h="419100">
                  <a:moveTo>
                    <a:pt x="0" y="304800"/>
                  </a:moveTo>
                  <a:cubicBezTo>
                    <a:pt x="1876425" y="85725"/>
                    <a:pt x="3857625" y="419100"/>
                    <a:pt x="5591175" y="190500"/>
                  </a:cubicBezTo>
                  <a:cubicBezTo>
                    <a:pt x="7048500" y="0"/>
                    <a:pt x="8439150" y="180975"/>
                    <a:pt x="9944100" y="85725"/>
                  </a:cubicBezTo>
                </a:path>
              </a:pathLst>
            </a:custGeom>
            <a:noFill/>
            <a:ln w="76200" cap="rnd">
              <a:solidFill>
                <a:schemeClr val="accent2"/>
              </a:solidFill>
              <a:round/>
            </a:ln>
          </p:spPr>
        </p:sp>
        <p:sp>
          <p:nvSpPr>
            <p:cNvPr id="22" name="Freeform 22"/>
            <p:cNvSpPr/>
            <p:nvPr/>
          </p:nvSpPr>
          <p:spPr>
            <a:xfrm>
              <a:off x="10791825" y="5219700"/>
              <a:ext cx="304800" cy="400050"/>
            </a:xfrm>
            <a:custGeom>
              <a:avLst/>
              <a:gdLst/>
              <a:ahLst/>
              <a:cxnLst/>
              <a:rect l="l" t="t" r="r" b="b"/>
              <a:pathLst>
                <a:path w="304800" h="400050">
                  <a:moveTo>
                    <a:pt x="0" y="0"/>
                  </a:moveTo>
                  <a:lnTo>
                    <a:pt x="304800" y="180975"/>
                  </a:lnTo>
                  <a:lnTo>
                    <a:pt x="38100" y="400050"/>
                  </a:lnTo>
                </a:path>
              </a:pathLst>
            </a:custGeom>
            <a:noFill/>
            <a:ln w="76200" cap="rnd">
              <a:solidFill>
                <a:schemeClr val="accent2"/>
              </a:solidFill>
              <a:round/>
            </a:ln>
          </p:spPr>
        </p:sp>
        <p:sp>
          <p:nvSpPr>
            <p:cNvPr id="23" name="TextBox 23"/>
            <p:cNvSpPr txBox="1"/>
            <p:nvPr/>
          </p:nvSpPr>
          <p:spPr>
            <a:xfrm>
              <a:off x="1054608" y="5760720"/>
              <a:ext cx="1042111" cy="469392"/>
            </a:xfrm>
            <a:prstGeom prst="rect">
              <a:avLst/>
            </a:prstGeom>
            <a:noFill/>
            <a:ln>
              <a:noFill/>
            </a:ln>
          </p:spPr>
          <p:txBody>
            <a:bodyPr wrap="none" lIns="0" tIns="0" rIns="0" bIns="0" anchor="t" anchorCtr="0">
              <a:spAutoFit/>
            </a:bodyPr>
            <a:lstStyle/>
            <a:p>
              <a:pPr algn="l"/>
              <a:r>
                <a:rPr lang="zh-CN" sz="2400" b="1" dirty="0">
                  <a:solidFill>
                    <a:schemeClr val="accent5"/>
                  </a:solidFill>
                  <a:latin typeface="+mj-lt"/>
                  <a:ea typeface="+mj-ea"/>
                  <a:cs typeface="+mj-cs"/>
                </a:rPr>
                <a:t>复现者</a:t>
              </a:r>
            </a:p>
          </p:txBody>
        </p:sp>
        <p:sp>
          <p:nvSpPr>
            <p:cNvPr id="24" name="TextBox 24"/>
            <p:cNvSpPr txBox="1"/>
            <p:nvPr/>
          </p:nvSpPr>
          <p:spPr>
            <a:xfrm>
              <a:off x="5074158" y="5760720"/>
              <a:ext cx="172059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j-lt"/>
                  <a:ea typeface="+mj-ea"/>
                  <a:cs typeface="+mj-cs"/>
                </a:rPr>
                <a:t>问题定义者</a:t>
              </a:r>
            </a:p>
          </p:txBody>
        </p:sp>
        <p:sp>
          <p:nvSpPr>
            <p:cNvPr id="25" name="TextBox 25"/>
            <p:cNvSpPr txBox="1"/>
            <p:nvPr/>
          </p:nvSpPr>
          <p:spPr>
            <a:xfrm>
              <a:off x="9284208" y="5760720"/>
              <a:ext cx="1720596"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j-lt"/>
                  <a:ea typeface="+mj-ea"/>
                  <a:cs typeface="+mj-cs"/>
                </a:rPr>
                <a:t>系统验证者</a:t>
              </a:r>
            </a:p>
          </p:txBody>
        </p:sp>
      </p:grpSp>
      <p:sp>
        <p:nvSpPr>
          <p:cNvPr id="27" name="TextBox 27"/>
          <p:cNvSpPr txBox="1"/>
          <p:nvPr/>
        </p:nvSpPr>
        <p:spPr>
          <a:xfrm>
            <a:off x="11508981" y="6407468"/>
            <a:ext cx="213627"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j-lt"/>
                <a:ea typeface="+mj-ea"/>
                <a:cs typeface="+mj-cs"/>
              </a:rPr>
              <a:t>12</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xu_yidong_internship_defense">
  <a:themeElements>
    <a:clrScheme name="xu_yidong_internship_defense">
      <a:dk1>
        <a:srgbClr val="191919"/>
      </a:dk1>
      <a:lt1>
        <a:srgbClr val="F5F0E6"/>
      </a:lt1>
      <a:dk2>
        <a:srgbClr val="1F497D"/>
      </a:dk2>
      <a:lt2>
        <a:srgbClr val="E4DED2"/>
      </a:lt2>
      <a:accent1>
        <a:srgbClr val="111111"/>
      </a:accent1>
      <a:accent2>
        <a:srgbClr val="D94841"/>
      </a:accent2>
      <a:accent3>
        <a:srgbClr val="2D5B8A"/>
      </a:accent3>
      <a:accent4>
        <a:srgbClr val="111111"/>
      </a:accent4>
      <a:accent5>
        <a:srgbClr val="625E57"/>
      </a:accent5>
      <a:accent6>
        <a:srgbClr val="C8C0B3"/>
      </a:accent6>
      <a:hlink>
        <a:srgbClr val="D94841"/>
      </a:hlink>
      <a:folHlink>
        <a:srgbClr val="2D5B8A"/>
      </a:folHlink>
    </a:clrScheme>
    <a:fontScheme name="xu_yidong_internship_defense">
      <a:majorFont>
        <a:latin typeface="Impact"/>
        <a:ea typeface="DengXian"/>
        <a:cs typeface="Impact"/>
        <a:font script="Jpan" typeface="DengXian"/>
        <a:font script="Hang" typeface="DengXian"/>
        <a:font script="Hans" typeface="DengXian"/>
        <a:font script="Hant" typeface="DengXia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SimSun"/>
        <a:cs typeface="Georgia"/>
        <a:font script="Jpan" typeface="SimSun"/>
        <a:font script="Hang" typeface="SimSun"/>
        <a:font script="Hans" typeface="SimSun"/>
        <a:font script="Hant" typeface="SimSun"/>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xu_yidong_internship_defens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xu_yidong_internship_defense">
  <a:themeElements>
    <a:clrScheme name="xu_yidong_internship_defense">
      <a:dk1>
        <a:srgbClr val="191919"/>
      </a:dk1>
      <a:lt1>
        <a:srgbClr val="F5F0E6"/>
      </a:lt1>
      <a:dk2>
        <a:srgbClr val="1F497D"/>
      </a:dk2>
      <a:lt2>
        <a:srgbClr val="E4DED2"/>
      </a:lt2>
      <a:accent1>
        <a:srgbClr val="111111"/>
      </a:accent1>
      <a:accent2>
        <a:srgbClr val="D94841"/>
      </a:accent2>
      <a:accent3>
        <a:srgbClr val="2D5B8A"/>
      </a:accent3>
      <a:accent4>
        <a:srgbClr val="111111"/>
      </a:accent4>
      <a:accent5>
        <a:srgbClr val="625E57"/>
      </a:accent5>
      <a:accent6>
        <a:srgbClr val="C8C0B3"/>
      </a:accent6>
      <a:hlink>
        <a:srgbClr val="D94841"/>
      </a:hlink>
      <a:folHlink>
        <a:srgbClr val="2D5B8A"/>
      </a:folHlink>
    </a:clrScheme>
    <a:fontScheme name="xu_yidong_internship_defense">
      <a:majorFont>
        <a:latin typeface="Impact"/>
        <a:ea typeface="DengXian"/>
        <a:cs typeface="Impact"/>
        <a:font script="Jpan" typeface="DengXian"/>
        <a:font script="Hang" typeface="DengXian"/>
        <a:font script="Hans" typeface="DengXian"/>
        <a:font script="Hant" typeface="DengXia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SimSun"/>
        <a:cs typeface="Georgia"/>
        <a:font script="Jpan" typeface="SimSun"/>
        <a:font script="Hang" typeface="SimSun"/>
        <a:font script="Hans" typeface="SimSun"/>
        <a:font script="Hant" typeface="SimSun"/>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xu_yidong_internship_defens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2026-07-29T07:26:19Z</dcterms:created>
  <dcterms:modified xsi:type="dcterms:W3CDTF">2026-07-29T07:26:19Z</dcterms:modified>
  <cp:category/>
  <cp:contentStatus/>
</cp:coreProperties>
</file>