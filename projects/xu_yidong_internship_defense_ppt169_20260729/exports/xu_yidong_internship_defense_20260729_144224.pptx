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段实习中，我围绕预测式世界模型跑通了四条代表性路线，但我的核心收获并不是“把代码运行起来”，而是把论文、代码、指标和判断组织成可验证的实验闭环。接下来我会依次说明我完成了什么、这些结果能证明到什么程度，以及我对世界模型如何进入机器人决策闭环的理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我的实习产出可以分成四层：先建立世界模型的知识地图，再完成 DINO-WM、LeWM、Δ-IRIS 和 TD-MPC2 的复现链路，然后用成功率、回报、训练进度、MAE 和 PSNR 记录结果与边界，最后把提交版本、环境、脚本、日志、哈希和报告整理成证据交付。这里最重要的是，每个结论都能回到具体的运行口径和落盘结果，而不是只保留一次成功截图。我的自动化专业背景、专业第一的课程基础，以及对具身智能、VLA 和机器人系统的兴趣，为后续研究迁移提供了基础。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这四条路线的差异可以用两个问题统一：预测什么，以及如何把预测接入决策。Dreamer 类方法预测像素或潜变量并进行想象式策略学习，DINO-WM 和 LeWM 直接预测视觉特征并做目标匹配，IRIS 类方法预测离散 token 的随机动态，TD-MPC2 则学习面向 reward 和 value 的控制潜变量。我的统一验收问题是：这个预测表示是否保留了对控制真正有用的信息；这也解释了为什么世界模型不一定需要重建逼真的像素。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DINO-WM 的结果说明，预训练视觉特征可以直接成为规划空间。在固定版本、固定随机种子和有界评估口径下，PointMaze 成功率为一点零，PushT 五十次成功四十三次，成功率百分之八十六，Wall 五十次成功四十七次，成功率百分之九十四；页面底部同时给出了完整曲线和 Wilson 置信区间。我完成了版本固定、MuJoCo EGL 兼容修复、运行与统计脚本封装，并用五轮上限构造可重复的五十次评估。我的理解是，只要特征空间保留了适合目标匹配的几何结构，就可以直接定义规划代价，而不必先恢复每一个像素。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LeWM 使用更紧凑的 JEPA 目标：预测损失负责下一嵌入的可预测性，SIGReg 用于避免表示坍塌，规划时直接比较预测终点嵌入与目标嵌入的距离。使用官方权重完成五十个 Push-T episode 的 MPC 评估后，成功四十八次，成功率百分之九十六，耗时三百六十三点六二秒。我进一步验证了权重哈希与严格加载、编码器和动作接口、损失可反传、两套数据加载接口、MPC 候选代价，以及短训练后的 checkpoint 回载。这个结果证明的是整条推理和训练接口可用；它没有把官方权重的性能误写成我从头训练得到的性能。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Δ-IRIS 让我更明确地认识到，复现必须按证据等级分层。当前环境层、工程层和预训练推理层已经通过，但论文性能层还没有完成；稳定长训快照位于第二十七个 epoch，包含三十六万零六个数据步和两千零三十二个片段，只相当于名义五百万步的百分之七点二。因而我不会把“程序能启动”或“官方 checkpoint 能推理”表述成论文最终分数已经复现。这里的个人判断是，复现结论必须与证据等级一一对应，官方权重能证明推理链路，却不能替代从头训练的结果。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这页区分两个容易混淆的实验。上方 tokenizer 条件重建的 MAE 为零点零零零四三七八六，PSNR 为五十七点五八九二分贝，但编码器看到了真实下一帧，所以它验证的是压缩和重建质量，不是未来预测。下方 world model 单步想象的 MAE 为零点零零三五八七四三，PSNR 为三十点四六五四分贝，生成时不再输入真实下一帧，因此才是条件预测证据。我的理解是，随机实体位置的误差应该通过条件分布来解释，同一历史和动作可能采样出不同的 Δ-token；报告时应展示典型误差与分布，而不是只挑最好看的一张图。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TD-MPC2 展示了另一种更直接的控制观点：世界模型只需预测对控制有用的信息。策略先验和 MPPI 或 CEM 采样动作序列，模型在潜空间累积短期 reward，并用 terminal Q 补足有限 horizon 之外的价值，最后只执行优化序列的第一步并滚动重规划。官方 dog-run checkpoint 的单 episode 回报为七百六十二点二；我自己的训练在十五万四千步时回报为一百三十四，十五万一千步附近最高为一百五十七点三。十万步量级仍然只能证明训练链可用，正式复现应接近七百万步并报告多随机种子；我认为规模化难点还包括潜表示稳定性、reward 与 value 尺度、Q 过估计和多任务接口。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跨四条路线，我形成了三条可以迁移的判断。第一，表征不等于重建，DINO-WM 和 LeWM 说明特征几何可以直接支持目标匹配；第二，预测不等于一张图，Δ-IRIS 提醒我们应报告随机未来的分布和边界；第三，规划不等于无限延长 rollout，TD-MPC2 用短期模型、terminal Q 和策略先验形成了可扩展闭环。因此，好的世界模型应同时具备任务相关表示、可校准的不确定性和实际闭环决策价值，最终仍要回到成功率、回报、稳定 rollout 和泛化能力。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为了让复现从一次运行变成可追溯证据，我形成了七步流程：固定代码提交、隔离环境、执行 CUDA 和 EGL 探针、运行最小 smoke、严格加载 checkpoint、进行有界或正式评估，最后交付脚本、日志、哈希和图表。版本漂移通过固定提交和依赖清单处理，无显示器服务器问题通过 MuJoCo EGL 探针处理，评估语义混淆则通过明确区分 smoke、官方权重和从头训练来处理。这个方法的验收标准是，每个结论都能指向命令、日志、指标或落盘产物，使其他人可以复核。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下一步我希望把这套方法迁移到真实机器人决策闭环，形成三条互相连接的研究路径。第一条是基于 HDMI 复现和自定义数据接入，继续研究人形机器人与物体交互中的接触几何、局部规划和稳定性；第二条是在 π0、OpenPI 和 Flow Matching 的实验基础上，让 VLA 提供动作先验，让世界模型做 rollout、风险检查和重规划；第三条是在无人机—悠悠球系统中，用残差动力学、潜空间世界模型和 MPC 完善旋转跟随、减摆与末端捕获。这三条路线都指向同一个问题：如何学习既能泛化、又能被规划器真正使用的预测状态。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这段实习让我从复现者进一步走向问题定义者和系统验证者。我带走了三种能力：快速从论文进入代码结构，严谨地区分 smoke、官方权重与从头训练，以及把表示、预测和控制放到同一个闭环中形成个人判断。我的目标不是重复更多论文，而是继续做能够被运行、被验证、被解释，并最终进入真实机器人闭环的具身智能研究。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xu_yidong_internship_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xu_yidong_internship_defens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fdf5c1389a3bb0ed.png"/>
  <Relationship Id="rId3" Type="http://schemas.openxmlformats.org/officeDocument/2006/relationships/image" Target="../media/image_9d779761bf7d60fb.pn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d792e8f7cd99c4a.png"/>
  <Relationship Id="rId3" Type="http://schemas.openxmlformats.org/officeDocument/2006/relationships/image" Target="../media/image_43a0215f915db408.pn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9deec53306ea3ee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f9fe11b993b6043.png"/>
  <Relationship Id="rId3" Type="http://schemas.openxmlformats.org/officeDocument/2006/relationships/image" Target="../media/image_38261a8481f5371f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8625" y="323850"/>
            <a:ext cx="11344275" cy="66675"/>
          </a:xfrm>
          <a:custGeom>
            <a:avLst/>
            <a:gdLst/>
            <a:ahLst/>
            <a:cxnLst/>
            <a:rect l="l" t="t" r="r" b="b"/>
            <a:pathLst>
              <a:path w="11344275" h="66675">
                <a:moveTo>
                  <a:pt x="0" y="38100"/>
                </a:moveTo>
                <a:cubicBezTo>
                  <a:pt x="2828925" y="0"/>
                  <a:pt x="5486400" y="66675"/>
                  <a:pt x="8286750" y="19050"/>
                </a:cubicBezTo>
                <a:cubicBezTo>
                  <a:pt x="9553575" y="0"/>
                  <a:pt x="10582275" y="28575"/>
                  <a:pt x="11344275" y="9525"/>
                </a:cubicBezTo>
              </a:path>
            </a:pathLst>
          </a:custGeom>
          <a:noFill/>
          <a:ln w="19050" cap="rnd">
            <a:solidFill>
              <a:schemeClr val="accent6"/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90550" y="1024890"/>
            <a:ext cx="6553200" cy="1918335"/>
            <a:chOff x="590550" y="1024890"/>
            <a:chExt cx="6553200" cy="1918335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1024890"/>
              <a:ext cx="47094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INTERNSHIP DEFENSE · WORLD MODELS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52781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从复现到研究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2836" y="2272665"/>
              <a:ext cx="51645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预测式世界模型实习答辩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628650" y="2781300"/>
              <a:ext cx="6515100" cy="161925"/>
            </a:xfrm>
            <a:custGeom>
              <a:avLst/>
              <a:gdLst/>
              <a:ahLst/>
              <a:cxnLst/>
              <a:rect l="l" t="t" r="r" b="b"/>
              <a:pathLst>
                <a:path w="6515100" h="161925">
                  <a:moveTo>
                    <a:pt x="0" y="85725"/>
                  </a:moveTo>
                  <a:cubicBezTo>
                    <a:pt x="1619250" y="0"/>
                    <a:pt x="3333750" y="161925"/>
                    <a:pt x="5133975" y="57150"/>
                  </a:cubicBezTo>
                  <a:cubicBezTo>
                    <a:pt x="5581650" y="38100"/>
                    <a:pt x="6048375" y="47625"/>
                    <a:pt x="6515100" y="85725"/>
                  </a:cubicBezTo>
                </a:path>
              </a:pathLst>
            </a:custGeom>
            <a:noFill/>
            <a:ln w="66675" cap="rnd">
              <a:solidFill>
                <a:schemeClr val="accent2">
                  <a:alpha val="82000"/>
                </a:scheme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934325" y="771525"/>
            <a:ext cx="3641217" cy="2076450"/>
            <a:chOff x="7934325" y="771525"/>
            <a:chExt cx="3641217" cy="2076450"/>
          </a:xfrm>
        </p:grpSpPr>
        <p:sp>
          <p:nvSpPr>
            <p:cNvPr id="8" name="Freeform 8"/>
            <p:cNvSpPr/>
            <p:nvPr/>
          </p:nvSpPr>
          <p:spPr>
            <a:xfrm>
              <a:off x="7934325" y="771525"/>
              <a:ext cx="3419475" cy="2076450"/>
            </a:xfrm>
            <a:custGeom>
              <a:avLst/>
              <a:gdLst/>
              <a:ahLst/>
              <a:cxnLst/>
              <a:rect l="l" t="t" r="r" b="b"/>
              <a:pathLst>
                <a:path w="3419475" h="2076450">
                  <a:moveTo>
                    <a:pt x="161925" y="133350"/>
                  </a:moveTo>
                  <a:cubicBezTo>
                    <a:pt x="981075" y="0"/>
                    <a:pt x="2438400" y="28575"/>
                    <a:pt x="3276600" y="190500"/>
                  </a:cubicBezTo>
                  <a:cubicBezTo>
                    <a:pt x="3419475" y="647700"/>
                    <a:pt x="3409950" y="1419225"/>
                    <a:pt x="3228975" y="1924050"/>
                  </a:cubicBezTo>
                  <a:cubicBezTo>
                    <a:pt x="2305050" y="2076450"/>
                    <a:pt x="962025" y="2000250"/>
                    <a:pt x="123825" y="1800225"/>
                  </a:cubicBezTo>
                  <a:cubicBezTo>
                    <a:pt x="0" y="1266825"/>
                    <a:pt x="38100" y="619125"/>
                    <a:pt x="161925" y="133350"/>
                  </a:cubicBezTo>
                  <a:close/>
                </a:path>
              </a:pathLst>
            </a:custGeom>
            <a:solidFill>
              <a:schemeClr val="lt2">
                <a:alpha val="72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53806" y="11868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我的核心判断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50758" y="1560195"/>
              <a:ext cx="3224784" cy="8503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00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把论文跑通，不等于把问题想清楚。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9801225" y="2266950"/>
              <a:ext cx="1228725" cy="123825"/>
            </a:xfrm>
            <a:custGeom>
              <a:avLst/>
              <a:gdLst/>
              <a:ahLst/>
              <a:cxnLst/>
              <a:rect l="l" t="t" r="r" b="b"/>
              <a:pathLst>
                <a:path w="1228725" h="123825">
                  <a:moveTo>
                    <a:pt x="0" y="66675"/>
                  </a:moveTo>
                  <a:cubicBezTo>
                    <a:pt x="476250" y="0"/>
                    <a:pt x="876300" y="38100"/>
                    <a:pt x="1228725" y="123825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820293" y="3895725"/>
            <a:ext cx="10333482" cy="1297114"/>
            <a:chOff x="820293" y="3895725"/>
            <a:chExt cx="10333482" cy="1297114"/>
          </a:xfrm>
        </p:grpSpPr>
        <p:sp>
          <p:nvSpPr>
            <p:cNvPr id="13" name="Freeform 13"/>
            <p:cNvSpPr/>
            <p:nvPr/>
          </p:nvSpPr>
          <p:spPr>
            <a:xfrm>
              <a:off x="895350" y="4105275"/>
              <a:ext cx="10229850" cy="409575"/>
            </a:xfrm>
            <a:custGeom>
              <a:avLst/>
              <a:gdLst/>
              <a:ahLst/>
              <a:cxnLst/>
              <a:rect l="l" t="t" r="r" b="b"/>
              <a:pathLst>
                <a:path w="10229850" h="409575">
                  <a:moveTo>
                    <a:pt x="0" y="295275"/>
                  </a:moveTo>
                  <a:cubicBezTo>
                    <a:pt x="1466850" y="133350"/>
                    <a:pt x="2524125" y="361950"/>
                    <a:pt x="3686175" y="190500"/>
                  </a:cubicBezTo>
                  <a:cubicBezTo>
                    <a:pt x="4933950" y="9525"/>
                    <a:pt x="6010275" y="409575"/>
                    <a:pt x="7172325" y="190500"/>
                  </a:cubicBezTo>
                  <a:cubicBezTo>
                    <a:pt x="8181975" y="0"/>
                    <a:pt x="9077325" y="142875"/>
                    <a:pt x="102298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  <a:round/>
            </a:ln>
          </p:spPr>
        </p:sp>
        <p:sp>
          <p:nvSpPr>
            <p:cNvPr id="14" name="Freeform 14"/>
            <p:cNvSpPr/>
            <p:nvPr/>
          </p:nvSpPr>
          <p:spPr>
            <a:xfrm>
              <a:off x="10925175" y="4010025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0" y="0"/>
                  </a:moveTo>
                  <a:lnTo>
                    <a:pt x="228600" y="133350"/>
                  </a:lnTo>
                  <a:lnTo>
                    <a:pt x="19050" y="304800"/>
                  </a:lnTo>
                </a:path>
              </a:pathLst>
            </a:custGeom>
            <a:noFill/>
            <a:ln w="38100" cap="rnd">
              <a:solidFill>
                <a:schemeClr val="accent1"/>
              </a:solidFill>
              <a:round/>
            </a:ln>
          </p:spPr>
        </p:sp>
        <p:sp>
          <p:nvSpPr>
            <p:cNvPr id="15" name="Ellipse 15"/>
            <p:cNvSpPr/>
            <p:nvPr/>
          </p:nvSpPr>
          <p:spPr>
            <a:xfrm>
              <a:off x="904875" y="4105275"/>
              <a:ext cx="552450" cy="55245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057525" y="4095750"/>
              <a:ext cx="552450" cy="55245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5210175" y="4029075"/>
              <a:ext cx="552450" cy="55245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362825" y="4048125"/>
              <a:ext cx="552450" cy="552450"/>
            </a:xfrm>
            <a:prstGeom prst="ellipse">
              <a:avLst/>
            </a:prstGeom>
            <a:solidFill>
              <a:schemeClr val="lt1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486900" y="3895725"/>
              <a:ext cx="647700" cy="647700"/>
            </a:xfrm>
            <a:prstGeom prst="ellipse">
              <a:avLst/>
            </a:prstGeom>
            <a:solidFill>
              <a:schemeClr val="lt1"/>
            </a:solidFill>
            <a:ln w="47625">
              <a:solidFill>
                <a:srgbClr val="2F7D5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9489" y="42795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论文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92139" y="4270058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代码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44789" y="42033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指标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97439" y="42224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判断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79414" y="4125754"/>
              <a:ext cx="46267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2F7D5C"/>
                  </a:solidFill>
                  <a:latin typeface="+mj-lt"/>
                  <a:ea typeface="+mj-ea"/>
                  <a:cs typeface="+mj-cs"/>
                </a:rPr>
                <a:t>闭环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0293" y="4870132"/>
              <a:ext cx="4019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DINO-WM · LeWM · Δ-IRIS · TD-MPC2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73493" y="4832032"/>
              <a:ext cx="30370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F7D5C"/>
                  </a:solidFill>
                  <a:latin typeface="+mj-lt"/>
                  <a:ea typeface="+mj-ea"/>
                  <a:cs typeface="+mj-cs"/>
                </a:rPr>
                <a:t>→ 真实机器人预测—规划—控制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7408" y="5655945"/>
            <a:ext cx="4073652" cy="695325"/>
            <a:chOff x="597408" y="5655945"/>
            <a:chExt cx="4073652" cy="695325"/>
          </a:xfrm>
        </p:grpSpPr>
        <p:sp>
          <p:nvSpPr>
            <p:cNvPr id="28" name="TextBox 28"/>
            <p:cNvSpPr txBox="1"/>
            <p:nvPr/>
          </p:nvSpPr>
          <p:spPr>
            <a:xfrm>
              <a:off x="597408" y="5655945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徐亦栋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67256" y="5720715"/>
              <a:ext cx="2104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同济大学 · 自动化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980" y="6057900"/>
              <a:ext cx="40690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实习成果｜复现证据｜个人理解｜未来规划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1356581" y="627411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2722" y="435292"/>
            <a:ext cx="9294514" cy="557403"/>
            <a:chOff x="442722" y="435292"/>
            <a:chExt cx="9294514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42722" y="435292"/>
              <a:ext cx="929451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实习的核心产出，是一套可验证的世界模型复现方法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90575"/>
              <a:ext cx="9210675" cy="152400"/>
            </a:xfrm>
            <a:custGeom>
              <a:avLst/>
              <a:gdLst/>
              <a:ahLst/>
              <a:cxnLst/>
              <a:rect l="l" t="t" r="r" b="b"/>
              <a:pathLst>
                <a:path w="9210675" h="152400">
                  <a:moveTo>
                    <a:pt x="0" y="85725"/>
                  </a:moveTo>
                  <a:cubicBezTo>
                    <a:pt x="2886075" y="0"/>
                    <a:pt x="6134100" y="152400"/>
                    <a:pt x="9210675" y="66675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07111" y="1615440"/>
            <a:ext cx="3298736" cy="3700272"/>
            <a:chOff x="507111" y="1615440"/>
            <a:chExt cx="3298736" cy="3700272"/>
          </a:xfrm>
        </p:grpSpPr>
        <p:sp>
          <p:nvSpPr>
            <p:cNvPr id="5" name="TextBox 5"/>
            <p:cNvSpPr txBox="1"/>
            <p:nvPr/>
          </p:nvSpPr>
          <p:spPr>
            <a:xfrm>
              <a:off x="514731" y="16154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结论先行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07111" y="1977390"/>
              <a:ext cx="3298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不只是跑代码，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07111" y="2520315"/>
              <a:ext cx="3298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而是把结论变成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07111" y="3063240"/>
              <a:ext cx="3298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可复核的证据。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628650" y="3562350"/>
              <a:ext cx="2971800" cy="152400"/>
            </a:xfrm>
            <a:custGeom>
              <a:avLst/>
              <a:gdLst/>
              <a:ahLst/>
              <a:cxnLst/>
              <a:rect l="l" t="t" r="r" b="b"/>
              <a:pathLst>
                <a:path w="2971800" h="152400">
                  <a:moveTo>
                    <a:pt x="0" y="152400"/>
                  </a:moveTo>
                  <a:cubicBezTo>
                    <a:pt x="1047750" y="0"/>
                    <a:pt x="2133600" y="152400"/>
                    <a:pt x="2971800" y="66675"/>
                  </a:cubicBezTo>
                </a:path>
              </a:pathLst>
            </a:custGeom>
            <a:noFill/>
            <a:ln w="76200" cap="rnd">
              <a:solidFill>
                <a:schemeClr val="accent2">
                  <a:alpha val="72000"/>
                </a:schemeClr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11683" y="3970020"/>
              <a:ext cx="31479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论文理解 → 环境搭建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1683" y="4408170"/>
              <a:ext cx="31479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训练评测 → 问题定位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1683" y="4846320"/>
              <a:ext cx="314797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证据交付 → 个人判断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81525" y="1247775"/>
            <a:ext cx="7154037" cy="3829050"/>
            <a:chOff x="4581525" y="1247775"/>
            <a:chExt cx="7154037" cy="3829050"/>
          </a:xfrm>
        </p:grpSpPr>
        <p:sp>
          <p:nvSpPr>
            <p:cNvPr id="14" name="Freeform 14"/>
            <p:cNvSpPr/>
            <p:nvPr/>
          </p:nvSpPr>
          <p:spPr>
            <a:xfrm>
              <a:off x="4591050" y="1247775"/>
              <a:ext cx="4171950" cy="1562100"/>
            </a:xfrm>
            <a:custGeom>
              <a:avLst/>
              <a:gdLst/>
              <a:ahLst/>
              <a:cxnLst/>
              <a:rect l="l" t="t" r="r" b="b"/>
              <a:pathLst>
                <a:path w="4171950" h="1562100">
                  <a:moveTo>
                    <a:pt x="114300" y="133350"/>
                  </a:moveTo>
                  <a:cubicBezTo>
                    <a:pt x="1552575" y="0"/>
                    <a:pt x="3019425" y="76200"/>
                    <a:pt x="4086225" y="190500"/>
                  </a:cubicBezTo>
                  <a:cubicBezTo>
                    <a:pt x="4171950" y="733425"/>
                    <a:pt x="4133850" y="1123950"/>
                    <a:pt x="3981450" y="1476375"/>
                  </a:cubicBezTo>
                  <a:cubicBezTo>
                    <a:pt x="2600325" y="1562100"/>
                    <a:pt x="1304925" y="1524000"/>
                    <a:pt x="95250" y="1409700"/>
                  </a:cubicBezTo>
                  <a:cubicBezTo>
                    <a:pt x="0" y="971550"/>
                    <a:pt x="0" y="542925"/>
                    <a:pt x="114300" y="133350"/>
                  </a:cubicBezTo>
                  <a:close/>
                </a:path>
              </a:pathLst>
            </a:custGeom>
            <a:solidFill>
              <a:schemeClr val="lt2">
                <a:alpha val="58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88433" y="1550670"/>
              <a:ext cx="16697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① 知识地图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91481" y="2053590"/>
              <a:ext cx="3346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梳理四类预测对象与决策接口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848725" y="1257300"/>
              <a:ext cx="2676525" cy="1543050"/>
            </a:xfrm>
            <a:custGeom>
              <a:avLst/>
              <a:gdLst/>
              <a:ahLst/>
              <a:cxnLst/>
              <a:rect l="l" t="t" r="r" b="b"/>
              <a:pathLst>
                <a:path w="2676525" h="1543050">
                  <a:moveTo>
                    <a:pt x="123825" y="104775"/>
                  </a:moveTo>
                  <a:cubicBezTo>
                    <a:pt x="1266825" y="0"/>
                    <a:pt x="2305050" y="133350"/>
                    <a:pt x="2676525" y="304800"/>
                  </a:cubicBezTo>
                  <a:cubicBezTo>
                    <a:pt x="2657475" y="809625"/>
                    <a:pt x="2590800" y="1143000"/>
                    <a:pt x="2447925" y="1466850"/>
                  </a:cubicBezTo>
                  <a:cubicBezTo>
                    <a:pt x="1581150" y="1543050"/>
                    <a:pt x="790575" y="1485900"/>
                    <a:pt x="114300" y="1371600"/>
                  </a:cubicBezTo>
                  <a:cubicBezTo>
                    <a:pt x="0" y="942975"/>
                    <a:pt x="19050" y="485775"/>
                    <a:pt x="123825" y="104775"/>
                  </a:cubicBezTo>
                  <a:close/>
                </a:path>
              </a:pathLst>
            </a:custGeom>
            <a:solidFill>
              <a:schemeClr val="lt1"/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27058" y="1550670"/>
              <a:ext cx="16697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② 复现链路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230106" y="2053590"/>
              <a:ext cx="24462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DINO-WM · LeWM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30106" y="2358390"/>
              <a:ext cx="2505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Δ-IRIS · TD-MPC2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4581525" y="2971800"/>
              <a:ext cx="4162425" cy="2105025"/>
            </a:xfrm>
            <a:custGeom>
              <a:avLst/>
              <a:gdLst/>
              <a:ahLst/>
              <a:cxnLst/>
              <a:rect l="l" t="t" r="r" b="b"/>
              <a:pathLst>
                <a:path w="4162425" h="2105025">
                  <a:moveTo>
                    <a:pt x="114300" y="142875"/>
                  </a:moveTo>
                  <a:cubicBezTo>
                    <a:pt x="1495425" y="0"/>
                    <a:pt x="2867025" y="85725"/>
                    <a:pt x="4076700" y="238125"/>
                  </a:cubicBezTo>
                  <a:cubicBezTo>
                    <a:pt x="4162425" y="819150"/>
                    <a:pt x="4105275" y="1466850"/>
                    <a:pt x="3952875" y="2009775"/>
                  </a:cubicBezTo>
                  <a:cubicBezTo>
                    <a:pt x="2619375" y="2105025"/>
                    <a:pt x="1362075" y="2028825"/>
                    <a:pt x="123825" y="1885950"/>
                  </a:cubicBezTo>
                  <a:cubicBezTo>
                    <a:pt x="0" y="1304925"/>
                    <a:pt x="9525" y="666750"/>
                    <a:pt x="114300" y="142875"/>
                  </a:cubicBezTo>
                  <a:close/>
                </a:path>
              </a:pathLst>
            </a:custGeom>
            <a:solidFill>
              <a:schemeClr val="lt1"/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88433" y="3322320"/>
              <a:ext cx="16697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③ 实验结果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91481" y="3815715"/>
              <a:ext cx="29114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成功率 · 回报 · 训练进度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991481" y="4139565"/>
              <a:ext cx="32360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MAE / PSNR · 评估边界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8829675" y="2990850"/>
              <a:ext cx="2705100" cy="2076450"/>
            </a:xfrm>
            <a:custGeom>
              <a:avLst/>
              <a:gdLst/>
              <a:ahLst/>
              <a:cxnLst/>
              <a:rect l="l" t="t" r="r" b="b"/>
              <a:pathLst>
                <a:path w="2705100" h="2076450">
                  <a:moveTo>
                    <a:pt x="123825" y="142875"/>
                  </a:moveTo>
                  <a:cubicBezTo>
                    <a:pt x="1219200" y="0"/>
                    <a:pt x="2324100" y="152400"/>
                    <a:pt x="2686050" y="323850"/>
                  </a:cubicBezTo>
                  <a:cubicBezTo>
                    <a:pt x="2705100" y="866775"/>
                    <a:pt x="2628900" y="1476375"/>
                    <a:pt x="2447925" y="1971675"/>
                  </a:cubicBezTo>
                  <a:cubicBezTo>
                    <a:pt x="1590675" y="2076450"/>
                    <a:pt x="809625" y="1981200"/>
                    <a:pt x="123825" y="1838325"/>
                  </a:cubicBezTo>
                  <a:cubicBezTo>
                    <a:pt x="0" y="1295400"/>
                    <a:pt x="19050" y="666750"/>
                    <a:pt x="123825" y="142875"/>
                  </a:cubicBezTo>
                  <a:close/>
                </a:path>
              </a:pathLst>
            </a:custGeom>
            <a:solidFill>
              <a:schemeClr val="lt2">
                <a:alpha val="58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27058" y="3322320"/>
              <a:ext cx="16697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7D5C"/>
                  </a:solidFill>
                  <a:latin typeface="+mj-lt"/>
                  <a:ea typeface="+mj-ea"/>
                  <a:cs typeface="+mj-cs"/>
                </a:rPr>
                <a:t>④ 证据交付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30106" y="3815715"/>
              <a:ext cx="21433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 · 环境 · 脚本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30106" y="4139565"/>
              <a:ext cx="21433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 · 哈希 · 报告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42925" y="5724525"/>
            <a:ext cx="11253521" cy="624459"/>
            <a:chOff x="542925" y="5724525"/>
            <a:chExt cx="11253521" cy="624459"/>
          </a:xfrm>
        </p:grpSpPr>
        <p:sp>
          <p:nvSpPr>
            <p:cNvPr id="30" name="Freeform 30"/>
            <p:cNvSpPr/>
            <p:nvPr/>
          </p:nvSpPr>
          <p:spPr>
            <a:xfrm>
              <a:off x="542925" y="5724525"/>
              <a:ext cx="11096625" cy="133350"/>
            </a:xfrm>
            <a:custGeom>
              <a:avLst/>
              <a:gdLst/>
              <a:ahLst/>
              <a:cxnLst/>
              <a:rect l="l" t="t" r="r" b="b"/>
              <a:pathLst>
                <a:path w="11096625" h="133350">
                  <a:moveTo>
                    <a:pt x="0" y="85725"/>
                  </a:moveTo>
                  <a:cubicBezTo>
                    <a:pt x="2914650" y="0"/>
                    <a:pt x="6724650" y="133350"/>
                    <a:pt x="11096625" y="57150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43306" y="5996940"/>
              <a:ext cx="74380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徐亦栋｜同济大学自动化｜GPA 4.83 / 5.00｜专业排名 1 / 69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142" y="6045518"/>
              <a:ext cx="4945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研究兴趣：具身智能 · VLA / WAM · 机器人系统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2722" y="416242"/>
            <a:ext cx="10149078" cy="557403"/>
            <a:chOff x="442722" y="416242"/>
            <a:chExt cx="10149078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42722" y="416242"/>
              <a:ext cx="933479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四条路线的差异，归根结底是“预测什么、如何决策”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90575"/>
              <a:ext cx="10125075" cy="152400"/>
            </a:xfrm>
            <a:custGeom>
              <a:avLst/>
              <a:gdLst/>
              <a:ahLst/>
              <a:cxnLst/>
              <a:rect l="l" t="t" r="r" b="b"/>
              <a:pathLst>
                <a:path w="10125075" h="152400">
                  <a:moveTo>
                    <a:pt x="0" y="85725"/>
                  </a:moveTo>
                  <a:cubicBezTo>
                    <a:pt x="3124200" y="0"/>
                    <a:pt x="6562725" y="152400"/>
                    <a:pt x="10125075" y="47625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14350" y="1447800"/>
            <a:ext cx="2762250" cy="4048125"/>
            <a:chOff x="514350" y="1447800"/>
            <a:chExt cx="2762250" cy="4048125"/>
          </a:xfrm>
        </p:grpSpPr>
        <p:sp>
          <p:nvSpPr>
            <p:cNvPr id="5" name="Freeform 5"/>
            <p:cNvSpPr/>
            <p:nvPr/>
          </p:nvSpPr>
          <p:spPr>
            <a:xfrm>
              <a:off x="514350" y="1447800"/>
              <a:ext cx="2762250" cy="4048125"/>
            </a:xfrm>
            <a:custGeom>
              <a:avLst/>
              <a:gdLst/>
              <a:ahLst/>
              <a:cxnLst/>
              <a:rect l="l" t="t" r="r" b="b"/>
              <a:pathLst>
                <a:path w="2762250" h="4048125">
                  <a:moveTo>
                    <a:pt x="238125" y="219075"/>
                  </a:moveTo>
                  <a:cubicBezTo>
                    <a:pt x="1114425" y="0"/>
                    <a:pt x="2085975" y="114300"/>
                    <a:pt x="2581275" y="514350"/>
                  </a:cubicBezTo>
                  <a:cubicBezTo>
                    <a:pt x="2762250" y="1533525"/>
                    <a:pt x="2686050" y="2905125"/>
                    <a:pt x="2381250" y="3771900"/>
                  </a:cubicBezTo>
                  <a:cubicBezTo>
                    <a:pt x="1562100" y="4048125"/>
                    <a:pt x="685800" y="3848100"/>
                    <a:pt x="190500" y="3429000"/>
                  </a:cubicBezTo>
                  <a:cubicBezTo>
                    <a:pt x="0" y="2419350"/>
                    <a:pt x="38100" y="1171575"/>
                    <a:pt x="238125" y="219075"/>
                  </a:cubicBezTo>
                  <a:close/>
                </a:path>
              </a:pathLst>
            </a:custGeom>
            <a:solidFill>
              <a:schemeClr val="lt2">
                <a:alpha val="65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52881" y="2034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统一验收问题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7547" y="2540318"/>
              <a:ext cx="16403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预测表示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7547" y="3035618"/>
              <a:ext cx="20432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是否保留了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7547" y="3530918"/>
              <a:ext cx="20432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对控制有用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7547" y="4026218"/>
              <a:ext cx="16403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的信息？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00125" y="4495800"/>
              <a:ext cx="1752600" cy="114300"/>
            </a:xfrm>
            <a:custGeom>
              <a:avLst/>
              <a:gdLst/>
              <a:ahLst/>
              <a:cxnLst/>
              <a:rect l="l" t="t" r="r" b="b"/>
              <a:pathLst>
                <a:path w="1752600" h="114300">
                  <a:moveTo>
                    <a:pt x="0" y="114300"/>
                  </a:moveTo>
                  <a:cubicBezTo>
                    <a:pt x="542925" y="19050"/>
                    <a:pt x="1152525" y="76200"/>
                    <a:pt x="1752600" y="0"/>
                  </a:cubicBezTo>
                </a:path>
              </a:pathLst>
            </a:custGeom>
            <a:noFill/>
            <a:ln w="57150" cap="rnd">
              <a:solidFill>
                <a:schemeClr val="accent2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857625" y="1162050"/>
            <a:ext cx="7743825" cy="4714875"/>
            <a:chOff x="3857625" y="1162050"/>
            <a:chExt cx="7743825" cy="4714875"/>
          </a:xfrm>
        </p:grpSpPr>
        <p:sp>
          <p:nvSpPr>
            <p:cNvPr id="13" name="Freeform 13"/>
            <p:cNvSpPr/>
            <p:nvPr/>
          </p:nvSpPr>
          <p:spPr>
            <a:xfrm>
              <a:off x="3857625" y="1657350"/>
              <a:ext cx="657225" cy="114300"/>
            </a:xfrm>
            <a:custGeom>
              <a:avLst/>
              <a:gdLst/>
              <a:ahLst/>
              <a:cxnLst/>
              <a:rect l="l" t="t" r="r" b="b"/>
              <a:pathLst>
                <a:path w="657225" h="114300">
                  <a:moveTo>
                    <a:pt x="0" y="114300"/>
                  </a:moveTo>
                  <a:cubicBezTo>
                    <a:pt x="228600" y="38100"/>
                    <a:pt x="428625" y="9525"/>
                    <a:pt x="657225" y="0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57625" y="2781300"/>
              <a:ext cx="695325" cy="76200"/>
            </a:xfrm>
            <a:custGeom>
              <a:avLst/>
              <a:gdLst/>
              <a:ahLst/>
              <a:cxnLst/>
              <a:rect l="l" t="t" r="r" b="b"/>
              <a:pathLst>
                <a:path w="695325" h="76200">
                  <a:moveTo>
                    <a:pt x="0" y="76200"/>
                  </a:moveTo>
                  <a:cubicBezTo>
                    <a:pt x="238125" y="0"/>
                    <a:pt x="447675" y="28575"/>
                    <a:pt x="695325" y="0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857625" y="3886200"/>
              <a:ext cx="695325" cy="95250"/>
            </a:xfrm>
            <a:custGeom>
              <a:avLst/>
              <a:gdLst/>
              <a:ahLst/>
              <a:cxnLst/>
              <a:rect l="l" t="t" r="r" b="b"/>
              <a:pathLst>
                <a:path w="695325" h="95250">
                  <a:moveTo>
                    <a:pt x="0" y="95250"/>
                  </a:moveTo>
                  <a:cubicBezTo>
                    <a:pt x="238125" y="9525"/>
                    <a:pt x="447675" y="38100"/>
                    <a:pt x="695325" y="0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857625" y="4991100"/>
              <a:ext cx="695325" cy="114300"/>
            </a:xfrm>
            <a:custGeom>
              <a:avLst/>
              <a:gdLst/>
              <a:ahLst/>
              <a:cxnLst/>
              <a:rect l="l" t="t" r="r" b="b"/>
              <a:pathLst>
                <a:path w="695325" h="114300">
                  <a:moveTo>
                    <a:pt x="0" y="114300"/>
                  </a:moveTo>
                  <a:cubicBezTo>
                    <a:pt x="238125" y="19050"/>
                    <a:pt x="457200" y="47625"/>
                    <a:pt x="695325" y="0"/>
                  </a:cubicBezTo>
                </a:path>
              </a:pathLst>
            </a:custGeom>
            <a:noFill/>
            <a:ln w="28575" cap="rnd">
              <a:solidFill>
                <a:schemeClr val="accent1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495800" y="1562100"/>
              <a:ext cx="161925" cy="3524250"/>
            </a:xfrm>
            <a:custGeom>
              <a:avLst/>
              <a:gdLst/>
              <a:ahLst/>
              <a:cxnLst/>
              <a:rect l="l" t="t" r="r" b="b"/>
              <a:pathLst>
                <a:path w="161925" h="3524250">
                  <a:moveTo>
                    <a:pt x="0" y="0"/>
                  </a:moveTo>
                  <a:lnTo>
                    <a:pt x="133350" y="85725"/>
                  </a:lnTo>
                  <a:lnTo>
                    <a:pt x="19050" y="190500"/>
                  </a:lnTo>
                  <a:moveTo>
                    <a:pt x="38100" y="1123950"/>
                  </a:moveTo>
                  <a:lnTo>
                    <a:pt x="161925" y="1209675"/>
                  </a:lnTo>
                  <a:lnTo>
                    <a:pt x="47625" y="1314450"/>
                  </a:lnTo>
                  <a:moveTo>
                    <a:pt x="38100" y="2228850"/>
                  </a:moveTo>
                  <a:lnTo>
                    <a:pt x="161925" y="2314575"/>
                  </a:lnTo>
                  <a:lnTo>
                    <a:pt x="47625" y="2419350"/>
                  </a:lnTo>
                  <a:moveTo>
                    <a:pt x="38100" y="3333750"/>
                  </a:moveTo>
                  <a:lnTo>
                    <a:pt x="161925" y="3419475"/>
                  </a:lnTo>
                  <a:lnTo>
                    <a:pt x="47625" y="3524250"/>
                  </a:lnTo>
                </a:path>
              </a:pathLst>
            </a:custGeom>
            <a:noFill/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18" name="Freeform 18"/>
            <p:cNvSpPr/>
            <p:nvPr/>
          </p:nvSpPr>
          <p:spPr>
            <a:xfrm>
              <a:off x="4600575" y="1162050"/>
              <a:ext cx="7000875" cy="1304925"/>
            </a:xfrm>
            <a:custGeom>
              <a:avLst/>
              <a:gdLst/>
              <a:ahLst/>
              <a:cxnLst/>
              <a:rect l="l" t="t" r="r" b="b"/>
              <a:pathLst>
                <a:path w="7000875" h="1304925">
                  <a:moveTo>
                    <a:pt x="104775" y="123825"/>
                  </a:moveTo>
                  <a:cubicBezTo>
                    <a:pt x="1771650" y="0"/>
                    <a:pt x="4391025" y="57150"/>
                    <a:pt x="6905625" y="180975"/>
                  </a:cubicBezTo>
                  <a:cubicBezTo>
                    <a:pt x="7000875" y="647700"/>
                    <a:pt x="6943725" y="971550"/>
                    <a:pt x="6800850" y="1209675"/>
                  </a:cubicBezTo>
                  <a:cubicBezTo>
                    <a:pt x="4457700" y="1304925"/>
                    <a:pt x="2238375" y="1266825"/>
                    <a:pt x="95250" y="1152525"/>
                  </a:cubicBezTo>
                  <a:cubicBezTo>
                    <a:pt x="0" y="809625"/>
                    <a:pt x="9525" y="457200"/>
                    <a:pt x="104775" y="123825"/>
                  </a:cubicBezTo>
                  <a:close/>
                </a:path>
              </a:pathLst>
            </a:custGeom>
            <a:solidFill>
              <a:schemeClr val="lt1"/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940808" y="1426845"/>
              <a:ext cx="27892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像素 / 潜变量想象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15606" y="1491615"/>
              <a:ext cx="27450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latent rollout → policy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43856" y="1891665"/>
              <a:ext cx="46444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DreamerV3：重建与想象服务策略学习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591050" y="2352675"/>
              <a:ext cx="6991350" cy="1247775"/>
            </a:xfrm>
            <a:custGeom>
              <a:avLst/>
              <a:gdLst/>
              <a:ahLst/>
              <a:cxnLst/>
              <a:rect l="l" t="t" r="r" b="b"/>
              <a:pathLst>
                <a:path w="6991350" h="1247775">
                  <a:moveTo>
                    <a:pt x="104775" y="123825"/>
                  </a:moveTo>
                  <a:cubicBezTo>
                    <a:pt x="2143125" y="0"/>
                    <a:pt x="4667250" y="76200"/>
                    <a:pt x="6915150" y="190500"/>
                  </a:cubicBezTo>
                  <a:cubicBezTo>
                    <a:pt x="6991350" y="628650"/>
                    <a:pt x="6943725" y="923925"/>
                    <a:pt x="6819900" y="1152525"/>
                  </a:cubicBezTo>
                  <a:cubicBezTo>
                    <a:pt x="4476750" y="1247775"/>
                    <a:pt x="2286000" y="1190625"/>
                    <a:pt x="104775" y="1104900"/>
                  </a:cubicBezTo>
                  <a:cubicBezTo>
                    <a:pt x="0" y="790575"/>
                    <a:pt x="9525" y="447675"/>
                    <a:pt x="104775" y="123825"/>
                  </a:cubicBezTo>
                  <a:close/>
                </a:path>
              </a:pathLst>
            </a:custGeom>
            <a:solidFill>
              <a:schemeClr val="lt2">
                <a:alpha val="58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940808" y="2607945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视觉表征动态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5606" y="2672715"/>
              <a:ext cx="39867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feature prediction → goal match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43856" y="3072765"/>
              <a:ext cx="58058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DINO-WM / LeWM：直接在特征几何中规划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4591050" y="3476625"/>
              <a:ext cx="6991350" cy="1247775"/>
            </a:xfrm>
            <a:custGeom>
              <a:avLst/>
              <a:gdLst/>
              <a:ahLst/>
              <a:cxnLst/>
              <a:rect l="l" t="t" r="r" b="b"/>
              <a:pathLst>
                <a:path w="6991350" h="1247775">
                  <a:moveTo>
                    <a:pt x="104775" y="133350"/>
                  </a:moveTo>
                  <a:cubicBezTo>
                    <a:pt x="2066925" y="0"/>
                    <a:pt x="4591050" y="57150"/>
                    <a:pt x="6905625" y="190500"/>
                  </a:cubicBezTo>
                  <a:cubicBezTo>
                    <a:pt x="6991350" y="628650"/>
                    <a:pt x="6934200" y="923925"/>
                    <a:pt x="6800850" y="1171575"/>
                  </a:cubicBezTo>
                  <a:cubicBezTo>
                    <a:pt x="4610100" y="1247775"/>
                    <a:pt x="2314575" y="1209675"/>
                    <a:pt x="104775" y="1114425"/>
                  </a:cubicBezTo>
                  <a:cubicBezTo>
                    <a:pt x="0" y="800100"/>
                    <a:pt x="9525" y="457200"/>
                    <a:pt x="104775" y="133350"/>
                  </a:cubicBezTo>
                  <a:close/>
                </a:path>
              </a:pathLst>
            </a:custGeom>
            <a:solidFill>
              <a:schemeClr val="lt1"/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40808" y="3741420"/>
              <a:ext cx="25178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离散 token 动态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5606" y="3806190"/>
              <a:ext cx="32186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imagination → policy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43856" y="4206240"/>
              <a:ext cx="51947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IRIS / Δ-IRIS：显式建模随机未来分布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581525" y="4610100"/>
              <a:ext cx="6991350" cy="1266825"/>
            </a:xfrm>
            <a:custGeom>
              <a:avLst/>
              <a:gdLst/>
              <a:ahLst/>
              <a:cxnLst/>
              <a:rect l="l" t="t" r="r" b="b"/>
              <a:pathLst>
                <a:path w="6991350" h="1266825">
                  <a:moveTo>
                    <a:pt x="114300" y="133350"/>
                  </a:moveTo>
                  <a:cubicBezTo>
                    <a:pt x="2009775" y="0"/>
                    <a:pt x="4514850" y="57150"/>
                    <a:pt x="6915150" y="180975"/>
                  </a:cubicBezTo>
                  <a:cubicBezTo>
                    <a:pt x="6991350" y="609600"/>
                    <a:pt x="6943725" y="914400"/>
                    <a:pt x="6791325" y="1162050"/>
                  </a:cubicBezTo>
                  <a:cubicBezTo>
                    <a:pt x="4505325" y="1266825"/>
                    <a:pt x="2305050" y="1190625"/>
                    <a:pt x="114300" y="1114425"/>
                  </a:cubicBezTo>
                  <a:cubicBezTo>
                    <a:pt x="0" y="800100"/>
                    <a:pt x="19050" y="457200"/>
                    <a:pt x="114300" y="133350"/>
                  </a:cubicBezTo>
                  <a:close/>
                </a:path>
              </a:pathLst>
            </a:custGeom>
            <a:solidFill>
              <a:schemeClr val="lt2">
                <a:alpha val="58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40808" y="4874895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F7D5C"/>
                  </a:solidFill>
                  <a:latin typeface="+mj-lt"/>
                  <a:ea typeface="+mj-ea"/>
                  <a:cs typeface="+mj-cs"/>
                </a:rPr>
                <a:t>控制潜变量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5606" y="4939665"/>
              <a:ext cx="2846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reward / value → MPPI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3856" y="5339715"/>
              <a:ext cx="50081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TD-MPC2：只预测对控制有用的状态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378142"/>
            <a:ext cx="9478457" cy="557403"/>
            <a:chOff x="423672" y="378142"/>
            <a:chExt cx="9478457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378142"/>
              <a:ext cx="947845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DINO-WM：预训练视觉特征可以直接成为规划空间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52475"/>
              <a:ext cx="9258300" cy="152400"/>
            </a:xfrm>
            <a:custGeom>
              <a:avLst/>
              <a:gdLst/>
              <a:ahLst/>
              <a:cxnLst/>
              <a:rect l="l" t="t" r="r" b="b"/>
              <a:pathLst>
                <a:path w="9258300" h="152400">
                  <a:moveTo>
                    <a:pt x="0" y="85725"/>
                  </a:moveTo>
                  <a:cubicBezTo>
                    <a:pt x="2724150" y="0"/>
                    <a:pt x="5895975" y="152400"/>
                    <a:pt x="9258300" y="47625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57200" y="1028700"/>
            <a:ext cx="6181725" cy="3394901"/>
            <a:chOff x="457200" y="1028700"/>
            <a:chExt cx="6181725" cy="3394901"/>
          </a:xfrm>
        </p:grpSpPr>
        <p:sp>
          <p:nvSpPr>
            <p:cNvPr id="5" name="Freeform 5"/>
            <p:cNvSpPr/>
            <p:nvPr/>
          </p:nvSpPr>
          <p:spPr>
            <a:xfrm>
              <a:off x="457200" y="1028700"/>
              <a:ext cx="6181725" cy="3371850"/>
            </a:xfrm>
            <a:custGeom>
              <a:avLst/>
              <a:gdLst/>
              <a:ahLst/>
              <a:cxnLst/>
              <a:rect l="l" t="t" r="r" b="b"/>
              <a:pathLst>
                <a:path w="6181725" h="3371850">
                  <a:moveTo>
                    <a:pt x="66675" y="76200"/>
                  </a:moveTo>
                  <a:cubicBezTo>
                    <a:pt x="1676400" y="0"/>
                    <a:pt x="4095750" y="38100"/>
                    <a:pt x="6143625" y="104775"/>
                  </a:cubicBezTo>
                  <a:cubicBezTo>
                    <a:pt x="6181725" y="1152525"/>
                    <a:pt x="6172200" y="2305050"/>
                    <a:pt x="6105525" y="3305175"/>
                  </a:cubicBezTo>
                  <a:cubicBezTo>
                    <a:pt x="4143375" y="3371850"/>
                    <a:pt x="1914525" y="3333750"/>
                    <a:pt x="57150" y="3276600"/>
                  </a:cubicBezTo>
                  <a:cubicBezTo>
                    <a:pt x="0" y="2190750"/>
                    <a:pt x="9525" y="1076325"/>
                    <a:pt x="66675" y="7620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round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1314" y="1257300"/>
              <a:ext cx="3401122" cy="2905125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717042" y="4159568"/>
              <a:ext cx="37309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PointMaze 规划迭代拼图｜完整帧与标签保留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067550" y="1234440"/>
            <a:ext cx="4452061" cy="3266694"/>
            <a:chOff x="7067550" y="1234440"/>
            <a:chExt cx="4452061" cy="3266694"/>
          </a:xfrm>
        </p:grpSpPr>
        <p:sp>
          <p:nvSpPr>
            <p:cNvPr id="9" name="TextBox 9"/>
            <p:cNvSpPr txBox="1"/>
            <p:nvPr/>
          </p:nvSpPr>
          <p:spPr>
            <a:xfrm>
              <a:off x="7077456" y="12344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有界评估结果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67550" y="1522095"/>
              <a:ext cx="171735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2F7D5C"/>
                  </a:solidFill>
                  <a:latin typeface="Consolas"/>
                  <a:ea typeface="Consolas"/>
                  <a:cs typeface="Consolas"/>
                </a:rPr>
                <a:t>1.00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6756" y="1891665"/>
              <a:ext cx="13325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PointMaze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69836" y="2415540"/>
              <a:ext cx="15961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43 / 50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6756" y="2558415"/>
              <a:ext cx="16166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PushT · 86%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069836" y="2920365"/>
              <a:ext cx="159616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47 / 50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6756" y="3063240"/>
              <a:ext cx="1340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Wall · 94%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086600" y="3429000"/>
              <a:ext cx="4333875" cy="95250"/>
            </a:xfrm>
            <a:custGeom>
              <a:avLst/>
              <a:gdLst/>
              <a:ahLst/>
              <a:cxnLst/>
              <a:rect l="l" t="t" r="r" b="b"/>
              <a:pathLst>
                <a:path w="4333875" h="95250">
                  <a:moveTo>
                    <a:pt x="0" y="66675"/>
                  </a:moveTo>
                  <a:cubicBezTo>
                    <a:pt x="1285875" y="0"/>
                    <a:pt x="2667000" y="95250"/>
                    <a:pt x="4333875" y="9525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79742" y="3673792"/>
              <a:ext cx="44398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seed=99 · 50 evals · 300 samples · 10 opt steps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7456" y="3882390"/>
              <a:ext cx="3378708" cy="618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我的理解：保留目标匹配几何，无需先重建每个像素。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" y="4591050"/>
            <a:ext cx="11229975" cy="1632775"/>
            <a:chOff x="457200" y="4591050"/>
            <a:chExt cx="11229975" cy="1632775"/>
          </a:xfrm>
        </p:grpSpPr>
        <p:sp>
          <p:nvSpPr>
            <p:cNvPr id="20" name="Freeform 20"/>
            <p:cNvSpPr/>
            <p:nvPr/>
          </p:nvSpPr>
          <p:spPr>
            <a:xfrm>
              <a:off x="457200" y="4591050"/>
              <a:ext cx="11229975" cy="1609725"/>
            </a:xfrm>
            <a:custGeom>
              <a:avLst/>
              <a:gdLst/>
              <a:ahLst/>
              <a:cxnLst/>
              <a:rect l="l" t="t" r="r" b="b"/>
              <a:pathLst>
                <a:path w="11229975" h="1609725">
                  <a:moveTo>
                    <a:pt x="47625" y="85725"/>
                  </a:moveTo>
                  <a:cubicBezTo>
                    <a:pt x="2809875" y="0"/>
                    <a:pt x="6962775" y="57150"/>
                    <a:pt x="11191875" y="123825"/>
                  </a:cubicBezTo>
                  <a:cubicBezTo>
                    <a:pt x="11229975" y="561975"/>
                    <a:pt x="11182350" y="1095375"/>
                    <a:pt x="11144250" y="1524000"/>
                  </a:cubicBezTo>
                  <a:cubicBezTo>
                    <a:pt x="7315200" y="1609725"/>
                    <a:pt x="3400425" y="1581150"/>
                    <a:pt x="57150" y="1504950"/>
                  </a:cubicBezTo>
                  <a:cubicBezTo>
                    <a:pt x="0" y="1057275"/>
                    <a:pt x="0" y="542925"/>
                    <a:pt x="47625" y="85725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round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95717" y="4810125"/>
              <a:ext cx="3000566" cy="1143000"/>
            </a:xfrm>
            <a:prstGeom prst="rect">
              <a:avLst/>
            </a:prstGeom>
          </p:spPr>
        </p:pic>
        <p:sp>
          <p:nvSpPr>
            <p:cNvPr id="22" name="TextBox 22"/>
            <p:cNvSpPr txBox="1"/>
            <p:nvPr/>
          </p:nvSpPr>
          <p:spPr>
            <a:xfrm>
              <a:off x="717042" y="5959792"/>
              <a:ext cx="7786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PushT / Wall 50 次评估曲线｜Wilson 95% CI：PushT [0.738, 0.930]；Wall [0.838, 0.979]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378142"/>
            <a:ext cx="8654134" cy="557403"/>
            <a:chOff x="423672" y="378142"/>
            <a:chExt cx="8654134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378142"/>
              <a:ext cx="865413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LeWM：更简洁的 JEPA 目标也能服务真实控制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52475"/>
              <a:ext cx="8486775" cy="142875"/>
            </a:xfrm>
            <a:custGeom>
              <a:avLst/>
              <a:gdLst/>
              <a:ahLst/>
              <a:cxnLst/>
              <a:rect l="l" t="t" r="r" b="b"/>
              <a:pathLst>
                <a:path w="8486775" h="142875">
                  <a:moveTo>
                    <a:pt x="0" y="85725"/>
                  </a:moveTo>
                  <a:cubicBezTo>
                    <a:pt x="2562225" y="0"/>
                    <a:pt x="5476875" y="142875"/>
                    <a:pt x="8486775" y="47625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14350" y="1310640"/>
            <a:ext cx="3232556" cy="4998911"/>
            <a:chOff x="514350" y="1310640"/>
            <a:chExt cx="3232556" cy="4998911"/>
          </a:xfrm>
        </p:grpSpPr>
        <p:sp>
          <p:nvSpPr>
            <p:cNvPr id="5" name="TextBox 5"/>
            <p:cNvSpPr txBox="1"/>
            <p:nvPr/>
          </p:nvSpPr>
          <p:spPr>
            <a:xfrm>
              <a:off x="543306" y="1310640"/>
              <a:ext cx="22169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官方权重 · Push-T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33400" y="1750695"/>
              <a:ext cx="145019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96%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0258" y="2474595"/>
              <a:ext cx="28202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48 / 50 episodes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43306" y="2939415"/>
              <a:ext cx="17849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耗时 363.62 秒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52450" y="3305175"/>
              <a:ext cx="2533650" cy="114300"/>
            </a:xfrm>
            <a:custGeom>
              <a:avLst/>
              <a:gdLst/>
              <a:ahLst/>
              <a:cxnLst/>
              <a:rect l="l" t="t" r="r" b="b"/>
              <a:pathLst>
                <a:path w="2533650" h="114300">
                  <a:moveTo>
                    <a:pt x="0" y="85725"/>
                  </a:moveTo>
                  <a:cubicBezTo>
                    <a:pt x="781050" y="0"/>
                    <a:pt x="1628775" y="114300"/>
                    <a:pt x="2533650" y="28575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3306" y="3558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我验证的层级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5592" y="4026218"/>
              <a:ext cx="22699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权重哈希 + strict load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5592" y="4397692"/>
              <a:ext cx="17995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损失有限且可反传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45592" y="4769168"/>
              <a:ext cx="2102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loaders + MPC cost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5592" y="5140642"/>
              <a:ext cx="3201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✓ train batch + checkpoint reload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14350" y="5372100"/>
              <a:ext cx="2628900" cy="209550"/>
            </a:xfrm>
            <a:custGeom>
              <a:avLst/>
              <a:gdLst/>
              <a:ahLst/>
              <a:cxnLst/>
              <a:rect l="l" t="t" r="r" b="b"/>
              <a:pathLst>
                <a:path w="2628900" h="209550">
                  <a:moveTo>
                    <a:pt x="0" y="133350"/>
                  </a:moveTo>
                  <a:cubicBezTo>
                    <a:pt x="723900" y="0"/>
                    <a:pt x="1790700" y="57150"/>
                    <a:pt x="2628900" y="20955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5592" y="5750242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理解：预测嵌入到目标的距离，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5592" y="6045518"/>
              <a:ext cx="2683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本身就能成为 MPC 代价。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600450" y="1057275"/>
            <a:ext cx="8096250" cy="3343275"/>
            <a:chOff x="3600450" y="1057275"/>
            <a:chExt cx="8096250" cy="3343275"/>
          </a:xfrm>
        </p:grpSpPr>
        <p:sp>
          <p:nvSpPr>
            <p:cNvPr id="19" name="Freeform 19"/>
            <p:cNvSpPr/>
            <p:nvPr/>
          </p:nvSpPr>
          <p:spPr>
            <a:xfrm>
              <a:off x="3600450" y="1057275"/>
              <a:ext cx="8096250" cy="3343275"/>
            </a:xfrm>
            <a:custGeom>
              <a:avLst/>
              <a:gdLst/>
              <a:ahLst/>
              <a:cxnLst/>
              <a:rect l="l" t="t" r="r" b="b"/>
              <a:pathLst>
                <a:path w="8096250" h="3343275">
                  <a:moveTo>
                    <a:pt x="85725" y="85725"/>
                  </a:moveTo>
                  <a:cubicBezTo>
                    <a:pt x="2190750" y="0"/>
                    <a:pt x="5162550" y="47625"/>
                    <a:pt x="8058150" y="123825"/>
                  </a:cubicBezTo>
                  <a:cubicBezTo>
                    <a:pt x="8096250" y="1133475"/>
                    <a:pt x="8077200" y="2219325"/>
                    <a:pt x="8010525" y="3267075"/>
                  </a:cubicBezTo>
                  <a:cubicBezTo>
                    <a:pt x="5238750" y="3343275"/>
                    <a:pt x="2581275" y="3324225"/>
                    <a:pt x="76200" y="3228975"/>
                  </a:cubicBezTo>
                  <a:cubicBezTo>
                    <a:pt x="0" y="2209800"/>
                    <a:pt x="19050" y="1076325"/>
                    <a:pt x="85725" y="85725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round/>
            </a:ln>
          </p:spPr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8218" y="1285875"/>
              <a:ext cx="4738814" cy="266700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3850767" y="4073842"/>
              <a:ext cx="58181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复现链路：权重验证 → 编码器接口 → MSE + SIGReg → MPC → 训练回载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609975" y="4514850"/>
            <a:ext cx="8077200" cy="1680401"/>
            <a:chOff x="3609975" y="4514850"/>
            <a:chExt cx="8077200" cy="1680401"/>
          </a:xfrm>
        </p:grpSpPr>
        <p:sp>
          <p:nvSpPr>
            <p:cNvPr id="23" name="Freeform 23"/>
            <p:cNvSpPr/>
            <p:nvPr/>
          </p:nvSpPr>
          <p:spPr>
            <a:xfrm>
              <a:off x="3609975" y="4514850"/>
              <a:ext cx="8077200" cy="1647825"/>
            </a:xfrm>
            <a:custGeom>
              <a:avLst/>
              <a:gdLst/>
              <a:ahLst/>
              <a:cxnLst/>
              <a:rect l="l" t="t" r="r" b="b"/>
              <a:pathLst>
                <a:path w="8077200" h="1647825">
                  <a:moveTo>
                    <a:pt x="85725" y="104775"/>
                  </a:moveTo>
                  <a:cubicBezTo>
                    <a:pt x="2209800" y="0"/>
                    <a:pt x="5210175" y="76200"/>
                    <a:pt x="8029575" y="142875"/>
                  </a:cubicBezTo>
                  <a:cubicBezTo>
                    <a:pt x="8077200" y="609600"/>
                    <a:pt x="8048625" y="1114425"/>
                    <a:pt x="7991475" y="1562100"/>
                  </a:cubicBezTo>
                  <a:cubicBezTo>
                    <a:pt x="5153025" y="1647825"/>
                    <a:pt x="2562225" y="1619250"/>
                    <a:pt x="66675" y="1533525"/>
                  </a:cubicBezTo>
                  <a:cubicBezTo>
                    <a:pt x="0" y="1057275"/>
                    <a:pt x="19050" y="542925"/>
                    <a:pt x="85725" y="104775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round/>
            </a:ln>
          </p:spPr>
        </p:sp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0042" y="4762500"/>
              <a:ext cx="2872317" cy="112395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3850767" y="5931218"/>
              <a:ext cx="44555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真实 Push-T 评估首帧｜画面、标签与结果条完整保留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378142"/>
            <a:ext cx="9406128" cy="557403"/>
            <a:chOff x="423672" y="378142"/>
            <a:chExt cx="9406128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378142"/>
              <a:ext cx="89251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Δ-IRIS：复现必须分层，“跑通”不等于论文性能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52475"/>
              <a:ext cx="9363075" cy="161925"/>
            </a:xfrm>
            <a:custGeom>
              <a:avLst/>
              <a:gdLst/>
              <a:ahLst/>
              <a:cxnLst/>
              <a:rect l="l" t="t" r="r" b="b"/>
              <a:pathLst>
                <a:path w="9363075" h="161925">
                  <a:moveTo>
                    <a:pt x="0" y="85725"/>
                  </a:moveTo>
                  <a:cubicBezTo>
                    <a:pt x="2657475" y="0"/>
                    <a:pt x="5524500" y="161925"/>
                    <a:pt x="9363075" y="47625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28625" y="1066800"/>
            <a:ext cx="8724900" cy="5000625"/>
            <a:chOff x="428625" y="1066800"/>
            <a:chExt cx="8724900" cy="5000625"/>
          </a:xfrm>
        </p:grpSpPr>
        <p:sp>
          <p:nvSpPr>
            <p:cNvPr id="5" name="Freeform 5"/>
            <p:cNvSpPr/>
            <p:nvPr/>
          </p:nvSpPr>
          <p:spPr>
            <a:xfrm>
              <a:off x="428625" y="1066800"/>
              <a:ext cx="8724900" cy="5000625"/>
            </a:xfrm>
            <a:custGeom>
              <a:avLst/>
              <a:gdLst/>
              <a:ahLst/>
              <a:cxnLst/>
              <a:rect l="l" t="t" r="r" b="b"/>
              <a:pathLst>
                <a:path w="8724900" h="5000625">
                  <a:moveTo>
                    <a:pt x="85725" y="95250"/>
                  </a:moveTo>
                  <a:cubicBezTo>
                    <a:pt x="2305050" y="0"/>
                    <a:pt x="5534025" y="66675"/>
                    <a:pt x="8648700" y="133350"/>
                  </a:cubicBezTo>
                  <a:cubicBezTo>
                    <a:pt x="8724900" y="1581150"/>
                    <a:pt x="8705850" y="3438525"/>
                    <a:pt x="8629650" y="4895850"/>
                  </a:cubicBezTo>
                  <a:cubicBezTo>
                    <a:pt x="5743575" y="5000625"/>
                    <a:pt x="2857500" y="4972050"/>
                    <a:pt x="85725" y="4876800"/>
                  </a:cubicBezTo>
                  <a:cubicBezTo>
                    <a:pt x="0" y="3409950"/>
                    <a:pt x="9525" y="1619250"/>
                    <a:pt x="85725" y="9525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round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8338" y="1333500"/>
              <a:ext cx="7280723" cy="43434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78942" y="575976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四层复现成功标准｜环境、工程、预训练推理通过；论文性能层仍未完成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58325" y="1310640"/>
            <a:ext cx="2319269" cy="4789361"/>
            <a:chOff x="9458325" y="1310640"/>
            <a:chExt cx="2319269" cy="4789361"/>
          </a:xfrm>
        </p:grpSpPr>
        <p:sp>
          <p:nvSpPr>
            <p:cNvPr id="9" name="TextBox 9"/>
            <p:cNvSpPr txBox="1"/>
            <p:nvPr/>
          </p:nvSpPr>
          <p:spPr>
            <a:xfrm>
              <a:off x="9563481" y="13106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边界必须写清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458325" y="1581150"/>
              <a:ext cx="2152650" cy="3657600"/>
            </a:xfrm>
            <a:custGeom>
              <a:avLst/>
              <a:gdLst/>
              <a:ahLst/>
              <a:cxnLst/>
              <a:rect l="l" t="t" r="r" b="b"/>
              <a:pathLst>
                <a:path w="2152650" h="3657600">
                  <a:moveTo>
                    <a:pt x="161925" y="152400"/>
                  </a:moveTo>
                  <a:cubicBezTo>
                    <a:pt x="981075" y="0"/>
                    <a:pt x="1762125" y="180975"/>
                    <a:pt x="2038350" y="514350"/>
                  </a:cubicBezTo>
                  <a:cubicBezTo>
                    <a:pt x="2152650" y="1476375"/>
                    <a:pt x="2066925" y="2628900"/>
                    <a:pt x="1866900" y="3409950"/>
                  </a:cubicBezTo>
                  <a:cubicBezTo>
                    <a:pt x="1228725" y="3657600"/>
                    <a:pt x="552450" y="3495675"/>
                    <a:pt x="200025" y="3190875"/>
                  </a:cubicBezTo>
                  <a:cubicBezTo>
                    <a:pt x="9525" y="2257425"/>
                    <a:pt x="0" y="1104900"/>
                    <a:pt x="161925" y="152400"/>
                  </a:cubicBezTo>
                  <a:close/>
                </a:path>
              </a:pathLst>
            </a:custGeom>
            <a:solidFill>
              <a:schemeClr val="lt2">
                <a:alpha val="62000"/>
              </a:schemeClr>
            </a:solidFill>
            <a:ln w="38100" cap="rnd">
              <a:solidFill>
                <a:schemeClr val="accent2"/>
              </a:solidFill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20656" y="2044065"/>
              <a:ext cx="1174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7D5C"/>
                  </a:solidFill>
                  <a:latin typeface="+mn-lt"/>
                  <a:ea typeface="+mn-ea"/>
                  <a:cs typeface="+mn-cs"/>
                </a:rPr>
                <a:t>✓ 环境层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0656" y="2453640"/>
              <a:ext cx="1174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7D5C"/>
                  </a:solidFill>
                  <a:latin typeface="+mn-lt"/>
                  <a:ea typeface="+mn-ea"/>
                  <a:cs typeface="+mn-cs"/>
                </a:rPr>
                <a:t>✓ 工程层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20656" y="2863215"/>
              <a:ext cx="1174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7D5C"/>
                  </a:solidFill>
                  <a:latin typeface="+mn-lt"/>
                  <a:ea typeface="+mn-ea"/>
                  <a:cs typeface="+mn-cs"/>
                </a:rPr>
                <a:t>✓ 推理层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20656" y="3387090"/>
              <a:ext cx="15909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○ 论文性能层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9791700" y="3657600"/>
              <a:ext cx="1543050" cy="123825"/>
            </a:xfrm>
            <a:custGeom>
              <a:avLst/>
              <a:gdLst/>
              <a:ahLst/>
              <a:cxnLst/>
              <a:rect l="l" t="t" r="r" b="b"/>
              <a:pathLst>
                <a:path w="1543050" h="123825">
                  <a:moveTo>
                    <a:pt x="0" y="66675"/>
                  </a:moveTo>
                  <a:cubicBezTo>
                    <a:pt x="590550" y="0"/>
                    <a:pt x="1190625" y="123825"/>
                    <a:pt x="1543050" y="38100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820656" y="3949065"/>
              <a:ext cx="1080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epoch 27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0656" y="4301490"/>
              <a:ext cx="17849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360,006 steps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20656" y="4653915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2,032 seg.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17608" y="4941570"/>
              <a:ext cx="195998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7.20% / 5M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518142" y="5378768"/>
              <a:ext cx="1993964" cy="7212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我的判断：checkpoint 证明推理链，不能替代从头训练。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359092"/>
            <a:ext cx="10159502" cy="557403"/>
            <a:chOff x="423672" y="359092"/>
            <a:chExt cx="10159502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359092"/>
              <a:ext cx="1015950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Δ-IRIS：未来不是一张最好看的图，而是一组条件分布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23900"/>
              <a:ext cx="9820275" cy="180975"/>
            </a:xfrm>
            <a:custGeom>
              <a:avLst/>
              <a:gdLst/>
              <a:ahLst/>
              <a:cxnLst/>
              <a:rect l="l" t="t" r="r" b="b"/>
              <a:pathLst>
                <a:path w="9820275" h="180975">
                  <a:moveTo>
                    <a:pt x="0" y="104775"/>
                  </a:moveTo>
                  <a:cubicBezTo>
                    <a:pt x="2447925" y="0"/>
                    <a:pt x="5838825" y="180975"/>
                    <a:pt x="9820275" y="66675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38150" y="1028700"/>
            <a:ext cx="8591550" cy="2343150"/>
            <a:chOff x="438150" y="1028700"/>
            <a:chExt cx="8591550" cy="2343150"/>
          </a:xfrm>
        </p:grpSpPr>
        <p:sp>
          <p:nvSpPr>
            <p:cNvPr id="5" name="Freeform 5"/>
            <p:cNvSpPr/>
            <p:nvPr/>
          </p:nvSpPr>
          <p:spPr>
            <a:xfrm>
              <a:off x="438150" y="1028700"/>
              <a:ext cx="8591550" cy="2343150"/>
            </a:xfrm>
            <a:custGeom>
              <a:avLst/>
              <a:gdLst/>
              <a:ahLst/>
              <a:cxnLst/>
              <a:rect l="l" t="t" r="r" b="b"/>
              <a:pathLst>
                <a:path w="8591550" h="2343150">
                  <a:moveTo>
                    <a:pt x="66675" y="85725"/>
                  </a:moveTo>
                  <a:cubicBezTo>
                    <a:pt x="2371725" y="0"/>
                    <a:pt x="5514975" y="47625"/>
                    <a:pt x="8524875" y="114300"/>
                  </a:cubicBezTo>
                  <a:cubicBezTo>
                    <a:pt x="8591550" y="733425"/>
                    <a:pt x="8572500" y="1571625"/>
                    <a:pt x="8515350" y="2257425"/>
                  </a:cubicBezTo>
                  <a:cubicBezTo>
                    <a:pt x="5495925" y="2343150"/>
                    <a:pt x="2533650" y="2314575"/>
                    <a:pt x="66675" y="2228850"/>
                  </a:cubicBezTo>
                  <a:cubicBezTo>
                    <a:pt x="0" y="1600200"/>
                    <a:pt x="9525" y="714375"/>
                    <a:pt x="66675" y="85725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round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45973" y="1257300"/>
              <a:ext cx="5433053" cy="16573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78942" y="3035618"/>
              <a:ext cx="49753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Tokenizer 条件重建｜MAE 0.00043786 · PSNR 57.5892 dB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77350" y="1038225"/>
            <a:ext cx="2324100" cy="2257425"/>
            <a:chOff x="9277350" y="1038225"/>
            <a:chExt cx="2324100" cy="2257425"/>
          </a:xfrm>
        </p:grpSpPr>
        <p:sp>
          <p:nvSpPr>
            <p:cNvPr id="9" name="Freeform 9"/>
            <p:cNvSpPr/>
            <p:nvPr/>
          </p:nvSpPr>
          <p:spPr>
            <a:xfrm>
              <a:off x="9277350" y="1038225"/>
              <a:ext cx="2324100" cy="2257425"/>
            </a:xfrm>
            <a:custGeom>
              <a:avLst/>
              <a:gdLst/>
              <a:ahLst/>
              <a:cxnLst/>
              <a:rect l="l" t="t" r="r" b="b"/>
              <a:pathLst>
                <a:path w="2324100" h="2257425">
                  <a:moveTo>
                    <a:pt x="142875" y="161925"/>
                  </a:moveTo>
                  <a:cubicBezTo>
                    <a:pt x="781050" y="0"/>
                    <a:pt x="1771650" y="66675"/>
                    <a:pt x="2276475" y="323850"/>
                  </a:cubicBezTo>
                  <a:cubicBezTo>
                    <a:pt x="2324100" y="962025"/>
                    <a:pt x="2247900" y="1609725"/>
                    <a:pt x="2057400" y="2095500"/>
                  </a:cubicBezTo>
                  <a:cubicBezTo>
                    <a:pt x="1304925" y="2257425"/>
                    <a:pt x="571500" y="2143125"/>
                    <a:pt x="161925" y="1885950"/>
                  </a:cubicBezTo>
                  <a:cubicBezTo>
                    <a:pt x="0" y="1323975"/>
                    <a:pt x="19050" y="657225"/>
                    <a:pt x="142875" y="161925"/>
                  </a:cubicBezTo>
                  <a:close/>
                </a:path>
              </a:pathLst>
            </a:custGeom>
            <a:solidFill>
              <a:schemeClr val="lt2">
                <a:alpha val="66000"/>
              </a:schemeClr>
            </a:solidFill>
            <a:ln w="38100" cap="rnd">
              <a:solidFill>
                <a:schemeClr val="accent2"/>
              </a:solidFill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92056" y="1434465"/>
              <a:ext cx="132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重建 ≠ 预测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94342" y="189261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编码器看到了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594342" y="223551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真实下一帧，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94342" y="2578418"/>
              <a:ext cx="15499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只验证压缩质量。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" y="3590925"/>
            <a:ext cx="8591550" cy="2352675"/>
            <a:chOff x="438150" y="3590925"/>
            <a:chExt cx="8591550" cy="2352675"/>
          </a:xfrm>
        </p:grpSpPr>
        <p:sp>
          <p:nvSpPr>
            <p:cNvPr id="15" name="Freeform 15"/>
            <p:cNvSpPr/>
            <p:nvPr/>
          </p:nvSpPr>
          <p:spPr>
            <a:xfrm>
              <a:off x="438150" y="3590925"/>
              <a:ext cx="8591550" cy="2352675"/>
            </a:xfrm>
            <a:custGeom>
              <a:avLst/>
              <a:gdLst/>
              <a:ahLst/>
              <a:cxnLst/>
              <a:rect l="l" t="t" r="r" b="b"/>
              <a:pathLst>
                <a:path w="8591550" h="2352675">
                  <a:moveTo>
                    <a:pt x="66675" y="95250"/>
                  </a:moveTo>
                  <a:cubicBezTo>
                    <a:pt x="2381250" y="0"/>
                    <a:pt x="5534025" y="57150"/>
                    <a:pt x="8524875" y="133350"/>
                  </a:cubicBezTo>
                  <a:cubicBezTo>
                    <a:pt x="8591550" y="771525"/>
                    <a:pt x="8572500" y="1562100"/>
                    <a:pt x="8515350" y="2266950"/>
                  </a:cubicBezTo>
                  <a:cubicBezTo>
                    <a:pt x="5505450" y="2352675"/>
                    <a:pt x="2543175" y="2314575"/>
                    <a:pt x="66675" y="2238375"/>
                  </a:cubicBezTo>
                  <a:cubicBezTo>
                    <a:pt x="0" y="1600200"/>
                    <a:pt x="9525" y="742950"/>
                    <a:pt x="66675" y="9525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chemeClr val="accent1"/>
              </a:solidFill>
              <a:round/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5467" y="3829050"/>
              <a:ext cx="5334065" cy="1657350"/>
            </a:xfrm>
            <a:prstGeom prst="rect">
              <a:avLst/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678942" y="5607368"/>
              <a:ext cx="51548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World model 单步想象｜MAE 0.00358743 · PSNR 30.4654 dB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77350" y="3619500"/>
            <a:ext cx="2324100" cy="2295525"/>
            <a:chOff x="9277350" y="3619500"/>
            <a:chExt cx="2324100" cy="2295525"/>
          </a:xfrm>
        </p:grpSpPr>
        <p:sp>
          <p:nvSpPr>
            <p:cNvPr id="19" name="Freeform 19"/>
            <p:cNvSpPr/>
            <p:nvPr/>
          </p:nvSpPr>
          <p:spPr>
            <a:xfrm>
              <a:off x="9277350" y="3619500"/>
              <a:ext cx="2324100" cy="2295525"/>
            </a:xfrm>
            <a:custGeom>
              <a:avLst/>
              <a:gdLst/>
              <a:ahLst/>
              <a:cxnLst/>
              <a:rect l="l" t="t" r="r" b="b"/>
              <a:pathLst>
                <a:path w="2324100" h="2295525">
                  <a:moveTo>
                    <a:pt x="142875" y="161925"/>
                  </a:moveTo>
                  <a:cubicBezTo>
                    <a:pt x="838200" y="0"/>
                    <a:pt x="1800225" y="76200"/>
                    <a:pt x="2266950" y="333375"/>
                  </a:cubicBezTo>
                  <a:cubicBezTo>
                    <a:pt x="2324100" y="990600"/>
                    <a:pt x="2238375" y="1647825"/>
                    <a:pt x="2038350" y="2152650"/>
                  </a:cubicBezTo>
                  <a:cubicBezTo>
                    <a:pt x="1304925" y="2295525"/>
                    <a:pt x="571500" y="2200275"/>
                    <a:pt x="161925" y="1924050"/>
                  </a:cubicBezTo>
                  <a:cubicBezTo>
                    <a:pt x="0" y="1352550"/>
                    <a:pt x="19050" y="676275"/>
                    <a:pt x="142875" y="161925"/>
                  </a:cubicBezTo>
                  <a:close/>
                </a:path>
              </a:pathLst>
            </a:custGeom>
            <a:solidFill>
              <a:schemeClr val="lt2">
                <a:alpha val="66000"/>
              </a:schemeClr>
            </a:solidFill>
            <a:ln w="38100" cap="rnd">
              <a:solidFill>
                <a:schemeClr val="accent3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92056" y="4015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我的理解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594342" y="4464368"/>
              <a:ext cx="1165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随机实体误差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594342" y="4807268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应按条件分布解释；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94342" y="5150168"/>
              <a:ext cx="13578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报告典型误差，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94342" y="5493068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而非只挑最好样本。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378142"/>
            <a:ext cx="8988956" cy="557403"/>
            <a:chOff x="423672" y="378142"/>
            <a:chExt cx="8988956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378142"/>
              <a:ext cx="898895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TD-MPC2：世界模型只需预测对控制有用的信息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42950"/>
              <a:ext cx="8382000" cy="152400"/>
            </a:xfrm>
            <a:custGeom>
              <a:avLst/>
              <a:gdLst/>
              <a:ahLst/>
              <a:cxnLst/>
              <a:rect l="l" t="t" r="r" b="b"/>
              <a:pathLst>
                <a:path w="8382000" h="152400">
                  <a:moveTo>
                    <a:pt x="0" y="95250"/>
                  </a:moveTo>
                  <a:cubicBezTo>
                    <a:pt x="2409825" y="0"/>
                    <a:pt x="5238750" y="152400"/>
                    <a:pt x="8382000" y="57150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23900" y="1028700"/>
            <a:ext cx="6234669" cy="5000625"/>
            <a:chOff x="723900" y="1028700"/>
            <a:chExt cx="6234669" cy="5000625"/>
          </a:xfrm>
        </p:grpSpPr>
        <p:sp>
          <p:nvSpPr>
            <p:cNvPr id="5" name="Freeform 5"/>
            <p:cNvSpPr/>
            <p:nvPr/>
          </p:nvSpPr>
          <p:spPr>
            <a:xfrm>
              <a:off x="723900" y="1181100"/>
              <a:ext cx="6219825" cy="4848225"/>
            </a:xfrm>
            <a:custGeom>
              <a:avLst/>
              <a:gdLst/>
              <a:ahLst/>
              <a:cxnLst/>
              <a:rect l="l" t="t" r="r" b="b"/>
              <a:pathLst>
                <a:path w="6219825" h="4848225">
                  <a:moveTo>
                    <a:pt x="857250" y="895350"/>
                  </a:moveTo>
                  <a:cubicBezTo>
                    <a:pt x="1962150" y="19050"/>
                    <a:pt x="4114800" y="0"/>
                    <a:pt x="5257800" y="876300"/>
                  </a:cubicBezTo>
                  <a:cubicBezTo>
                    <a:pt x="6191250" y="1600200"/>
                    <a:pt x="6219825" y="3057525"/>
                    <a:pt x="5295900" y="3867150"/>
                  </a:cubicBezTo>
                  <a:cubicBezTo>
                    <a:pt x="4152900" y="4848225"/>
                    <a:pt x="1990725" y="4714875"/>
                    <a:pt x="866775" y="3752850"/>
                  </a:cubicBezTo>
                  <a:cubicBezTo>
                    <a:pt x="0" y="3009900"/>
                    <a:pt x="28575" y="1628775"/>
                    <a:pt x="857250" y="895350"/>
                  </a:cubicBezTo>
                  <a:close/>
                </a:path>
              </a:pathLst>
            </a:custGeom>
            <a:noFill/>
            <a:ln w="47625" cap="rnd">
              <a:solidFill>
                <a:schemeClr val="accent1"/>
              </a:solidFill>
              <a:round/>
            </a:ln>
          </p:spPr>
        </p:sp>
        <p:sp>
          <p:nvSpPr>
            <p:cNvPr id="6" name="Freeform 6"/>
            <p:cNvSpPr/>
            <p:nvPr/>
          </p:nvSpPr>
          <p:spPr>
            <a:xfrm>
              <a:off x="5819775" y="1828800"/>
              <a:ext cx="295275" cy="314325"/>
            </a:xfrm>
            <a:custGeom>
              <a:avLst/>
              <a:gdLst/>
              <a:ahLst/>
              <a:cxnLst/>
              <a:rect l="l" t="t" r="r" b="b"/>
              <a:pathLst>
                <a:path w="295275" h="314325">
                  <a:moveTo>
                    <a:pt x="38100" y="0"/>
                  </a:moveTo>
                  <a:lnTo>
                    <a:pt x="295275" y="209550"/>
                  </a:lnTo>
                  <a:lnTo>
                    <a:pt x="0" y="314325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  <a:round/>
            </a:ln>
          </p:spPr>
        </p:sp>
        <p:sp>
          <p:nvSpPr>
            <p:cNvPr id="7" name="Ellipse 7"/>
            <p:cNvSpPr/>
            <p:nvPr/>
          </p:nvSpPr>
          <p:spPr>
            <a:xfrm>
              <a:off x="1162050" y="1924050"/>
              <a:ext cx="1028700" cy="10287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3276600" y="1028700"/>
              <a:ext cx="1104900" cy="11049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5438775" y="2114550"/>
              <a:ext cx="1219200" cy="12192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5067300" y="436245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rgbClr val="2F7D5C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2190750" y="4629150"/>
              <a:ext cx="1181100" cy="11811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12824" y="2329815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观测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31898" y="1472565"/>
              <a:ext cx="7943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latent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30367" y="2472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采样动作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38181" y="2854642"/>
              <a:ext cx="18203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policy prior + MPPI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910854" y="4682490"/>
              <a:ext cx="14939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F7D5C"/>
                  </a:solidFill>
                  <a:latin typeface="+mj-lt"/>
                  <a:ea typeface="+mj-ea"/>
                  <a:cs typeface="+mj-cs"/>
                </a:rPr>
                <a:t>短期 reward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61204" y="5045392"/>
              <a:ext cx="1193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terminal Q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36076" y="4949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执行第一步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294382" y="5321618"/>
              <a:ext cx="9738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滚动重规划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81022" y="3045142"/>
              <a:ext cx="290933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短模型 + 长价值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14956" y="3596640"/>
              <a:ext cx="36027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不追求像素逼真，追求闭环可用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67625" y="1367790"/>
            <a:ext cx="3933825" cy="4528185"/>
            <a:chOff x="7667625" y="1367790"/>
            <a:chExt cx="3933825" cy="4528185"/>
          </a:xfrm>
        </p:grpSpPr>
        <p:sp>
          <p:nvSpPr>
            <p:cNvPr id="23" name="TextBox 23"/>
            <p:cNvSpPr txBox="1"/>
            <p:nvPr/>
          </p:nvSpPr>
          <p:spPr>
            <a:xfrm>
              <a:off x="7753731" y="136779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复现证据与边界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667625" y="1647825"/>
              <a:ext cx="3933825" cy="1857375"/>
            </a:xfrm>
            <a:custGeom>
              <a:avLst/>
              <a:gdLst/>
              <a:ahLst/>
              <a:cxnLst/>
              <a:rect l="l" t="t" r="r" b="b"/>
              <a:pathLst>
                <a:path w="3933825" h="1857375">
                  <a:moveTo>
                    <a:pt x="114300" y="114300"/>
                  </a:moveTo>
                  <a:cubicBezTo>
                    <a:pt x="1276350" y="0"/>
                    <a:pt x="2771775" y="85725"/>
                    <a:pt x="3848100" y="219075"/>
                  </a:cubicBezTo>
                  <a:cubicBezTo>
                    <a:pt x="3933825" y="800100"/>
                    <a:pt x="3886200" y="1390650"/>
                    <a:pt x="3733800" y="1762125"/>
                  </a:cubicBezTo>
                  <a:cubicBezTo>
                    <a:pt x="2514600" y="1857375"/>
                    <a:pt x="1257300" y="1819275"/>
                    <a:pt x="104775" y="1685925"/>
                  </a:cubicBezTo>
                  <a:cubicBezTo>
                    <a:pt x="0" y="1190625"/>
                    <a:pt x="9525" y="619125"/>
                    <a:pt x="114300" y="114300"/>
                  </a:cubicBezTo>
                  <a:close/>
                </a:path>
              </a:pathLst>
            </a:custGeom>
            <a:solidFill>
              <a:schemeClr val="lt2">
                <a:alpha val="62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03286" y="1882140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2F7D5C"/>
                  </a:solidFill>
                  <a:latin typeface="Consolas"/>
                  <a:ea typeface="Consolas"/>
                  <a:cs typeface="Consolas"/>
                </a:rPr>
                <a:t>762.2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706356" y="2015490"/>
              <a:ext cx="15928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官方 dog-run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03286" y="236791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134.0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706356" y="2501265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154k steps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13192" y="2987992"/>
              <a:ext cx="25292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训练阶段最高：157.3 @ 151k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7667625" y="3571875"/>
              <a:ext cx="3924300" cy="2324100"/>
            </a:xfrm>
            <a:custGeom>
              <a:avLst/>
              <a:gdLst/>
              <a:ahLst/>
              <a:cxnLst/>
              <a:rect l="l" t="t" r="r" b="b"/>
              <a:pathLst>
                <a:path w="3924300" h="2324100">
                  <a:moveTo>
                    <a:pt x="114300" y="123825"/>
                  </a:moveTo>
                  <a:cubicBezTo>
                    <a:pt x="1228725" y="0"/>
                    <a:pt x="2743200" y="76200"/>
                    <a:pt x="3848100" y="228600"/>
                  </a:cubicBezTo>
                  <a:cubicBezTo>
                    <a:pt x="3924300" y="762000"/>
                    <a:pt x="3886200" y="1562100"/>
                    <a:pt x="3714750" y="2200275"/>
                  </a:cubicBezTo>
                  <a:cubicBezTo>
                    <a:pt x="2600325" y="2324100"/>
                    <a:pt x="1304925" y="2238375"/>
                    <a:pt x="114300" y="2085975"/>
                  </a:cubicBezTo>
                  <a:cubicBezTo>
                    <a:pt x="0" y="1457325"/>
                    <a:pt x="9525" y="723900"/>
                    <a:pt x="114300" y="123825"/>
                  </a:cubicBezTo>
                  <a:close/>
                </a:path>
              </a:pathLst>
            </a:custGeom>
            <a:solidFill>
              <a:schemeClr val="lt1"/>
            </a:solidFill>
            <a:ln w="38100" cap="rnd">
              <a:solidFill>
                <a:schemeClr val="accent2"/>
              </a:solidFill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007858" y="3912870"/>
              <a:ext cx="24669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10k 只是 smoke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10906" y="4377690"/>
              <a:ext cx="28424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正式复现应到 7M steps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10906" y="4720590"/>
              <a:ext cx="22713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并报告多 seed 方差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13192" y="5216842"/>
              <a:ext cx="29428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我的理解：规模化难点在 latent、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13192" y="5531168"/>
              <a:ext cx="2427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价值尺度与 Q 过估计。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397192"/>
            <a:ext cx="6474562" cy="557403"/>
            <a:chOff x="423672" y="397192"/>
            <a:chExt cx="6474562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397192"/>
              <a:ext cx="64745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跨四条路线，我形成了三条统一判断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71525"/>
              <a:ext cx="6419850" cy="133350"/>
            </a:xfrm>
            <a:custGeom>
              <a:avLst/>
              <a:gdLst/>
              <a:ahLst/>
              <a:cxnLst/>
              <a:rect l="l" t="t" r="r" b="b"/>
              <a:pathLst>
                <a:path w="6419850" h="133350">
                  <a:moveTo>
                    <a:pt x="0" y="85725"/>
                  </a:moveTo>
                  <a:cubicBezTo>
                    <a:pt x="1800225" y="0"/>
                    <a:pt x="4105275" y="133350"/>
                    <a:pt x="6419850" y="38100"/>
                  </a:cubicBezTo>
                </a:path>
              </a:pathLst>
            </a:custGeom>
            <a:noFill/>
            <a:ln w="47625" cap="rnd">
              <a:solidFill>
                <a:schemeClr val="accent2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1406842"/>
            <a:ext cx="10782300" cy="1153478"/>
            <a:chOff x="590550" y="1406842"/>
            <a:chExt cx="10782300" cy="1153478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5125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795272" y="1406842"/>
              <a:ext cx="284890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表征不等于重建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0606" y="1939290"/>
              <a:ext cx="94707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DINO-WM / LeWM：特征几何能支持目标匹配，就不必重建每个像素。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733550" y="2247900"/>
              <a:ext cx="9639300" cy="161925"/>
            </a:xfrm>
            <a:custGeom>
              <a:avLst/>
              <a:gdLst/>
              <a:ahLst/>
              <a:cxnLst/>
              <a:rect l="l" t="t" r="r" b="b"/>
              <a:pathLst>
                <a:path w="9639300" h="161925">
                  <a:moveTo>
                    <a:pt x="0" y="85725"/>
                  </a:moveTo>
                  <a:cubicBezTo>
                    <a:pt x="2762250" y="0"/>
                    <a:pt x="6019800" y="161925"/>
                    <a:pt x="9639300" y="47625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90550" y="2835592"/>
            <a:ext cx="10782300" cy="1153478"/>
            <a:chOff x="590550" y="2835592"/>
            <a:chExt cx="10782300" cy="1153478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29413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5272" y="2835592"/>
              <a:ext cx="32517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预测不等于一张图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00606" y="3368040"/>
              <a:ext cx="8661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Δ-IRIS：随机未来应报告条件分布、典型误差与不确定性边界。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1733550" y="3667125"/>
              <a:ext cx="9639300" cy="161925"/>
            </a:xfrm>
            <a:custGeom>
              <a:avLst/>
              <a:gdLst/>
              <a:ahLst/>
              <a:cxnLst/>
              <a:rect l="l" t="t" r="r" b="b"/>
              <a:pathLst>
                <a:path w="9639300" h="161925">
                  <a:moveTo>
                    <a:pt x="0" y="95250"/>
                  </a:moveTo>
                  <a:cubicBezTo>
                    <a:pt x="2752725" y="0"/>
                    <a:pt x="6048375" y="161925"/>
                    <a:pt x="9639300" y="47625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90550" y="4264342"/>
            <a:ext cx="10782300" cy="1153478"/>
            <a:chOff x="590550" y="4264342"/>
            <a:chExt cx="10782300" cy="1153478"/>
          </a:xfrm>
        </p:grpSpPr>
        <p:sp>
          <p:nvSpPr>
            <p:cNvPr id="15" name="TextBox 15"/>
            <p:cNvSpPr txBox="1"/>
            <p:nvPr/>
          </p:nvSpPr>
          <p:spPr>
            <a:xfrm>
              <a:off x="590550" y="437007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2F7D5C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95272" y="4264342"/>
              <a:ext cx="39164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规划不等于长 rollout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00606" y="4796790"/>
              <a:ext cx="9467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TD-MPC2：短期模型预测 + terminal Q + policy prior，也能形成可扩展闭环。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733550" y="5095875"/>
              <a:ext cx="9639300" cy="161925"/>
            </a:xfrm>
            <a:custGeom>
              <a:avLst/>
              <a:gdLst/>
              <a:ahLst/>
              <a:cxnLst/>
              <a:rect l="l" t="t" r="r" b="b"/>
              <a:pathLst>
                <a:path w="9639300" h="161925">
                  <a:moveTo>
                    <a:pt x="0" y="95250"/>
                  </a:moveTo>
                  <a:cubicBezTo>
                    <a:pt x="2743200" y="0"/>
                    <a:pt x="6029325" y="161925"/>
                    <a:pt x="9639300" y="47625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258085" y="5543550"/>
            <a:ext cx="9675830" cy="705612"/>
            <a:chOff x="1258085" y="5543550"/>
            <a:chExt cx="9675830" cy="705612"/>
          </a:xfrm>
        </p:grpSpPr>
        <p:sp>
          <p:nvSpPr>
            <p:cNvPr id="20" name="Freeform 20"/>
            <p:cNvSpPr/>
            <p:nvPr/>
          </p:nvSpPr>
          <p:spPr>
            <a:xfrm>
              <a:off x="2133600" y="5543550"/>
              <a:ext cx="7905750" cy="685800"/>
            </a:xfrm>
            <a:custGeom>
              <a:avLst/>
              <a:gdLst/>
              <a:ahLst/>
              <a:cxnLst/>
              <a:rect l="l" t="t" r="r" b="b"/>
              <a:pathLst>
                <a:path w="7905750" h="685800">
                  <a:moveTo>
                    <a:pt x="0" y="161925"/>
                  </a:moveTo>
                  <a:cubicBezTo>
                    <a:pt x="1828800" y="0"/>
                    <a:pt x="5857875" y="57150"/>
                    <a:pt x="7905750" y="228600"/>
                  </a:cubicBezTo>
                  <a:cubicBezTo>
                    <a:pt x="7791450" y="561975"/>
                    <a:pt x="5534025" y="685800"/>
                    <a:pt x="2047875" y="619125"/>
                  </a:cubicBezTo>
                  <a:cubicBezTo>
                    <a:pt x="866775" y="590550"/>
                    <a:pt x="142875" y="428625"/>
                    <a:pt x="0" y="161925"/>
                  </a:cubicBezTo>
                  <a:close/>
                </a:path>
              </a:pathLst>
            </a:custGeom>
            <a:solidFill>
              <a:schemeClr val="lt2">
                <a:alpha val="72000"/>
              </a:schemeClr>
            </a:solidFill>
            <a:ln w="38100" cap="rnd">
              <a:solidFill>
                <a:schemeClr val="accent2"/>
              </a:solidFill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58085" y="5779770"/>
              <a:ext cx="967583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好的世界模型 = 任务相关表示 + 可校准不确定性 + 闭环决策价值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378142"/>
            <a:ext cx="7280262" cy="557403"/>
            <a:chOff x="423672" y="378142"/>
            <a:chExt cx="7280262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378142"/>
              <a:ext cx="728026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可复现工程，把一次运行变成可追溯证据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52475"/>
              <a:ext cx="7058025" cy="142875"/>
            </a:xfrm>
            <a:custGeom>
              <a:avLst/>
              <a:gdLst/>
              <a:ahLst/>
              <a:cxnLst/>
              <a:rect l="l" t="t" r="r" b="b"/>
              <a:pathLst>
                <a:path w="7058025" h="142875">
                  <a:moveTo>
                    <a:pt x="0" y="85725"/>
                  </a:moveTo>
                  <a:cubicBezTo>
                    <a:pt x="1962150" y="0"/>
                    <a:pt x="4324350" y="142875"/>
                    <a:pt x="7058025" y="47625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86156" y="1386840"/>
            <a:ext cx="10772394" cy="1627061"/>
            <a:chOff x="486156" y="1386840"/>
            <a:chExt cx="10772394" cy="1627061"/>
          </a:xfrm>
        </p:grpSpPr>
        <p:sp>
          <p:nvSpPr>
            <p:cNvPr id="5" name="TextBox 5"/>
            <p:cNvSpPr txBox="1"/>
            <p:nvPr/>
          </p:nvSpPr>
          <p:spPr>
            <a:xfrm>
              <a:off x="486156" y="13868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七步证据链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876300" y="2028825"/>
              <a:ext cx="10353675" cy="361950"/>
            </a:xfrm>
            <a:custGeom>
              <a:avLst/>
              <a:gdLst/>
              <a:ahLst/>
              <a:cxnLst/>
              <a:rect l="l" t="t" r="r" b="b"/>
              <a:pathLst>
                <a:path w="10353675" h="361950">
                  <a:moveTo>
                    <a:pt x="0" y="333375"/>
                  </a:moveTo>
                  <a:cubicBezTo>
                    <a:pt x="1466850" y="114300"/>
                    <a:pt x="3124200" y="361950"/>
                    <a:pt x="4676775" y="180975"/>
                  </a:cubicBezTo>
                  <a:cubicBezTo>
                    <a:pt x="6257925" y="0"/>
                    <a:pt x="8020050" y="304800"/>
                    <a:pt x="10353675" y="104775"/>
                  </a:cubicBezTo>
                </a:path>
              </a:pathLst>
            </a:custGeom>
            <a:noFill/>
            <a:ln w="47625" cap="rnd">
              <a:solidFill>
                <a:schemeClr val="accent1"/>
              </a:solidFill>
              <a:round/>
            </a:ln>
          </p:spPr>
        </p:sp>
        <p:sp>
          <p:nvSpPr>
            <p:cNvPr id="7" name="Freeform 7"/>
            <p:cNvSpPr/>
            <p:nvPr/>
          </p:nvSpPr>
          <p:spPr>
            <a:xfrm>
              <a:off x="10991850" y="2009775"/>
              <a:ext cx="266700" cy="295275"/>
            </a:xfrm>
            <a:custGeom>
              <a:avLst/>
              <a:gdLst/>
              <a:ahLst/>
              <a:cxnLst/>
              <a:rect l="l" t="t" r="r" b="b"/>
              <a:pathLst>
                <a:path w="266700" h="295275">
                  <a:moveTo>
                    <a:pt x="0" y="0"/>
                  </a:moveTo>
                  <a:lnTo>
                    <a:pt x="266700" y="123825"/>
                  </a:lnTo>
                  <a:lnTo>
                    <a:pt x="38100" y="295275"/>
                  </a:lnTo>
                </a:path>
              </a:pathLst>
            </a:custGeom>
            <a:noFill/>
            <a:ln w="47625" cap="rnd">
              <a:solidFill>
                <a:schemeClr val="accent1"/>
              </a:solidFill>
              <a:round/>
            </a:ln>
          </p:spPr>
        </p:sp>
        <p:sp>
          <p:nvSpPr>
            <p:cNvPr id="8" name="Ellipse 8"/>
            <p:cNvSpPr/>
            <p:nvPr/>
          </p:nvSpPr>
          <p:spPr>
            <a:xfrm>
              <a:off x="762000" y="2047875"/>
              <a:ext cx="571500" cy="5715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381250" y="1971675"/>
              <a:ext cx="571500" cy="5715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000500" y="1990725"/>
              <a:ext cx="571500" cy="5715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5619750" y="1905000"/>
              <a:ext cx="571500" cy="5715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239000" y="1885950"/>
              <a:ext cx="571500" cy="5715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858250" y="1924050"/>
              <a:ext cx="571500" cy="571500"/>
            </a:xfrm>
            <a:prstGeom prst="ellipse">
              <a:avLst/>
            </a:prstGeom>
            <a:solidFill>
              <a:schemeClr val="lt2"/>
            </a:solidFill>
            <a:ln w="38100">
              <a:solidFill>
                <a:srgbClr val="2F7D5C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0439400" y="1847850"/>
              <a:ext cx="647700" cy="647700"/>
            </a:xfrm>
            <a:prstGeom prst="ellipse">
              <a:avLst/>
            </a:prstGeom>
            <a:solidFill>
              <a:schemeClr val="lt2"/>
            </a:solidFill>
            <a:ln w="47625">
              <a:solidFill>
                <a:srgbClr val="2F7D5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8669" y="22059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517919" y="212979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37169" y="214884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56419" y="20631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75669" y="2044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994919" y="20821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7D5C"/>
                  </a:solidFill>
                  <a:latin typeface="Consolas"/>
                  <a:ea typeface="Consolas"/>
                  <a:cs typeface="Consolas"/>
                </a:rPr>
                <a:t>06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14169" y="204406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7D5C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844" y="27498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固定提交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76094" y="2673668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隔离环境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96462" y="2692718"/>
              <a:ext cx="11795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CUDA / EGL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94579" y="2606992"/>
              <a:ext cx="10218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最小 smoke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133844" y="2587942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严格加载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53094" y="2626042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有界评估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72344" y="2606992"/>
              <a:ext cx="781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证据交付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38150" y="3825240"/>
            <a:ext cx="11220450" cy="2341435"/>
            <a:chOff x="438150" y="3825240"/>
            <a:chExt cx="11220450" cy="2341435"/>
          </a:xfrm>
        </p:grpSpPr>
        <p:sp>
          <p:nvSpPr>
            <p:cNvPr id="30" name="TextBox 30"/>
            <p:cNvSpPr txBox="1"/>
            <p:nvPr/>
          </p:nvSpPr>
          <p:spPr>
            <a:xfrm>
              <a:off x="486156" y="3825240"/>
              <a:ext cx="26389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典型问题 → 修复 → 证据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438150" y="4086225"/>
              <a:ext cx="3667125" cy="1885950"/>
            </a:xfrm>
            <a:custGeom>
              <a:avLst/>
              <a:gdLst/>
              <a:ahLst/>
              <a:cxnLst/>
              <a:rect l="l" t="t" r="r" b="b"/>
              <a:pathLst>
                <a:path w="3667125" h="1885950">
                  <a:moveTo>
                    <a:pt x="104775" y="133350"/>
                  </a:moveTo>
                  <a:cubicBezTo>
                    <a:pt x="1695450" y="0"/>
                    <a:pt x="3219450" y="76200"/>
                    <a:pt x="3590925" y="247650"/>
                  </a:cubicBezTo>
                  <a:cubicBezTo>
                    <a:pt x="3667125" y="742950"/>
                    <a:pt x="3619500" y="1304925"/>
                    <a:pt x="3486150" y="1771650"/>
                  </a:cubicBezTo>
                  <a:cubicBezTo>
                    <a:pt x="2286000" y="1885950"/>
                    <a:pt x="1190625" y="1819275"/>
                    <a:pt x="104775" y="1685925"/>
                  </a:cubicBezTo>
                  <a:cubicBezTo>
                    <a:pt x="0" y="1200150"/>
                    <a:pt x="9525" y="638175"/>
                    <a:pt x="104775" y="133350"/>
                  </a:cubicBezTo>
                  <a:close/>
                </a:path>
              </a:pathLst>
            </a:custGeom>
            <a:solidFill>
              <a:schemeClr val="lt2">
                <a:alpha val="60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1906" y="44348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版本漂移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906" y="4806315"/>
              <a:ext cx="22969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 commit / 依赖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1906" y="5177790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F7D5C"/>
                  </a:solidFill>
                  <a:latin typeface="+mn-lt"/>
                  <a:ea typeface="+mn-ea"/>
                  <a:cs typeface="+mn-cs"/>
                </a:rPr>
                <a:t>→ 哈希 + 环境清单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4191000" y="4076700"/>
              <a:ext cx="3676650" cy="1905000"/>
            </a:xfrm>
            <a:custGeom>
              <a:avLst/>
              <a:gdLst/>
              <a:ahLst/>
              <a:cxnLst/>
              <a:rect l="l" t="t" r="r" b="b"/>
              <a:pathLst>
                <a:path w="3676650" h="1905000">
                  <a:moveTo>
                    <a:pt x="104775" y="142875"/>
                  </a:moveTo>
                  <a:cubicBezTo>
                    <a:pt x="1704975" y="0"/>
                    <a:pt x="3257550" y="95250"/>
                    <a:pt x="3590925" y="266700"/>
                  </a:cubicBezTo>
                  <a:cubicBezTo>
                    <a:pt x="3676650" y="762000"/>
                    <a:pt x="3629025" y="1314450"/>
                    <a:pt x="3486150" y="1781175"/>
                  </a:cubicBezTo>
                  <a:cubicBezTo>
                    <a:pt x="2276475" y="1905000"/>
                    <a:pt x="1200150" y="1828800"/>
                    <a:pt x="104775" y="1695450"/>
                  </a:cubicBezTo>
                  <a:cubicBezTo>
                    <a:pt x="0" y="1209675"/>
                    <a:pt x="9525" y="647700"/>
                    <a:pt x="104775" y="142875"/>
                  </a:cubicBezTo>
                  <a:close/>
                </a:path>
              </a:pathLst>
            </a:custGeom>
            <a:solidFill>
              <a:schemeClr val="lt1"/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524756" y="44348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无显示器运行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24756" y="4806315"/>
              <a:ext cx="2286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MuJoCo EGL 探针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24756" y="5177790"/>
              <a:ext cx="1810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F7D5C"/>
                  </a:solidFill>
                  <a:latin typeface="+mn-lt"/>
                  <a:ea typeface="+mn-ea"/>
                  <a:cs typeface="+mn-cs"/>
                </a:rPr>
                <a:t>→ 日志 + 结果图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7943850" y="4095750"/>
              <a:ext cx="3714750" cy="1876425"/>
            </a:xfrm>
            <a:custGeom>
              <a:avLst/>
              <a:gdLst/>
              <a:ahLst/>
              <a:cxnLst/>
              <a:rect l="l" t="t" r="r" b="b"/>
              <a:pathLst>
                <a:path w="3714750" h="1876425">
                  <a:moveTo>
                    <a:pt x="104775" y="123825"/>
                  </a:moveTo>
                  <a:cubicBezTo>
                    <a:pt x="1657350" y="0"/>
                    <a:pt x="3200400" y="85725"/>
                    <a:pt x="3638550" y="247650"/>
                  </a:cubicBezTo>
                  <a:cubicBezTo>
                    <a:pt x="3714750" y="752475"/>
                    <a:pt x="3667125" y="1304925"/>
                    <a:pt x="3524250" y="1762125"/>
                  </a:cubicBezTo>
                  <a:cubicBezTo>
                    <a:pt x="2343150" y="1876425"/>
                    <a:pt x="1171575" y="1809750"/>
                    <a:pt x="104775" y="1676400"/>
                  </a:cubicBezTo>
                  <a:cubicBezTo>
                    <a:pt x="0" y="1190625"/>
                    <a:pt x="9525" y="628650"/>
                    <a:pt x="104775" y="123825"/>
                  </a:cubicBezTo>
                  <a:close/>
                </a:path>
              </a:pathLst>
            </a:custGeom>
            <a:solidFill>
              <a:schemeClr val="lt2">
                <a:alpha val="60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277606" y="44348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评估语义混淆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77606" y="4806315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区分 smoke / 权重 / 训练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77606" y="5177790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2F7D5C"/>
                  </a:solidFill>
                  <a:latin typeface="+mn-lt"/>
                  <a:ea typeface="+mn-ea"/>
                  <a:cs typeface="+mn-cs"/>
                </a:rPr>
                <a:t>→ 口径 + 边界声明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8442" y="5902642"/>
              <a:ext cx="42382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每个结论都能指向命令、日志、指标或落盘产物。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378142"/>
            <a:ext cx="8085963" cy="557403"/>
            <a:chOff x="423672" y="378142"/>
            <a:chExt cx="8085963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378142"/>
              <a:ext cx="808596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下一步，把世界模型嵌入真实机器人决策闭环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52475"/>
              <a:ext cx="7477125" cy="142875"/>
            </a:xfrm>
            <a:custGeom>
              <a:avLst/>
              <a:gdLst/>
              <a:ahLst/>
              <a:cxnLst/>
              <a:rect l="l" t="t" r="r" b="b"/>
              <a:pathLst>
                <a:path w="7477125" h="142875">
                  <a:moveTo>
                    <a:pt x="0" y="85725"/>
                  </a:moveTo>
                  <a:cubicBezTo>
                    <a:pt x="1933575" y="0"/>
                    <a:pt x="4429125" y="142875"/>
                    <a:pt x="7477125" y="47625"/>
                  </a:cubicBezTo>
                </a:path>
              </a:pathLst>
            </a:custGeom>
            <a:noFill/>
            <a:ln w="47625" cap="rnd">
              <a:solidFill>
                <a:schemeClr val="accent3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428625" y="1200150"/>
            <a:ext cx="3495675" cy="3848100"/>
            <a:chOff x="428625" y="1200150"/>
            <a:chExt cx="3495675" cy="3848100"/>
          </a:xfrm>
        </p:grpSpPr>
        <p:sp>
          <p:nvSpPr>
            <p:cNvPr id="5" name="Freeform 5"/>
            <p:cNvSpPr/>
            <p:nvPr/>
          </p:nvSpPr>
          <p:spPr>
            <a:xfrm>
              <a:off x="428625" y="1200150"/>
              <a:ext cx="3495675" cy="3848100"/>
            </a:xfrm>
            <a:custGeom>
              <a:avLst/>
              <a:gdLst/>
              <a:ahLst/>
              <a:cxnLst/>
              <a:rect l="l" t="t" r="r" b="b"/>
              <a:pathLst>
                <a:path w="3495675" h="3848100">
                  <a:moveTo>
                    <a:pt x="152400" y="190500"/>
                  </a:moveTo>
                  <a:cubicBezTo>
                    <a:pt x="1123950" y="0"/>
                    <a:pt x="2667000" y="76200"/>
                    <a:pt x="3381375" y="295275"/>
                  </a:cubicBezTo>
                  <a:cubicBezTo>
                    <a:pt x="3495675" y="1276350"/>
                    <a:pt x="3448050" y="2667000"/>
                    <a:pt x="3248025" y="3676650"/>
                  </a:cubicBezTo>
                  <a:cubicBezTo>
                    <a:pt x="2105025" y="3848100"/>
                    <a:pt x="1009650" y="3752850"/>
                    <a:pt x="161925" y="3495675"/>
                  </a:cubicBezTo>
                  <a:cubicBezTo>
                    <a:pt x="0" y="2476500"/>
                    <a:pt x="9525" y="1200150"/>
                    <a:pt x="152400" y="190500"/>
                  </a:cubicBezTo>
                  <a:close/>
                </a:path>
              </a:pathLst>
            </a:custGeom>
            <a:solidFill>
              <a:schemeClr val="lt2">
                <a:alpha val="58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4286" y="1510665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A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02258" y="1598295"/>
              <a:ext cx="24976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人形机器人 HOI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71906" y="2215515"/>
              <a:ext cx="26453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基础：HDMI 复现与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71906" y="2558415"/>
              <a:ext cx="18105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自定义数据接入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81050" y="2914650"/>
              <a:ext cx="2705100" cy="142875"/>
            </a:xfrm>
            <a:custGeom>
              <a:avLst/>
              <a:gdLst/>
              <a:ahLst/>
              <a:cxnLst/>
              <a:rect l="l" t="t" r="r" b="b"/>
              <a:pathLst>
                <a:path w="2705100" h="142875">
                  <a:moveTo>
                    <a:pt x="0" y="95250"/>
                  </a:moveTo>
                  <a:cubicBezTo>
                    <a:pt x="876300" y="0"/>
                    <a:pt x="1952625" y="142875"/>
                    <a:pt x="2705100" y="38100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71906" y="3234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要研究：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1906" y="362521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接触几何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1906" y="39776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局部规划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1906" y="4330065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交互稳定性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86250" y="1209675"/>
            <a:ext cx="3505200" cy="3829050"/>
            <a:chOff x="4286250" y="1209675"/>
            <a:chExt cx="3505200" cy="3829050"/>
          </a:xfrm>
        </p:grpSpPr>
        <p:sp>
          <p:nvSpPr>
            <p:cNvPr id="16" name="Freeform 16"/>
            <p:cNvSpPr/>
            <p:nvPr/>
          </p:nvSpPr>
          <p:spPr>
            <a:xfrm>
              <a:off x="4286250" y="1209675"/>
              <a:ext cx="3505200" cy="3829050"/>
            </a:xfrm>
            <a:custGeom>
              <a:avLst/>
              <a:gdLst/>
              <a:ahLst/>
              <a:cxnLst/>
              <a:rect l="l" t="t" r="r" b="b"/>
              <a:pathLst>
                <a:path w="3505200" h="3829050">
                  <a:moveTo>
                    <a:pt x="161925" y="180975"/>
                  </a:moveTo>
                  <a:cubicBezTo>
                    <a:pt x="1181100" y="0"/>
                    <a:pt x="2619375" y="76200"/>
                    <a:pt x="3390900" y="295275"/>
                  </a:cubicBezTo>
                  <a:cubicBezTo>
                    <a:pt x="3505200" y="1314450"/>
                    <a:pt x="3448050" y="2647950"/>
                    <a:pt x="3248025" y="3667125"/>
                  </a:cubicBezTo>
                  <a:cubicBezTo>
                    <a:pt x="2143125" y="3829050"/>
                    <a:pt x="1009650" y="3743325"/>
                    <a:pt x="171450" y="3486150"/>
                  </a:cubicBezTo>
                  <a:cubicBezTo>
                    <a:pt x="0" y="2457450"/>
                    <a:pt x="19050" y="1200150"/>
                    <a:pt x="161925" y="180975"/>
                  </a:cubicBezTo>
                  <a:close/>
                </a:path>
              </a:pathLst>
            </a:custGeom>
            <a:solidFill>
              <a:schemeClr val="lt1"/>
            </a:solidFill>
            <a:ln w="38100" cap="rnd">
              <a:solidFill>
                <a:schemeClr val="accent2"/>
              </a:solidFill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631436" y="1510665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69408" y="1598295"/>
              <a:ext cx="2587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VLA / WAM 协同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39056" y="2215515"/>
              <a:ext cx="23944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基础：π0 / OpenPI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39056" y="2558415"/>
              <a:ext cx="21662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Flow Matching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4648200" y="2914650"/>
              <a:ext cx="2705100" cy="142875"/>
            </a:xfrm>
            <a:custGeom>
              <a:avLst/>
              <a:gdLst/>
              <a:ahLst/>
              <a:cxnLst/>
              <a:rect l="l" t="t" r="r" b="b"/>
              <a:pathLst>
                <a:path w="2705100" h="142875">
                  <a:moveTo>
                    <a:pt x="0" y="95250"/>
                  </a:moveTo>
                  <a:cubicBezTo>
                    <a:pt x="895350" y="0"/>
                    <a:pt x="1962150" y="142875"/>
                    <a:pt x="2705100" y="38100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639056" y="3234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要研究：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9056" y="3625215"/>
              <a:ext cx="2179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VLA 给动作先验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1342" y="4026218"/>
              <a:ext cx="26705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WAM rollout / 检查 / 重规划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9056" y="4330065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失败时触发重规划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53400" y="1219200"/>
            <a:ext cx="3584600" cy="3829050"/>
            <a:chOff x="8153400" y="1219200"/>
            <a:chExt cx="3584600" cy="3829050"/>
          </a:xfrm>
        </p:grpSpPr>
        <p:sp>
          <p:nvSpPr>
            <p:cNvPr id="27" name="Freeform 27"/>
            <p:cNvSpPr/>
            <p:nvPr/>
          </p:nvSpPr>
          <p:spPr>
            <a:xfrm>
              <a:off x="8153400" y="1219200"/>
              <a:ext cx="3514725" cy="3829050"/>
            </a:xfrm>
            <a:custGeom>
              <a:avLst/>
              <a:gdLst/>
              <a:ahLst/>
              <a:cxnLst/>
              <a:rect l="l" t="t" r="r" b="b"/>
              <a:pathLst>
                <a:path w="3514725" h="3829050">
                  <a:moveTo>
                    <a:pt x="161925" y="171450"/>
                  </a:moveTo>
                  <a:cubicBezTo>
                    <a:pt x="1181100" y="0"/>
                    <a:pt x="2647950" y="76200"/>
                    <a:pt x="3390900" y="285750"/>
                  </a:cubicBezTo>
                  <a:cubicBezTo>
                    <a:pt x="3514725" y="1276350"/>
                    <a:pt x="3457575" y="2647950"/>
                    <a:pt x="3248025" y="3657600"/>
                  </a:cubicBezTo>
                  <a:cubicBezTo>
                    <a:pt x="2133600" y="3829050"/>
                    <a:pt x="1000125" y="3724275"/>
                    <a:pt x="171450" y="3476625"/>
                  </a:cubicBezTo>
                  <a:cubicBezTo>
                    <a:pt x="0" y="2466975"/>
                    <a:pt x="19050" y="1181100"/>
                    <a:pt x="161925" y="171450"/>
                  </a:cubicBezTo>
                  <a:close/>
                </a:path>
              </a:pathLst>
            </a:custGeom>
            <a:solidFill>
              <a:schemeClr val="lt2">
                <a:alpha val="58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98586" y="1510665"/>
              <a:ext cx="3046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2F7D5C"/>
                  </a:solidFill>
                  <a:latin typeface="Consolas"/>
                  <a:ea typeface="Consolas"/>
                  <a:cs typeface="Consolas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46058" y="1598295"/>
              <a:ext cx="28919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复杂动力学 + MPC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06206" y="2215515"/>
              <a:ext cx="24633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基础：无人机—悠悠球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506206" y="2558415"/>
              <a:ext cx="28346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残差动力学与潜空间模型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8515350" y="2914650"/>
              <a:ext cx="2705100" cy="142875"/>
            </a:xfrm>
            <a:custGeom>
              <a:avLst/>
              <a:gdLst/>
              <a:ahLst/>
              <a:cxnLst/>
              <a:rect l="l" t="t" r="r" b="b"/>
              <a:pathLst>
                <a:path w="2705100" h="142875">
                  <a:moveTo>
                    <a:pt x="0" y="95250"/>
                  </a:moveTo>
                  <a:cubicBezTo>
                    <a:pt x="876300" y="0"/>
                    <a:pt x="1933575" y="142875"/>
                    <a:pt x="2705100" y="38100"/>
                  </a:cubicBezTo>
                </a:path>
              </a:pathLst>
            </a:custGeom>
            <a:noFill/>
            <a:ln w="28575" cap="rnd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506206" y="32346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7D5C"/>
                  </a:solidFill>
                  <a:latin typeface="+mj-lt"/>
                  <a:ea typeface="+mj-ea"/>
                  <a:cs typeface="+mj-cs"/>
                </a:rPr>
                <a:t>要研究：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06206" y="3625215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旋转跟随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06206" y="3977640"/>
              <a:ext cx="1042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减摆控制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06206" y="4330065"/>
              <a:ext cx="1554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末端捕获闭环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64793" y="5295900"/>
            <a:ext cx="9862414" cy="838200"/>
            <a:chOff x="1164793" y="5295900"/>
            <a:chExt cx="9862414" cy="838200"/>
          </a:xfrm>
        </p:grpSpPr>
        <p:sp>
          <p:nvSpPr>
            <p:cNvPr id="38" name="Freeform 38"/>
            <p:cNvSpPr/>
            <p:nvPr/>
          </p:nvSpPr>
          <p:spPr>
            <a:xfrm>
              <a:off x="2257425" y="5295900"/>
              <a:ext cx="7677150" cy="838200"/>
            </a:xfrm>
            <a:custGeom>
              <a:avLst/>
              <a:gdLst/>
              <a:ahLst/>
              <a:cxnLst/>
              <a:rect l="l" t="t" r="r" b="b"/>
              <a:pathLst>
                <a:path w="7677150" h="838200">
                  <a:moveTo>
                    <a:pt x="0" y="180975"/>
                  </a:moveTo>
                  <a:cubicBezTo>
                    <a:pt x="1647825" y="0"/>
                    <a:pt x="5867400" y="85725"/>
                    <a:pt x="7677150" y="257175"/>
                  </a:cubicBezTo>
                  <a:cubicBezTo>
                    <a:pt x="7534275" y="657225"/>
                    <a:pt x="5372100" y="838200"/>
                    <a:pt x="2038350" y="771525"/>
                  </a:cubicBezTo>
                  <a:cubicBezTo>
                    <a:pt x="866775" y="752475"/>
                    <a:pt x="123825" y="581025"/>
                    <a:pt x="0" y="180975"/>
                  </a:cubicBezTo>
                  <a:close/>
                </a:path>
              </a:pathLst>
            </a:custGeom>
            <a:solidFill>
              <a:schemeClr val="lt2">
                <a:alpha val="72000"/>
              </a:schemeClr>
            </a:solidFill>
            <a:ln w="38100" cap="rnd">
              <a:solidFill>
                <a:schemeClr val="accent3"/>
              </a:solidFill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64793" y="5560695"/>
              <a:ext cx="98624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统一问题：如何学习能泛化、又能被规划器真正使用的预测状态？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23672" y="416242"/>
            <a:ext cx="9697364" cy="557403"/>
            <a:chOff x="423672" y="416242"/>
            <a:chExt cx="9697364" cy="557403"/>
          </a:xfrm>
        </p:grpSpPr>
        <p:sp>
          <p:nvSpPr>
            <p:cNvPr id="2" name="TextBox 2"/>
            <p:cNvSpPr txBox="1"/>
            <p:nvPr/>
          </p:nvSpPr>
          <p:spPr>
            <a:xfrm>
              <a:off x="423672" y="416242"/>
              <a:ext cx="96973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目标不是重复更多论文，而是定义问题并完成验证闭环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466725" y="781050"/>
              <a:ext cx="9172575" cy="171450"/>
            </a:xfrm>
            <a:custGeom>
              <a:avLst/>
              <a:gdLst/>
              <a:ahLst/>
              <a:cxnLst/>
              <a:rect l="l" t="t" r="r" b="b"/>
              <a:pathLst>
                <a:path w="9172575" h="171450">
                  <a:moveTo>
                    <a:pt x="0" y="104775"/>
                  </a:moveTo>
                  <a:cubicBezTo>
                    <a:pt x="2428875" y="0"/>
                    <a:pt x="5657850" y="171450"/>
                    <a:pt x="9172575" y="47625"/>
                  </a:cubicBezTo>
                </a:path>
              </a:pathLst>
            </a:custGeom>
            <a:noFill/>
            <a:ln w="57150" cap="rnd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49986" y="1691640"/>
            <a:ext cx="6293739" cy="2969514"/>
            <a:chOff x="649986" y="1691640"/>
            <a:chExt cx="6293739" cy="2969514"/>
          </a:xfrm>
        </p:grpSpPr>
        <p:sp>
          <p:nvSpPr>
            <p:cNvPr id="5" name="TextBox 5"/>
            <p:cNvSpPr txBox="1"/>
            <p:nvPr/>
          </p:nvSpPr>
          <p:spPr>
            <a:xfrm>
              <a:off x="657606" y="16916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我希望继续做这样的研究：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49986" y="221551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能被运行，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49986" y="2815590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能被验证，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49986" y="341566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能被解释，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49986" y="4015740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最终进入机器人闭环。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76275" y="4391025"/>
              <a:ext cx="6267450" cy="200025"/>
            </a:xfrm>
            <a:custGeom>
              <a:avLst/>
              <a:gdLst/>
              <a:ahLst/>
              <a:cxnLst/>
              <a:rect l="l" t="t" r="r" b="b"/>
              <a:pathLst>
                <a:path w="6267450" h="200025">
                  <a:moveTo>
                    <a:pt x="0" y="142875"/>
                  </a:moveTo>
                  <a:cubicBezTo>
                    <a:pt x="1924050" y="0"/>
                    <a:pt x="4019550" y="200025"/>
                    <a:pt x="6267450" y="57150"/>
                  </a:cubicBezTo>
                </a:path>
              </a:pathLst>
            </a:custGeom>
            <a:noFill/>
            <a:ln w="76200" cap="rnd">
              <a:solidFill>
                <a:schemeClr val="accent2">
                  <a:alpha val="72000"/>
                </a:scheme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820025" y="1276350"/>
            <a:ext cx="3743325" cy="3409950"/>
            <a:chOff x="7820025" y="1276350"/>
            <a:chExt cx="3743325" cy="3409950"/>
          </a:xfrm>
        </p:grpSpPr>
        <p:sp>
          <p:nvSpPr>
            <p:cNvPr id="12" name="Freeform 12"/>
            <p:cNvSpPr/>
            <p:nvPr/>
          </p:nvSpPr>
          <p:spPr>
            <a:xfrm>
              <a:off x="7820025" y="1276350"/>
              <a:ext cx="3743325" cy="3409950"/>
            </a:xfrm>
            <a:custGeom>
              <a:avLst/>
              <a:gdLst/>
              <a:ahLst/>
              <a:cxnLst/>
              <a:rect l="l" t="t" r="r" b="b"/>
              <a:pathLst>
                <a:path w="3743325" h="3409950">
                  <a:moveTo>
                    <a:pt x="161925" y="228600"/>
                  </a:moveTo>
                  <a:cubicBezTo>
                    <a:pt x="1066800" y="0"/>
                    <a:pt x="2781300" y="85725"/>
                    <a:pt x="3543300" y="400050"/>
                  </a:cubicBezTo>
                  <a:cubicBezTo>
                    <a:pt x="3743325" y="1200150"/>
                    <a:pt x="3648075" y="2571750"/>
                    <a:pt x="3390900" y="3171825"/>
                  </a:cubicBezTo>
                  <a:cubicBezTo>
                    <a:pt x="2428875" y="3409950"/>
                    <a:pt x="971550" y="3267075"/>
                    <a:pt x="209550" y="3000375"/>
                  </a:cubicBezTo>
                  <a:cubicBezTo>
                    <a:pt x="0" y="2105025"/>
                    <a:pt x="0" y="971550"/>
                    <a:pt x="161925" y="228600"/>
                  </a:cubicBezTo>
                  <a:close/>
                </a:path>
              </a:pathLst>
            </a:custGeom>
            <a:solidFill>
              <a:schemeClr val="lt2">
                <a:alpha val="68000"/>
              </a:schemeClr>
            </a:solidFill>
            <a:ln w="28575" cap="rnd">
              <a:solidFill>
                <a:schemeClr val="accent1"/>
              </a:solidFill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26933" y="1750695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我带走的能力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9981" y="2358390"/>
              <a:ext cx="2128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快速进入新方向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29981" y="2701290"/>
              <a:ext cx="2066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从论文到代码结构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9981" y="3177540"/>
              <a:ext cx="1859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严谨完成验证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9981" y="3520440"/>
              <a:ext cx="2975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区分 smoke / 权重 / 训练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29981" y="3996690"/>
              <a:ext cx="1859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形成个人判断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232267" y="43881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统一表示、预测与控制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4608" y="5219700"/>
            <a:ext cx="10042017" cy="1010412"/>
            <a:chOff x="1054608" y="5219700"/>
            <a:chExt cx="10042017" cy="1010412"/>
          </a:xfrm>
        </p:grpSpPr>
        <p:sp>
          <p:nvSpPr>
            <p:cNvPr id="21" name="Freeform 21"/>
            <p:cNvSpPr/>
            <p:nvPr/>
          </p:nvSpPr>
          <p:spPr>
            <a:xfrm>
              <a:off x="1104900" y="5314950"/>
              <a:ext cx="9944100" cy="419100"/>
            </a:xfrm>
            <a:custGeom>
              <a:avLst/>
              <a:gdLst/>
              <a:ahLst/>
              <a:cxnLst/>
              <a:rect l="l" t="t" r="r" b="b"/>
              <a:pathLst>
                <a:path w="9944100" h="419100">
                  <a:moveTo>
                    <a:pt x="0" y="304800"/>
                  </a:moveTo>
                  <a:cubicBezTo>
                    <a:pt x="1876425" y="85725"/>
                    <a:pt x="3857625" y="419100"/>
                    <a:pt x="5591175" y="190500"/>
                  </a:cubicBezTo>
                  <a:cubicBezTo>
                    <a:pt x="7048500" y="0"/>
                    <a:pt x="8439150" y="180975"/>
                    <a:pt x="9944100" y="85725"/>
                  </a:cubicBezTo>
                </a:path>
              </a:pathLst>
            </a:custGeom>
            <a:noFill/>
            <a:ln w="76200" cap="rnd">
              <a:solidFill>
                <a:schemeClr val="accent2"/>
              </a:solidFill>
              <a:round/>
            </a:ln>
          </p:spPr>
        </p:sp>
        <p:sp>
          <p:nvSpPr>
            <p:cNvPr id="22" name="Freeform 22"/>
            <p:cNvSpPr/>
            <p:nvPr/>
          </p:nvSpPr>
          <p:spPr>
            <a:xfrm>
              <a:off x="10791825" y="5219700"/>
              <a:ext cx="304800" cy="400050"/>
            </a:xfrm>
            <a:custGeom>
              <a:avLst/>
              <a:gdLst/>
              <a:ahLst/>
              <a:cxnLst/>
              <a:rect l="l" t="t" r="r" b="b"/>
              <a:pathLst>
                <a:path w="304800" h="400050">
                  <a:moveTo>
                    <a:pt x="0" y="0"/>
                  </a:moveTo>
                  <a:lnTo>
                    <a:pt x="304800" y="180975"/>
                  </a:lnTo>
                  <a:lnTo>
                    <a:pt x="38100" y="4000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4608" y="57607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5"/>
                  </a:solidFill>
                  <a:latin typeface="+mj-lt"/>
                  <a:ea typeface="+mj-ea"/>
                  <a:cs typeface="+mj-cs"/>
                </a:rPr>
                <a:t>复现者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074158" y="57607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问题定义者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284208" y="57607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系统验证者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08981" y="6407468"/>
            <a:ext cx="2136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35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xu_yidong_internship_defense">
  <a:themeElements>
    <a:clrScheme name="xu_yidong_internship_defense">
      <a:dk1>
        <a:srgbClr val="191919"/>
      </a:dk1>
      <a:lt1>
        <a:srgbClr val="F5F0E6"/>
      </a:lt1>
      <a:dk2>
        <a:srgbClr val="1F497D"/>
      </a:dk2>
      <a:lt2>
        <a:srgbClr val="E4DED2"/>
      </a:lt2>
      <a:accent1>
        <a:srgbClr val="111111"/>
      </a:accent1>
      <a:accent2>
        <a:srgbClr val="D94841"/>
      </a:accent2>
      <a:accent3>
        <a:srgbClr val="2D5B8A"/>
      </a:accent3>
      <a:accent4>
        <a:srgbClr val="111111"/>
      </a:accent4>
      <a:accent5>
        <a:srgbClr val="625E57"/>
      </a:accent5>
      <a:accent6>
        <a:srgbClr val="C8C0B3"/>
      </a:accent6>
      <a:hlink>
        <a:srgbClr val="D94841"/>
      </a:hlink>
      <a:folHlink>
        <a:srgbClr val="2D5B8A"/>
      </a:folHlink>
    </a:clrScheme>
    <a:fontScheme name="xu_yidong_internship_defense">
      <a:majorFont>
        <a:latin typeface="Impact"/>
        <a:ea typeface="DengXian"/>
        <a:cs typeface="Impact"/>
        <a:font script="Jpan" typeface="DengXian"/>
        <a:font script="Hang" typeface="DengXian"/>
        <a:font script="Hans" typeface="DengXian"/>
        <a:font script="Hant" typeface="DengXi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u_yidong_internship_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xu_yidong_internship_defense">
  <a:themeElements>
    <a:clrScheme name="xu_yidong_internship_defense">
      <a:dk1>
        <a:srgbClr val="191919"/>
      </a:dk1>
      <a:lt1>
        <a:srgbClr val="F5F0E6"/>
      </a:lt1>
      <a:dk2>
        <a:srgbClr val="1F497D"/>
      </a:dk2>
      <a:lt2>
        <a:srgbClr val="E4DED2"/>
      </a:lt2>
      <a:accent1>
        <a:srgbClr val="111111"/>
      </a:accent1>
      <a:accent2>
        <a:srgbClr val="D94841"/>
      </a:accent2>
      <a:accent3>
        <a:srgbClr val="2D5B8A"/>
      </a:accent3>
      <a:accent4>
        <a:srgbClr val="111111"/>
      </a:accent4>
      <a:accent5>
        <a:srgbClr val="625E57"/>
      </a:accent5>
      <a:accent6>
        <a:srgbClr val="C8C0B3"/>
      </a:accent6>
      <a:hlink>
        <a:srgbClr val="D94841"/>
      </a:hlink>
      <a:folHlink>
        <a:srgbClr val="2D5B8A"/>
      </a:folHlink>
    </a:clrScheme>
    <a:fontScheme name="xu_yidong_internship_defense">
      <a:majorFont>
        <a:latin typeface="Impact"/>
        <a:ea typeface="DengXian"/>
        <a:cs typeface="Impact"/>
        <a:font script="Jpan" typeface="DengXian"/>
        <a:font script="Hang" typeface="DengXian"/>
        <a:font script="Hans" typeface="DengXian"/>
        <a:font script="Hant" typeface="DengXi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xu_yidong_internship_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2026-07-29T06:42:28Z</dcterms:created>
  <dcterms:modified xsi:type="dcterms:W3CDTF">2026-07-29T06:42:28Z</dcterms:modified>
  <cp:category/>
  <cp:contentStatus/>
</cp:coreProperties>
</file>